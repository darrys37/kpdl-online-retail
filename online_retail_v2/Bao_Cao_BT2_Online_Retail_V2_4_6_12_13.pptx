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3.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7d6dc04aa64d4188" /><Relationship Type="http://schemas.openxmlformats.org/officeDocument/2006/relationships/extended-properties" Target="/docProps/app.xml" Id="Rbac518ef49cb4679" /><Relationship Type="http://schemas.openxmlformats.org/officeDocument/2006/relationships/officeDocument" Target="/ppt/presentation.xml" Id="R41a8309d93214a98" /></Relationships>
</file>

<file path=ppt/presentation.xml><?xml version="1.0" encoding="utf-8"?>
<p:presentation xmlns:p="http://schemas.openxmlformats.org/presentationml/2006/main">
  <p:sldMasterIdLst>
    <p:sldMasterId xmlns:r="http://schemas.openxmlformats.org/officeDocument/2006/relationships" id="2147483648" r:id="R9c31cf22064443da"/>
  </p:sldMasterIdLst>
  <p:notesMasterIdLst>
    <p:notesMasterId xmlns:r="http://schemas.openxmlformats.org/officeDocument/2006/relationships" r:id="R3fb54d10182d460a"/>
  </p:notesMasterIdLst>
  <p:sldIdLst>
    <p:sldId xmlns:r="http://schemas.openxmlformats.org/officeDocument/2006/relationships" id="256" r:id="Re1a4fe9ce6ad4767"/>
    <p:sldId xmlns:r="http://schemas.openxmlformats.org/officeDocument/2006/relationships" id="257" r:id="R1526ea88fe554431"/>
    <p:sldId xmlns:r="http://schemas.openxmlformats.org/officeDocument/2006/relationships" id="258" r:id="Rf1c825c229b54a45"/>
    <p:sldId xmlns:r="http://schemas.openxmlformats.org/officeDocument/2006/relationships" id="259" r:id="R52d1d44dc21647ca"/>
    <p:sldId xmlns:r="http://schemas.openxmlformats.org/officeDocument/2006/relationships" id="260" r:id="Rec80fbad518b4120"/>
    <p:sldId xmlns:r="http://schemas.openxmlformats.org/officeDocument/2006/relationships" id="261" r:id="R6de7085692d248ef"/>
    <p:sldId xmlns:r="http://schemas.openxmlformats.org/officeDocument/2006/relationships" id="262" r:id="R59f41c9d2d674002"/>
    <p:sldId xmlns:r="http://schemas.openxmlformats.org/officeDocument/2006/relationships" id="263" r:id="R2a6d4db03cfa417c"/>
    <p:sldId xmlns:r="http://schemas.openxmlformats.org/officeDocument/2006/relationships" id="264" r:id="R1b4a1d78459140e8"/>
    <p:sldId xmlns:r="http://schemas.openxmlformats.org/officeDocument/2006/relationships" id="265" r:id="R29c155cd2d8f4bf0"/>
    <p:sldId xmlns:r="http://schemas.openxmlformats.org/officeDocument/2006/relationships" id="266" r:id="R743b29ab129b4d76"/>
    <p:sldId xmlns:r="http://schemas.openxmlformats.org/officeDocument/2006/relationships" id="267" r:id="Rcfcda80f36dc4f17"/>
    <p:sldId xmlns:r="http://schemas.openxmlformats.org/officeDocument/2006/relationships" id="268" r:id="Rd382d1a7b9014467"/>
    <p:sldId xmlns:r="http://schemas.openxmlformats.org/officeDocument/2006/relationships" id="269" r:id="R2aa2be95f7d44e48"/>
    <p:sldId xmlns:r="http://schemas.openxmlformats.org/officeDocument/2006/relationships" id="270" r:id="R553c6f20ec5844d9"/>
    <p:sldId xmlns:r="http://schemas.openxmlformats.org/officeDocument/2006/relationships" id="271" r:id="R1ca6f73e46514a8b"/>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134716d312754be0" /><Relationship Type="http://schemas.openxmlformats.org/officeDocument/2006/relationships/slideMaster" Target="/ppt/slideMasters/slideMaster1.xml" Id="R9c31cf22064443da" /><Relationship Type="http://schemas.openxmlformats.org/officeDocument/2006/relationships/notesMaster" Target="/ppt/notesMasters/notesMaster1.xml" Id="R3fb54d10182d460a" /><Relationship Type="http://schemas.openxmlformats.org/officeDocument/2006/relationships/presProps" Target="/ppt/presProps.xml" Id="R6dae454fc3164ff0" /><Relationship Type="http://schemas.openxmlformats.org/officeDocument/2006/relationships/viewProps" Target="/ppt/viewProps.xml" Id="Rd4234d20328b417b" /><Relationship Type="http://schemas.openxmlformats.org/officeDocument/2006/relationships/tableStyles" Target="/ppt/tableStyles.xml" Id="Rda7826765e904907" /><Relationship Type="http://schemas.openxmlformats.org/officeDocument/2006/relationships/slide" Target="/ppt/slides/slide1.xml" Id="Re1a4fe9ce6ad4767" /><Relationship Type="http://schemas.openxmlformats.org/officeDocument/2006/relationships/slide" Target="/ppt/slides/slide2.xml" Id="R1526ea88fe554431" /><Relationship Type="http://schemas.openxmlformats.org/officeDocument/2006/relationships/slide" Target="/ppt/slides/slide3.xml" Id="Rf1c825c229b54a45" /><Relationship Type="http://schemas.openxmlformats.org/officeDocument/2006/relationships/slide" Target="/ppt/slides/slide4.xml" Id="R52d1d44dc21647ca" /><Relationship Type="http://schemas.openxmlformats.org/officeDocument/2006/relationships/slide" Target="/ppt/slides/slide5.xml" Id="Rec80fbad518b4120" /><Relationship Type="http://schemas.openxmlformats.org/officeDocument/2006/relationships/slide" Target="/ppt/slides/slide6.xml" Id="R6de7085692d248ef" /><Relationship Type="http://schemas.openxmlformats.org/officeDocument/2006/relationships/slide" Target="/ppt/slides/slide7.xml" Id="R59f41c9d2d674002" /><Relationship Type="http://schemas.openxmlformats.org/officeDocument/2006/relationships/slide" Target="/ppt/slides/slide8.xml" Id="R2a6d4db03cfa417c" /><Relationship Type="http://schemas.openxmlformats.org/officeDocument/2006/relationships/slide" Target="/ppt/slides/slide9.xml" Id="R1b4a1d78459140e8" /><Relationship Type="http://schemas.openxmlformats.org/officeDocument/2006/relationships/slide" Target="/ppt/slides/slide10.xml" Id="R29c155cd2d8f4bf0" /><Relationship Type="http://schemas.openxmlformats.org/officeDocument/2006/relationships/slide" Target="/ppt/slides/slide11.xml" Id="R743b29ab129b4d76" /><Relationship Type="http://schemas.openxmlformats.org/officeDocument/2006/relationships/slide" Target="/ppt/slides/slide12.xml" Id="Rcfcda80f36dc4f17" /><Relationship Type="http://schemas.openxmlformats.org/officeDocument/2006/relationships/slide" Target="/ppt/slides/slide13.xml" Id="Rd382d1a7b9014467" /><Relationship Type="http://schemas.openxmlformats.org/officeDocument/2006/relationships/slide" Target="/ppt/slides/slide14.xml" Id="R2aa2be95f7d44e48" /><Relationship Type="http://schemas.openxmlformats.org/officeDocument/2006/relationships/slide" Target="/ppt/slides/slide15.xml" Id="R553c6f20ec5844d9" /><Relationship Type="http://schemas.openxmlformats.org/officeDocument/2006/relationships/slide" Target="/ppt/slides/slide16.xml" Id="R1ca6f73e46514a8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30eba9a11446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8eecbb4a1784cfc" /><Relationship Type="http://schemas.openxmlformats.org/officeDocument/2006/relationships/notesMaster" Target="/ppt/notesMasters/notesMaster1.xml" Id="Re7b0ab9e440a4523" /></Relationships>
</file>

<file path=ppt/notesSlides/_rels/notesSlide2.xml.rels>&#65279;<?xml version="1.0" encoding="utf-8"?><Relationships xmlns="http://schemas.openxmlformats.org/package/2006/relationships"><Relationship Type="http://schemas.openxmlformats.org/officeDocument/2006/relationships/slide" Target="/ppt/slides/slide2.xml" Id="R2e9059d8518b4df9" /><Relationship Type="http://schemas.openxmlformats.org/officeDocument/2006/relationships/notesMaster" Target="/ppt/notesMasters/notesMaster1.xml" Id="R06a25bfebd8d4571" /></Relationships>
</file>

<file path=ppt/notesSlides/_rels/notesSlide3.xml.rels>&#65279;<?xml version="1.0" encoding="utf-8"?><Relationships xmlns="http://schemas.openxmlformats.org/package/2006/relationships"><Relationship Type="http://schemas.openxmlformats.org/officeDocument/2006/relationships/slide" Target="/ppt/slides/slide3.xml" Id="Raf0ffbccc83349e1" /><Relationship Type="http://schemas.openxmlformats.org/officeDocument/2006/relationships/notesMaster" Target="/ppt/notesMasters/notesMaster1.xml" Id="Re49f3899cfb24f50" /></Relationships>
</file>

<file path=ppt/notesSlides/_rels/notesSlide4.xml.rels>&#65279;<?xml version="1.0" encoding="utf-8"?><Relationships xmlns="http://schemas.openxmlformats.org/package/2006/relationships"><Relationship Type="http://schemas.openxmlformats.org/officeDocument/2006/relationships/slide" Target="/ppt/slides/slide4.xml" Id="R9d9d17d0ad394314" /><Relationship Type="http://schemas.openxmlformats.org/officeDocument/2006/relationships/notesMaster" Target="/ppt/notesMasters/notesMaster1.xml" Id="Rb590263f6a4d4be4" /></Relationships>
</file>

<file path=ppt/notesSlides/_rels/notesSlide5.xml.rels>&#65279;<?xml version="1.0" encoding="utf-8"?><Relationships xmlns="http://schemas.openxmlformats.org/package/2006/relationships"><Relationship Type="http://schemas.openxmlformats.org/officeDocument/2006/relationships/slide" Target="/ppt/slides/slide5.xml" Id="R84b44cb0df394d29" /><Relationship Type="http://schemas.openxmlformats.org/officeDocument/2006/relationships/notesMaster" Target="/ppt/notesMasters/notesMaster1.xml" Id="R68c9c5ab6742470e" /></Relationships>
</file>

<file path=ppt/notesSlides/_rels/notesSlide6.xml.rels>&#65279;<?xml version="1.0" encoding="utf-8"?><Relationships xmlns="http://schemas.openxmlformats.org/package/2006/relationships"><Relationship Type="http://schemas.openxmlformats.org/officeDocument/2006/relationships/slide" Target="/ppt/slides/slide6.xml" Id="Rbb38a2d652bf4b67" /><Relationship Type="http://schemas.openxmlformats.org/officeDocument/2006/relationships/notesMaster" Target="/ppt/notesMasters/notesMaster1.xml" Id="Rbdf595c53c864748" /></Relationships>
</file>

<file path=ppt/notesSlides/_rels/notesSlide7.xml.rels>&#65279;<?xml version="1.0" encoding="utf-8"?><Relationships xmlns="http://schemas.openxmlformats.org/package/2006/relationships"><Relationship Type="http://schemas.openxmlformats.org/officeDocument/2006/relationships/slide" Target="/ppt/slides/slide7.xml" Id="R65ec9516f70145dd" /><Relationship Type="http://schemas.openxmlformats.org/officeDocument/2006/relationships/notesMaster" Target="/ppt/notesMasters/notesMaster1.xml" Id="R28f9a176139c42a9" /></Relationships>
</file>

<file path=ppt/notesSlides/_rels/notesSlide8.xml.rels>&#65279;<?xml version="1.0" encoding="utf-8"?><Relationships xmlns="http://schemas.openxmlformats.org/package/2006/relationships"><Relationship Type="http://schemas.openxmlformats.org/officeDocument/2006/relationships/slide" Target="/ppt/slides/slide8.xml" Id="Rb3124a7195e342c3" /><Relationship Type="http://schemas.openxmlformats.org/officeDocument/2006/relationships/notesMaster" Target="/ppt/notesMasters/notesMaster1.xml" Id="Rfd433a35b7b449e1" /></Relationships>
</file>

<file path=ppt/notesSlides/_rels/notesSlide9.xml.rels>&#65279;<?xml version="1.0" encoding="utf-8"?><Relationships xmlns="http://schemas.openxmlformats.org/package/2006/relationships"><Relationship Type="http://schemas.openxmlformats.org/officeDocument/2006/relationships/slide" Target="/ppt/slides/slide9.xml" Id="Rc1c7fb2afbcd455a" /><Relationship Type="http://schemas.openxmlformats.org/officeDocument/2006/relationships/notesMaster" Target="/ppt/notesMasters/notesMaster1.xml" Id="R65cb4d1b153245e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1f9146c91b546e6" /><Relationship Type="http://schemas.openxmlformats.org/officeDocument/2006/relationships/notesMaster" Target="/ppt/notesMasters/notesMaster1.xml" Id="R414ebc5d8fba4a5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386b4405e204cd7" /><Relationship Type="http://schemas.openxmlformats.org/officeDocument/2006/relationships/notesMaster" Target="/ppt/notesMasters/notesMaster1.xml" Id="R2f2e5caf2263417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be3b836bfce4bf4" /><Relationship Type="http://schemas.openxmlformats.org/officeDocument/2006/relationships/notesMaster" Target="/ppt/notesMasters/notesMaster1.xml" Id="Rc15763897ca9401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5ee1e0bc9d5040bf" /><Relationship Type="http://schemas.openxmlformats.org/officeDocument/2006/relationships/notesMaster" Target="/ppt/notesMasters/notesMaster1.xml" Id="Rd38e77d62b704063"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3d3798e62f3445a" /><Relationship Type="http://schemas.openxmlformats.org/officeDocument/2006/relationships/notesMaster" Target="/ppt/notesMasters/notesMaster1.xml" Id="R760a5bfe195f484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9ccf1b956d9413f" /><Relationship Type="http://schemas.openxmlformats.org/officeDocument/2006/relationships/notesMaster" Target="/ppt/notesMasters/notesMaster1.xml" Id="Rab3ebbacc12b44aa"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b2c10ddddb9645a2" /><Relationship Type="http://schemas.openxmlformats.org/officeDocument/2006/relationships/notesMaster" Target="/ppt/notesMasters/notesMaster1.xml" Id="R8a4d3c7a1cd34f2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Báo cáo nối tiếp bản cũ, cập nhật theo bốn mục bổ sung 4, 6, 12, 13. Giữ phần tiền xử lý, EDA, RFM và thêm kết quả khai phá mới.</a:t>
            </a:r>
          </a:p>
          <a:p xmlns:a="http://schemas.openxmlformats.org/drawingml/2006/main">
            <a:r>
              <a:t/>
            </a:r>
          </a:p>
          <a:p xmlns:a="http://schemas.openxmlformats.org/drawingml/2006/main">
            <a:r>
              <a:t>Nguồn: BT2_Online_Retail_Phan_Tich_BO_SUNG_4_6_12_13.ipynb, cell index 0–35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Kết quả nền giữ từ bản báo cáo trước và đã đối chiếu với output notebook mới. R, F, M trong bảng phân khúc là trung vị.</a:t>
            </a:r>
          </a:p>
          <a:p xmlns:a="http://schemas.openxmlformats.org/drawingml/2006/main">
            <a:r>
              <a:t/>
            </a:r>
          </a:p>
          <a:p xmlns:a="http://schemas.openxmlformats.org/drawingml/2006/main">
            <a:r>
              <a:t>Nguồn: BT2_Online_Retail_Phan_Tich_BO_SUNG_4_6_12_13.ipynb, cell index 4–17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L1=346, L2=135, L3=7. 142 = L2+L3. 180 luật đạt ngưỡng. Con số 1.329 luật / 891 sản phẩm của bản PPT cũ không còn áp dụng do cấu hình mới. Support dùng mẫu số 16.506 giỏ UK có ít nhất 2 sản phẩm. Mã bốn luật: 84596B sang 84596F; 22578 sang 22577; 22698 sang 22697; 22630 sang 22629.</a:t>
            </a:r>
          </a:p>
          <a:p xmlns:a="http://schemas.openxmlformats.org/drawingml/2006/main">
            <a:r>
              <a:t/>
            </a:r>
          </a:p>
          <a:p xmlns:a="http://schemas.openxmlformats.org/drawingml/2006/main">
            <a:r>
              <a:t>Nguồn: BT2_Online_Retail_Phan_Tich_BO_SUNG_4_6_12_13.ipynb, cell index 20–21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Hình lấy trực tiếp từ output cell 23. Tên dài trong hình được notebook rút ngắn. Hai chiều của một cặp có cùng lift nhưng confidence có thể khác nhau. Không diễn giải mạng là trình tự mua.</a:t>
            </a:r>
          </a:p>
          <a:p xmlns:a="http://schemas.openxmlformats.org/drawingml/2006/main">
            <a:r>
              <a:t/>
            </a:r>
          </a:p>
          <a:p xmlns:a="http://schemas.openxmlformats.org/drawingml/2006/main">
            <a:r>
              <a:t>Nguồn: BT2_Online_Retail_Phan_Tich_BO_SUNG_4_6_12_13.ipynb, cell index 22–23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Leave-last-invoice-out theo từng khách. Không phải chia bằng một mốc thời gian toàn cục. Điểm số là tổng cosine, không phải xác suất mua. Ma trận implicit feedback không dùng rating.</a:t>
            </a:r>
          </a:p>
          <a:p xmlns:a="http://schemas.openxmlformats.org/drawingml/2006/main">
            <a:r>
              <a:t/>
            </a:r>
          </a:p>
          <a:p xmlns:a="http://schemas.openxmlformats.org/drawingml/2006/main">
            <a:r>
              <a:t>Nguồn: BT2_Online_Retail_Phan_Tich_BO_SUNG_4_6_12_13.ipynb, cell index 24–25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Đọc tỷ lệ từ outputs đã làm tròn 0.049/0.040 và 0.026/0.021, không dùng để tuyên bố cải thiện chính xác. Ví dụ chỉ lấy top3 của top10 đã lưu, khách có doanh thu train cao, không đại diện mọi khách. Hạn chế: bộ 800 item bỏ qua long-tail. Test có sản phẩm từng mua, trong khi mô hình chặn món đã thấy, ảnh hưởng recall. Cần đánh giá lại mục tiêu gợi ý món mới nếu triển khai.</a:t>
            </a:r>
          </a:p>
          <a:p xmlns:a="http://schemas.openxmlformats.org/drawingml/2006/main">
            <a:r>
              <a:t/>
            </a:r>
          </a:p>
          <a:p xmlns:a="http://schemas.openxmlformats.org/drawingml/2006/main">
            <a:r>
              <a:t>Nguồn: BT2_Online_Retail_Phan_Tich_BO_SUNG_4_6_12_13.ipynb, cell index 25–27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Ngày trong cửa sổ là nhãn tuần kết thúc Chủ nhật, không phải trực tiếp ngày đầu khoảng giao dịch. GrowthPct so sánh lượng bán trung bình tuần; hai kỳ đều8tuần nên tương đương tỷ lệ tổng. Hai SKU tăng trong bảng có PeakMonth=2011-11. Chỉ mô tả tăng/giảm trong kỳ, chưa đủ chứng minh vòng đời hoặc mùa vụ dài hạn.</a:t>
            </a:r>
          </a:p>
          <a:p xmlns:a="http://schemas.openxmlformats.org/drawingml/2006/main">
            <a:r>
              <a:t/>
            </a:r>
          </a:p>
          <a:p xmlns:a="http://schemas.openxmlformats.org/drawingml/2006/main">
            <a:r>
              <a:t>Nguồn: BT2_Online_Retail_Phan_Tich_BO_SUNG_4_6_12_13.ipynb, cell index 28–30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Cài đặt projected database theo ý tưởng PrefixSpan, chỉ mở rộng một item sang session tiếp theo, tối đa3 bước. Không gọi đây là triển khai đầy đủ mọi loại itemset của PrefixSpan. Support theo số khách có mẫu chia2212. Sequential confidence = support_count của toàn mẫu / support_count của tiền tố. Phạm vi40SKU có nhiều khách mua nhất; không khái quát toàn bộ danh mục. Các ví dụ là khác sản phẩm, notebook cũng có mẫu mua lặp lại.</a:t>
            </a:r>
          </a:p>
          <a:p xmlns:a="http://schemas.openxmlformats.org/drawingml/2006/main">
            <a:r>
              <a:t/>
            </a:r>
          </a:p>
          <a:p xmlns:a="http://schemas.openxmlformats.org/drawingml/2006/main">
            <a:r>
              <a:t>Nguồn: BT2_Online_Retail_Phan_Tich_BO_SUNG_4_6_12_13.ipynb, cell index 31–33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Năm CSV là các lệnh export có trong cell35. Slide không hàm ý5file đã được đính kèm riêng với báo cáo này. Phân khúc RFM có bảng profile trong notebook, cell35 không xuất riêng CSV của RFM.</a:t>
            </a:r>
          </a:p>
          <a:p xmlns:a="http://schemas.openxmlformats.org/drawingml/2006/main">
            <a:r>
              <a:t/>
            </a:r>
          </a:p>
          <a:p xmlns:a="http://schemas.openxmlformats.org/drawingml/2006/main">
            <a:r>
              <a:t>Nguồn: BT2_Online_Retail_Phan_Tich_BO_SUNG_4_6_12_13.ipynb, cell index 18–35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Các hướng sử dụng là đề xuất, chưa phải kết quả cải thiện doanh thu đã kiểm chứng. Không khẳng định4,9% là hiệu quả vận hành thực tế. Bản cập nhật giữ cấu trúc tiền xử lý/EDA/RFM và bổ sung bốn mục mới theo notebook.</a:t>
            </a:r>
          </a:p>
          <a:p xmlns:a="http://schemas.openxmlformats.org/drawingml/2006/main">
            <a:r>
              <a:t/>
            </a:r>
          </a:p>
          <a:p xmlns:a="http://schemas.openxmlformats.org/drawingml/2006/main">
            <a:r>
              <a:t>Nguồn: BT2_Online_Retail_Phan_Tich_BO_SUNG_4_6_12_13.ipynb, cell index 34–35 (đếm từ 0). Số liệu từ outputs đã lưu trong notebook. Chưa chạy lại toàn bộ vì không có Online Retail.xlsx trong tệp đính kèm.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477371f86e24eb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dee0aa32e2419a" /><Relationship Type="http://schemas.openxmlformats.org/officeDocument/2006/relationships/slideLayout" Target="/ppt/slideLayouts/slideLayout1.xml" Id="R3187e4287960460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87e4287960460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93df0540244262" /><Relationship Type="http://schemas.openxmlformats.org/officeDocument/2006/relationships/notesSlide" Target="/ppt/notesSlides/notesSlide1.xml" Id="R4dfecab0357d4c8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fb3d417c7974223" /><Relationship Type="http://schemas.openxmlformats.org/officeDocument/2006/relationships/notesSlide" Target="/ppt/notesSlides/notesSlide2.xml" Id="R5f6ff852d90a4e8f"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01223b5ee264533" /><Relationship Type="http://schemas.openxmlformats.org/officeDocument/2006/relationships/chart" Target="/ppt/slides/charts/chart1.xml" Id="R2bd0a531ffd148b3" /><Relationship Type="http://schemas.openxmlformats.org/officeDocument/2006/relationships/notesSlide" Target="/ppt/notesSlides/notesSlide3.xml" Id="Rac875e88dc4f49aa"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03d717110fe4931" /><Relationship Type="http://schemas.openxmlformats.org/officeDocument/2006/relationships/notesSlide" Target="/ppt/notesSlides/notesSlide4.xml" Id="Ra89bd4033e2b4e0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be5bb34db634ad1" /><Relationship Type="http://schemas.openxmlformats.org/officeDocument/2006/relationships/chart" Target="/ppt/slides/charts/chart2.xml" Id="Rd925a2db430b4293" /><Relationship Type="http://schemas.openxmlformats.org/officeDocument/2006/relationships/notesSlide" Target="/ppt/notesSlides/notesSlide5.xml" Id="Rc413a4f73461436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0fb494865b40a6" /><Relationship Type="http://schemas.openxmlformats.org/officeDocument/2006/relationships/chart" Target="/ppt/slides/charts/chart3.xml" Id="Re2e4ec89d3224e33" /><Relationship Type="http://schemas.openxmlformats.org/officeDocument/2006/relationships/notesSlide" Target="/ppt/notesSlides/notesSlide6.xml" Id="Re8c9817265834c9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1a92f95ef304244" /><Relationship Type="http://schemas.openxmlformats.org/officeDocument/2006/relationships/chart" Target="/ppt/slides/charts/chart4.xml" Id="Rffadb996bc174d33" /><Relationship Type="http://schemas.openxmlformats.org/officeDocument/2006/relationships/notesSlide" Target="/ppt/notesSlides/notesSlide7.xml" Id="R9587fb41a38443de"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f9d162529194874" /><Relationship Type="http://schemas.openxmlformats.org/officeDocument/2006/relationships/chart" Target="/ppt/slides/charts/chart5.xml" Id="Rfba32e46bb4f4b05" /><Relationship Type="http://schemas.openxmlformats.org/officeDocument/2006/relationships/notesSlide" Target="/ppt/notesSlides/notesSlide8.xml" Id="R2951420687194d86"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6eb3effaca9e489e" /><Relationship Type="http://schemas.openxmlformats.org/officeDocument/2006/relationships/notesSlide" Target="/ppt/notesSlides/notesSlide9.xml" Id="Rca8b570175f843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090c70c84d5b4397" /><Relationship Type="http://schemas.openxmlformats.org/officeDocument/2006/relationships/image" Target="/ppt/media/image.png" Id="R6b33192a20fb46e6" /><Relationship Type="http://schemas.openxmlformats.org/officeDocument/2006/relationships/notesSlide" Target="/ppt/notesSlides/notesSlide10.xml" Id="R511c70967ba94f3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66dedfc75264087" /><Relationship Type="http://schemas.openxmlformats.org/officeDocument/2006/relationships/notesSlide" Target="/ppt/notesSlides/notesSlide11.xml" Id="R4773e361077d489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2389a3fbcb34a5a" /><Relationship Type="http://schemas.openxmlformats.org/officeDocument/2006/relationships/notesSlide" Target="/ppt/notesSlides/notesSlide12.xml" Id="R89c59eebedf54a70"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8e4ddda32e04cc5" /><Relationship Type="http://schemas.openxmlformats.org/officeDocument/2006/relationships/notesSlide" Target="/ppt/notesSlides/notesSlide13.xml" Id="R3f9ed31455cf40f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896f346b271947f7" /><Relationship Type="http://schemas.openxmlformats.org/officeDocument/2006/relationships/notesSlide" Target="/ppt/notesSlides/notesSlide14.xml" Id="R56481b1a0c5b433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ae4613c2e634ef9" /><Relationship Type="http://schemas.openxmlformats.org/officeDocument/2006/relationships/notesSlide" Target="/ppt/notesSlides/notesSlide15.xml" Id="R8bf48696bf6a4b34"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44a36f771d4b4345" /><Relationship Type="http://schemas.openxmlformats.org/officeDocument/2006/relationships/notesSlide" Target="/ppt/notesSlides/notesSlide16.xml" Id="R0ee347ddaf744d5f"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roundedCorners val="1"/>
  <c:style val="2"/>
  <c:chart>
    <c:autoTitleDeleted val="1"/>
    <c:plotArea>
      <c:barChart>
        <c:barDir val="bar"/>
        <c:grouping val="clustered"/>
        <c:varyColors val="0"/>
        <c:ser>
          <c:idx val="0"/>
          <c:order val="0"/>
          <c:tx>
            <c:v>Nghìn dòng</c:v>
          </c:tx>
          <c:spPr>
            <a:solidFill xmlns:a="http://schemas.openxmlformats.org/drawingml/2006/main">
              <a:srgbClr val="2696C5"/>
            </a:solidFill>
          </c:spPr>
          <c:invertIfNegative val="1"/>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82D4B"/>
                    </a:solidFill>
                    <a:latin typeface="Arial"/>
                    <a:ea typeface="Arial"/>
                    <a:cs typeface="Arial"/>
                  </a:defRPr>
                </a:pPr>
              </a:p>
            </c:txPr>
            <c:dLblPos val="outEnd"/>
            <c:showLegendKey val="0"/>
            <c:showVal val="1"/>
            <c:showCatName val="0"/>
            <c:showSerName val="0"/>
            <c:showPercent val="0"/>
            <c:showBubbleSize val="0"/>
            <c:showLeaderLines val="0"/>
          </c:dLbls>
          <c:cat>
            <c:strRef>
              <c:f>'Chart Data'!$A$2:$A$6</c:f>
              <c:strCache>
                <c:ptCount val="5"/>
                <c:pt idx="0">
                  <c:v>Thiếu CustomerID</c:v>
                </c:pt>
                <c:pt idx="1">
                  <c:v>Dòng hủy</c:v>
                </c:pt>
                <c:pt idx="2">
                  <c:v>Trùng hoàn toàn</c:v>
                </c:pt>
                <c:pt idx="3">
                  <c:v>Giá ≤ 0</c:v>
                </c:pt>
                <c:pt idx="4">
                  <c:v>Thiếu mô tả</c:v>
                </c:pt>
              </c:strCache>
            </c:strRef>
          </c:cat>
          <c:val>
            <c:numRef>
              <c:f>'Chart Data'!$B$2:$B$6</c:f>
              <c:numCache>
                <c:formatCode>General</c:formatCode>
                <c:ptCount val="5"/>
                <c:pt idx="0">
                  <c:v>135.08</c:v>
                </c:pt>
                <c:pt idx="1">
                  <c:v>9.288</c:v>
                </c:pt>
                <c:pt idx="2">
                  <c:v>5.268</c:v>
                </c:pt>
                <c:pt idx="3">
                  <c:v>2.517</c:v>
                </c:pt>
                <c:pt idx="4">
                  <c:v>1.454</c:v>
                </c:pt>
              </c:numCache>
            </c:numRef>
          </c:val>
        </c:ser>
        <c:dLbls>
          <c:dLblPos val="outEnd"/>
          <c:showLegendKey val="0"/>
          <c:showVal val="1"/>
          <c:showCatName val="0"/>
          <c:showSerName val="0"/>
          <c:showPercent val="0"/>
          <c:showBubbleSize val="0"/>
        </c:dLbls>
        <c:gapWidth val="42"/>
        <c:axId val="48650112"/>
        <c:axId val="48672768"/>
      </c:barChart>
      <c:catAx>
        <c:axId val="48650112"/>
        <c:scaling>
          <c:orientation val="minMax"/>
        </c:scaling>
        <c:delete val="0"/>
        <c:axPos val="l"/>
        <c:majorGridlines>
          <c:spPr>
            <a:ln xmlns:a="http://schemas.openxmlformats.org/drawingml/2006/main" w="9525">
              <a:solidFill>
                <a:srgbClr val="E8EDF2"/>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Nghìn dòng bị ảnh hưởng</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E6B7A"/>
                </a:solidFill>
                <a:latin typeface="Arial"/>
                <a:ea typeface="Arial"/>
                <a:cs typeface="Arial"/>
              </a:defRPr>
            </a:pPr>
          </a:p>
        </c:txPr>
        <c:crossAx val="48672768"/>
        <c:crosses val="autoZero"/>
        <c:lblAlgn val="ctr"/>
        <c:noMultiLvlLbl val="1"/>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1050">
                <a:solidFill>
                  <a:srgbClr val="1F2937"/>
                </a:solidFill>
                <a:latin typeface="Arial"/>
                <a:ea typeface="Arial"/>
                <a:cs typeface="Arial"/>
              </a:defRPr>
            </a:pPr>
          </a:p>
        </c:txPr>
        <c:crossAx val="48650112"/>
        <c:crosses val="autoZero"/>
        <c:crossBetween val="between"/>
      </c:valAx>
    </c:plotArea>
    <c:plotVisOnly val="1"/>
    <c:dispBlanksAs val="zero"/>
  </c:chart>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roundedCorners val="1"/>
  <c:style val="2"/>
  <c:chart>
    <c:autoTitleDeleted val="1"/>
    <c:plotArea>
      <c:lineChart>
        <c:grouping val="standard"/>
        <c:varyColors val="1"/>
        <c:ser>
          <c:idx val="0"/>
          <c:order val="0"/>
          <c:tx>
            <c:v>Doanh thu</c:v>
          </c:tx>
          <c:spPr>
            <a:ln xmlns:a="http://schemas.openxmlformats.org/drawingml/2006/main" w="28575">
              <a:solidFill>
                <a:srgbClr val="2696C5"/>
              </a:solidFill>
              <a:prstDash val="solid"/>
            </a:ln>
          </c:spPr>
          <c:marker>
            <c:symbol val="circle"/>
            <c:size val="7"/>
            <c:spPr>
              <a:solidFill xmlns:a="http://schemas.openxmlformats.org/drawingml/2006/main">
                <a:srgbClr val="2696C5"/>
              </a:solidFill>
            </c:spPr>
          </c:marker>
          <c:cat>
            <c:strRef>
              <c:f>'Chart Data'!$A$2:$A$14</c:f>
              <c:strCache>
                <c:ptCount val="13"/>
                <c:pt idx="0">
                  <c:v>10/12</c:v>
                </c:pt>
                <c:pt idx="1">
                  <c:v>11/01</c:v>
                </c:pt>
                <c:pt idx="2">
                  <c:v>11/02</c:v>
                </c:pt>
                <c:pt idx="3">
                  <c:v>11/03</c:v>
                </c:pt>
                <c:pt idx="4">
                  <c:v>11/04</c:v>
                </c:pt>
                <c:pt idx="5">
                  <c:v>11/05</c:v>
                </c:pt>
                <c:pt idx="6">
                  <c:v>11/06</c:v>
                </c:pt>
                <c:pt idx="7">
                  <c:v>11/07</c:v>
                </c:pt>
                <c:pt idx="8">
                  <c:v>11/08</c:v>
                </c:pt>
                <c:pt idx="9">
                  <c:v>11/09</c:v>
                </c:pt>
                <c:pt idx="10">
                  <c:v>11/10</c:v>
                </c:pt>
                <c:pt idx="11">
                  <c:v>11/11</c:v>
                </c:pt>
                <c:pt idx="12">
                  <c:v>11/12</c:v>
                </c:pt>
              </c:strCache>
            </c:strRef>
          </c:cat>
          <c:val>
            <c:numRef>
              <c:f>'Chart Data'!$B$2:$B$14</c:f>
              <c:numCache>
                <c:formatCode>0.0</c:formatCode>
                <c:ptCount val="13"/>
                <c:pt idx="0">
                  <c:v>0.82145273</c:v>
                </c:pt>
                <c:pt idx="1">
                  <c:v>0.68981161</c:v>
                </c:pt>
                <c:pt idx="2">
                  <c:v>0.52254556</c:v>
                </c:pt>
                <c:pt idx="3">
                  <c:v>0.71621526</c:v>
                </c:pt>
                <c:pt idx="4">
                  <c:v>0.536968491</c:v>
                </c:pt>
                <c:pt idx="5">
                  <c:v>0.76929661</c:v>
                </c:pt>
                <c:pt idx="6">
                  <c:v>0.76054701</c:v>
                </c:pt>
                <c:pt idx="7">
                  <c:v>0.718076121</c:v>
                </c:pt>
                <c:pt idx="8">
                  <c:v>0.75784138</c:v>
                </c:pt>
                <c:pt idx="9">
                  <c:v>1.056435192</c:v>
                </c:pt>
                <c:pt idx="10">
                  <c:v>1.15126373</c:v>
                </c:pt>
                <c:pt idx="11">
                  <c:v>1.50386678</c:v>
                </c:pt>
                <c:pt idx="12">
                  <c:v>0.63779033</c:v>
                </c:pt>
              </c:numCache>
            </c:numRef>
          </c:val>
          <c:smooth val="1"/>
        </c:ser>
        <c:dLbls>
          <c:showLegendKey val="0"/>
          <c:showVal val="0"/>
          <c:showCatName val="0"/>
          <c:showSerName val="0"/>
          <c:showPercent val="0"/>
          <c:showBubbleSize val="0"/>
        </c:dLbls>
        <c:smooth val="0"/>
        <c:axId val="48650112"/>
        <c:axId val="48672768"/>
      </c:line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900">
                <a:solidFill>
                  <a:srgbClr val="5E6B7A"/>
                </a:solidFill>
                <a:latin typeface="Arial"/>
                <a:ea typeface="Arial"/>
                <a:cs typeface="Arial"/>
              </a:defRPr>
            </a:pPr>
          </a:p>
        </c:txPr>
        <c:crossAx val="48672768"/>
        <c:crosses val="autoZero"/>
        <c:lblAlgn val="ctr"/>
        <c:noMultiLvlLbl val="1"/>
        <c:lblOffset val="100"/>
      </c:catAx>
      <c:valAx>
        <c:axId val="48672768"/>
        <c:scaling>
          <c:orientation val="minMax"/>
          <c:max val="1.7"/>
          <c:min val="0"/>
        </c:scaling>
        <c:delete val="0"/>
        <c:axPos val="l"/>
        <c:majorGridlines>
          <c:spPr>
            <a:ln xmlns:a="http://schemas.openxmlformats.org/drawingml/2006/main" w="9525">
              <a:solidFill>
                <a:srgbClr val="E8EDF2"/>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Triệu bảng (£)</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B7A"/>
                </a:solidFill>
                <a:latin typeface="Arial"/>
                <a:ea typeface="Arial"/>
                <a:cs typeface="Arial"/>
              </a:defRPr>
            </a:pPr>
          </a:p>
        </c:txPr>
        <c:crossAx val="48650112"/>
        <c:crosses val="autoZero"/>
        <c:crossBetween val="between"/>
        <c:majorUnit val="0.5"/>
      </c:valAx>
    </c:plotArea>
    <c:plotVisOnly val="1"/>
    <c:dispBlanksAs val="zero"/>
  </c:chart>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roundedCorners val="1"/>
  <c:style val="2"/>
  <c:chart>
    <c:autoTitleDeleted val="1"/>
    <c:plotArea>
      <c:barChart>
        <c:barDir val="bar"/>
        <c:grouping val="clustered"/>
        <c:varyColors val="0"/>
        <c:ser>
          <c:idx val="0"/>
          <c:order val="0"/>
          <c:tx>
            <c:v>Số hóa đơn</c:v>
          </c:tx>
          <c:spPr>
            <a:solidFill xmlns:a="http://schemas.openxmlformats.org/drawingml/2006/main">
              <a:srgbClr val="26A69A"/>
            </a:solidFill>
          </c:spPr>
          <c:invertIfNegative val="1"/>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75" b="1">
                    <a:solidFill>
                      <a:srgbClr val="182D4B"/>
                    </a:solidFill>
                    <a:latin typeface="Arial"/>
                    <a:ea typeface="Arial"/>
                    <a:cs typeface="Arial"/>
                  </a:defRPr>
                </a:pPr>
              </a:p>
            </c:txPr>
            <c:dLblPos val="outEnd"/>
            <c:showLegendKey val="0"/>
            <c:showVal val="1"/>
            <c:showCatName val="0"/>
            <c:showSerName val="0"/>
            <c:showPercent val="0"/>
            <c:showBubbleSize val="0"/>
            <c:showLeaderLines val="0"/>
          </c:dLbls>
          <c:cat>
            <c:strRef>
              <c:f>'Chart Data'!$A$2:$A$7</c:f>
              <c:strCache>
                <c:ptCount val="6"/>
                <c:pt idx="0">
                  <c:v>Heart T-light holder</c:v>
                </c:pt>
                <c:pt idx="1">
                  <c:v>Jumbo bag red</c:v>
                </c:pt>
                <c:pt idx="2">
                  <c:v>Regency cakestand</c:v>
                </c:pt>
                <c:pt idx="3">
                  <c:v>Party bunting</c:v>
                </c:pt>
                <c:pt idx="4">
                  <c:v>Lunch bag red</c:v>
                </c:pt>
                <c:pt idx="5">
                  <c:v>Bird ornament</c:v>
                </c:pt>
              </c:strCache>
            </c:strRef>
          </c:cat>
          <c:val>
            <c:numRef>
              <c:f>'Chart Data'!$B$2:$B$7</c:f>
              <c:numCache>
                <c:formatCode>General</c:formatCode>
                <c:ptCount val="6"/>
                <c:pt idx="0">
                  <c:v>2189</c:v>
                </c:pt>
                <c:pt idx="1">
                  <c:v>2089</c:v>
                </c:pt>
                <c:pt idx="2">
                  <c:v>1988</c:v>
                </c:pt>
                <c:pt idx="3">
                  <c:v>1685</c:v>
                </c:pt>
                <c:pt idx="4">
                  <c:v>1564</c:v>
                </c:pt>
                <c:pt idx="5">
                  <c:v>1455</c:v>
                </c:pt>
              </c:numCache>
            </c:numRef>
          </c:val>
        </c:ser>
        <c:dLbls>
          <c:dLblPos val="outEnd"/>
          <c:showLegendKey val="0"/>
          <c:showVal val="1"/>
          <c:showCatName val="0"/>
          <c:showSerName val="0"/>
          <c:showPercent val="0"/>
          <c:showBubbleSize val="0"/>
        </c:dLbls>
        <c:gapWidth val="34"/>
        <c:axId val="48650112"/>
        <c:axId val="48672768"/>
      </c:barChart>
      <c:catAx>
        <c:axId val="48650112"/>
        <c:scaling>
          <c:orientation val="minMax"/>
        </c:scaling>
        <c:delete val="0"/>
        <c:axPos val="l"/>
        <c:majorGridlines>
          <c:spPr>
            <a:ln xmlns:a="http://schemas.openxmlformats.org/drawingml/2006/main" w="9525">
              <a:solidFill>
                <a:srgbClr val="E8EDF2"/>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Số hóa đơn có sản phẩm</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B7A"/>
                </a:solidFill>
                <a:latin typeface="Arial"/>
                <a:ea typeface="Arial"/>
                <a:cs typeface="Arial"/>
              </a:defRPr>
            </a:pPr>
          </a:p>
        </c:txPr>
        <c:crossAx val="48672768"/>
        <c:crosses val="autoZero"/>
        <c:lblAlgn val="ctr"/>
        <c:noMultiLvlLbl val="1"/>
        <c:lblOffset val="100"/>
      </c:catAx>
      <c:valAx>
        <c:axId val="48672768"/>
        <c:scaling>
          <c:orientation val="minMax"/>
        </c:scaling>
        <c:delete val="0"/>
        <c:axPos val="b"/>
        <c:numFmt formatCode="General" sourceLinked="1"/>
        <c:majorTickMark val="none"/>
        <c:minorTickMark val="none"/>
        <c:tickLblPos val="nextTo"/>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1050">
                <a:solidFill>
                  <a:srgbClr val="1F2937"/>
                </a:solidFill>
                <a:latin typeface="Arial"/>
                <a:ea typeface="Arial"/>
                <a:cs typeface="Arial"/>
              </a:defRPr>
            </a:pPr>
          </a:p>
        </c:txPr>
        <c:crossAx val="48650112"/>
        <c:crosses val="autoZero"/>
        <c:crossBetween val="between"/>
      </c:valAx>
    </c:plotArea>
    <c:plotVisOnly val="1"/>
    <c:dispBlanksAs val="zero"/>
  </c:chart>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roundedCorners val="1"/>
  <c:style val="2"/>
  <c:chart>
    <c:autoTitleDeleted val="1"/>
    <c:plotArea>
      <c:lineChart>
        <c:grouping val="standard"/>
        <c:varyColors val="1"/>
        <c:ser>
          <c:idx val="0"/>
          <c:order val="0"/>
          <c:tx>
            <c:v>Silhouette</c:v>
          </c:tx>
          <c:spPr>
            <a:ln xmlns:a="http://schemas.openxmlformats.org/drawingml/2006/main" w="28575">
              <a:solidFill>
                <a:srgbClr val="2696C5"/>
              </a:solidFill>
              <a:prstDash val="solid"/>
            </a:ln>
          </c:spPr>
          <c:marker>
            <c:symbol val="circle"/>
            <c:size val="9"/>
            <c:spPr>
              <a:solidFill xmlns:a="http://schemas.openxmlformats.org/drawingml/2006/main">
                <a:srgbClr val="2696C5"/>
              </a:solidFill>
            </c:spPr>
          </c:marker>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1">
                    <a:solidFill>
                      <a:srgbClr val="182D4B"/>
                    </a:solidFill>
                    <a:latin typeface="Arial"/>
                    <a:ea typeface="Arial"/>
                    <a:cs typeface="Arial"/>
                  </a:defRPr>
                </a:pPr>
              </a:p>
            </c:txPr>
            <c:showLegendKey val="0"/>
            <c:showVal val="1"/>
            <c:showCatName val="0"/>
            <c:showSerName val="0"/>
            <c:showPercent val="0"/>
            <c:showBubbleSize val="0"/>
            <c:showLeaderLines val="0"/>
          </c:dLbls>
          <c:cat>
            <c:numRef>
              <c:f>'Chart Data'!$A$2:$A$6</c:f>
              <c:numCache>
                <c:formatCode>General</c:formatCode>
                <c:ptCount val="5"/>
                <c:pt idx="0">
                  <c:v>2</c:v>
                </c:pt>
                <c:pt idx="1">
                  <c:v>3</c:v>
                </c:pt>
                <c:pt idx="2">
                  <c:v>4</c:v>
                </c:pt>
                <c:pt idx="3">
                  <c:v>5</c:v>
                </c:pt>
                <c:pt idx="4">
                  <c:v>6</c:v>
                </c:pt>
              </c:numCache>
            </c:numRef>
          </c:cat>
          <c:val>
            <c:numRef>
              <c:f>'Chart Data'!$B$2:$B$6</c:f>
              <c:numCache>
                <c:formatCode>0.00</c:formatCode>
                <c:ptCount val="5"/>
                <c:pt idx="0">
                  <c:v>0.434653043885</c:v>
                </c:pt>
                <c:pt idx="1">
                  <c:v>0.336960234873</c:v>
                </c:pt>
                <c:pt idx="2">
                  <c:v>0.335430209271</c:v>
                </c:pt>
                <c:pt idx="3">
                  <c:v>0.316792049991</c:v>
                </c:pt>
                <c:pt idx="4">
                  <c:v>0.313772365653</c:v>
                </c:pt>
              </c:numCache>
            </c:numRef>
          </c:val>
          <c:smooth val="1"/>
        </c:ser>
        <c:dLbls>
          <c:showLegendKey val="0"/>
          <c:showVal val="1"/>
          <c:showCatName val="0"/>
          <c:showSerName val="0"/>
          <c:showPercent val="0"/>
          <c:showBubbleSize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rial"/>
                    <a:ea typeface="Arial"/>
                    <a:cs typeface="Arial"/>
                  </a:rPr>
                  <a:t>Số cụm k</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General" sourceLinked="1"/>
        <c:majorTickMark val="none"/>
        <c:minorTickMark val="none"/>
        <c:tickLblPos val="nextTo"/>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1050">
                <a:solidFill>
                  <a:srgbClr val="5E6B7A"/>
                </a:solidFill>
                <a:latin typeface="Arial"/>
                <a:ea typeface="Arial"/>
                <a:cs typeface="Arial"/>
              </a:defRPr>
            </a:pPr>
          </a:p>
        </c:txPr>
        <c:crossAx val="48672768"/>
        <c:crosses val="autoZero"/>
        <c:lblAlgn val="ctr"/>
        <c:noMultiLvlLbl val="1"/>
        <c:lblOffset val="100"/>
      </c:catAx>
      <c:valAx>
        <c:axId val="48672768"/>
        <c:scaling>
          <c:orientation val="minMax"/>
          <c:max val="0.46"/>
          <c:min val="0.25"/>
        </c:scaling>
        <c:delete val="0"/>
        <c:axPos val="l"/>
        <c:majorGridlines>
          <c:spPr>
            <a:ln xmlns:a="http://schemas.openxmlformats.org/drawingml/2006/main" w="9525">
              <a:solidFill>
                <a:srgbClr val="E8EDF2"/>
              </a:solidFill>
              <a:prstDash val="solid"/>
            </a:ln>
          </c:spPr>
        </c:majorGridlines>
        <c:title>
          <c:tx>
            <c:rich>
              <a:bodyPr xmlns:a="http://schemas.openxmlformats.org/drawingml/2006/main"/>
              <a:lstStyle xmlns:a="http://schemas.openxmlformats.org/drawingml/2006/main"/>
              <a:p xmlns:a="http://schemas.openxmlformats.org/drawingml/2006/main">
                <a:r>
                  <a:rPr>
                    <a:latin typeface="Arial"/>
                    <a:ea typeface="Arial"/>
                    <a:cs typeface="Arial"/>
                  </a:rPr>
                  <a:t>Silhouette score</a:t>
                </a:r>
              </a:p>
            </c:rich>
          </c:tx>
          <c:overlay val="0"/>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title>
        <c:numFmt formatCode="0.0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75">
                <a:solidFill>
                  <a:srgbClr val="5E6B7A"/>
                </a:solidFill>
                <a:latin typeface="Arial"/>
                <a:ea typeface="Arial"/>
                <a:cs typeface="Arial"/>
              </a:defRPr>
            </a:pPr>
          </a:p>
        </c:txPr>
        <c:crossAx val="48650112"/>
        <c:crosses val="autoZero"/>
        <c:crossBetween val="between"/>
        <c:majorUnit val="0.05"/>
      </c:valAx>
    </c:plotArea>
    <c:plotVisOnly val="1"/>
    <c:dispBlanksAs val="zero"/>
  </c:chart>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roundedCorners val="1"/>
  <c:style val="2"/>
  <c:chart>
    <c:autoTitleDeleted val="1"/>
    <c:plotArea>
      <c:barChart>
        <c:barDir val="col"/>
        <c:grouping val="clustered"/>
        <c:varyColors val="0"/>
        <c:ser>
          <c:idx val="0"/>
          <c:order val="0"/>
          <c:tx>
            <c:v>Tỷ trọng khách</c:v>
          </c:tx>
          <c:spPr>
            <a:solidFill xmlns:a="http://schemas.openxmlformats.org/drawingml/2006/main">
              <a:srgbClr val="2696C5"/>
            </a:solidFill>
          </c:spPr>
          <c:invertIfNegative val="1"/>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1">
                    <a:solidFill>
                      <a:srgbClr val="182D4B"/>
                    </a:solidFill>
                    <a:latin typeface="Arial"/>
                    <a:ea typeface="Arial"/>
                    <a:cs typeface="Arial"/>
                  </a:defRPr>
                </a:pPr>
              </a:p>
            </c:txPr>
            <c:dLblPos val="outEnd"/>
            <c:showLegendKey val="0"/>
            <c:showVal val="1"/>
            <c:showCatName val="0"/>
            <c:showSerName val="0"/>
            <c:showPercent val="0"/>
            <c:showBubbleSize val="0"/>
            <c:showLeaderLines val="0"/>
          </c:dLbls>
          <c:cat>
            <c:strRef>
              <c:f>'Chart Data'!$A$2:$A$5</c:f>
              <c:strCache>
                <c:ptCount val="4"/>
                <c:pt idx="0">
                  <c:v>Ngủ quên</c:v>
                </c:pt>
                <c:pt idx="1">
                  <c:v>Giá trị cao</c:v>
                </c:pt>
                <c:pt idx="2">
                  <c:v>Mới/ít mua</c:v>
                </c:pt>
                <c:pt idx="3">
                  <c:v>Khách cốt lõi</c:v>
                </c:pt>
              </c:strCache>
            </c:strRef>
          </c:cat>
          <c:val>
            <c:numRef>
              <c:f>'Chart Data'!$B$2:$B$5</c:f>
              <c:numCache>
                <c:formatCode>0%</c:formatCode>
                <c:ptCount val="4"/>
                <c:pt idx="0">
                  <c:v>0.343015214385</c:v>
                </c:pt>
                <c:pt idx="1">
                  <c:v>0.176579068695</c:v>
                </c:pt>
                <c:pt idx="2">
                  <c:v>0.203550023052</c:v>
                </c:pt>
                <c:pt idx="3">
                  <c:v>0.276855693868</c:v>
                </c:pt>
              </c:numCache>
            </c:numRef>
          </c:val>
        </c:ser>
        <c:ser>
          <c:idx val="1"/>
          <c:order val="1"/>
          <c:tx>
            <c:v>Tỷ trọng doanh thu</c:v>
          </c:tx>
          <c:spPr>
            <a:solidFill xmlns:a="http://schemas.openxmlformats.org/drawingml/2006/main">
              <a:srgbClr val="F59E42"/>
            </a:solidFill>
          </c:spPr>
          <c:invertIfNegative val="1"/>
          <c:dLbls>
            <c:spPr>
              <a:noFill xmlns:a="http://schemas.openxmlformats.org/drawingml/2006/main"/>
              <a:ln xmlns:a="http://schemas.openxmlformats.org/drawingml/2006/main">
                <a:noFill/>
              </a:ln>
            </c:spPr>
            <c:txPr>
              <a:bodyPr xmlns:a="http://schemas.openxmlformats.org/drawingml/2006/main" anchorCtr="1"/>
              <a:lstStyle xmlns:a="http://schemas.openxmlformats.org/drawingml/2006/main"/>
              <a:p xmlns:a="http://schemas.openxmlformats.org/drawingml/2006/main">
                <a:pPr>
                  <a:defRPr sz="900" b="1">
                    <a:solidFill>
                      <a:srgbClr val="182D4B"/>
                    </a:solidFill>
                    <a:latin typeface="Arial"/>
                    <a:ea typeface="Arial"/>
                    <a:cs typeface="Arial"/>
                  </a:defRPr>
                </a:pPr>
              </a:p>
            </c:txPr>
            <c:dLblPos val="outEnd"/>
            <c:showLegendKey val="0"/>
            <c:showVal val="1"/>
            <c:showCatName val="0"/>
            <c:showSerName val="0"/>
            <c:showPercent val="0"/>
            <c:showBubbleSize val="0"/>
            <c:showLeaderLines val="0"/>
          </c:dLbls>
          <c:cat>
            <c:strRef>
              <c:f>'Chart Data'!$C$2:$C$5</c:f>
              <c:strCache>
                <c:ptCount val="4"/>
                <c:pt idx="0">
                  <c:v>Ngủ quên</c:v>
                </c:pt>
                <c:pt idx="1">
                  <c:v>Giá trị cao</c:v>
                </c:pt>
                <c:pt idx="2">
                  <c:v>Mới/ít mua</c:v>
                </c:pt>
                <c:pt idx="3">
                  <c:v>Khách cốt lõi</c:v>
                </c:pt>
              </c:strCache>
            </c:strRef>
          </c:cat>
          <c:val>
            <c:numRef>
              <c:f>'Chart Data'!$D$2:$D$5</c:f>
              <c:numCache>
                <c:formatCode>0%</c:formatCode>
                <c:ptCount val="4"/>
                <c:pt idx="0">
                  <c:v>0.0565231713344</c:v>
                </c:pt>
                <c:pt idx="1">
                  <c:v>0.659663178836</c:v>
                </c:pt>
                <c:pt idx="2">
                  <c:v>0.0472631638358</c:v>
                </c:pt>
                <c:pt idx="3">
                  <c:v>0.236550485993</c:v>
                </c:pt>
              </c:numCache>
            </c:numRef>
          </c:val>
        </c:ser>
        <c:dLbls>
          <c:dLblPos val="outEnd"/>
          <c:showLegendKey val="0"/>
          <c:showVal val="1"/>
          <c:showCatName val="0"/>
          <c:showSerName val="0"/>
          <c:showPercent val="0"/>
          <c:showBubbleSize val="0"/>
        </c:dLbls>
        <c:gapWidth val="38"/>
        <c:axId val="48650112"/>
        <c:axId val="48672768"/>
      </c:barChart>
      <c:catAx>
        <c:axId val="48650112"/>
        <c:scaling>
          <c:orientation val="minMax"/>
        </c:scaling>
        <c:delete val="0"/>
        <c:axPos val="b"/>
        <c:numFmt formatCode="General" sourceLinked="1"/>
        <c:majorTickMark val="none"/>
        <c:minorTickMark val="none"/>
        <c:tickLblPos val="nextTo"/>
        <c:spPr>
          <a:ln xmlns:a="http://schemas.openxmlformats.org/drawingml/2006/main" w="9525">
            <a:solidFill>
              <a:srgbClr val="D7E0E8"/>
            </a:solidFill>
          </a:ln>
        </c:spPr>
        <c:txPr>
          <a:bodyPr xmlns:a="http://schemas.openxmlformats.org/drawingml/2006/main" anchorCtr="1"/>
          <a:lstStyle xmlns:a="http://schemas.openxmlformats.org/drawingml/2006/main"/>
          <a:p xmlns:a="http://schemas.openxmlformats.org/drawingml/2006/main">
            <a:pPr>
              <a:defRPr sz="975">
                <a:solidFill>
                  <a:srgbClr val="1F2937"/>
                </a:solidFill>
                <a:latin typeface="Arial"/>
                <a:ea typeface="Arial"/>
                <a:cs typeface="Arial"/>
              </a:defRPr>
            </a:pPr>
          </a:p>
        </c:txPr>
        <c:crossAx val="48672768"/>
        <c:crosses val="autoZero"/>
        <c:lblAlgn val="ctr"/>
        <c:noMultiLvlLbl val="1"/>
        <c:lblOffset val="100"/>
      </c:catAx>
      <c:valAx>
        <c:axId val="48672768"/>
        <c:scaling>
          <c:orientation val="minMax"/>
          <c:max val="0.75"/>
          <c:min val="0"/>
        </c:scaling>
        <c:delete val="0"/>
        <c:axPos val="l"/>
        <c:majorGridlines>
          <c:spPr>
            <a:ln xmlns:a="http://schemas.openxmlformats.org/drawingml/2006/main" w="9525">
              <a:solidFill>
                <a:srgbClr val="E8EDF2"/>
              </a:solidFill>
              <a:prstDash val="solid"/>
            </a:ln>
          </c:spPr>
        </c:majorGridlines>
        <c:numFmt formatCode="0%" sourceLinked="1"/>
        <c:majorTickMark val="none"/>
        <c:minorTickMark val="none"/>
        <c:tickLblPos val="nextTo"/>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900">
                <a:solidFill>
                  <a:srgbClr val="5E6B7A"/>
                </a:solidFill>
                <a:latin typeface="Arial"/>
                <a:ea typeface="Arial"/>
                <a:cs typeface="Arial"/>
              </a:defRPr>
            </a:pPr>
          </a:p>
        </c:txPr>
        <c:crossAx val="48650112"/>
        <c:crosses val="autoZero"/>
        <c:crossBetween val="between"/>
        <c:majorUnit val="0.15"/>
      </c:valAx>
    </c:plotArea>
    <c:legend>
      <c:legendPos val="b"/>
      <c:overlay val="0"/>
      <c:txPr>
        <a:bodyPr xmlns:a="http://schemas.openxmlformats.org/drawingml/2006/main" anchorCtr="1"/>
        <a:lstStyle xmlns:a="http://schemas.openxmlformats.org/drawingml/2006/main"/>
        <a:p xmlns:a="http://schemas.openxmlformats.org/drawingml/2006/main">
          <a:pPr>
            <a:defRPr sz="975">
              <a:solidFill>
                <a:srgbClr val="1F2937"/>
              </a:solidFill>
              <a:latin typeface="Arial"/>
              <a:ea typeface="Arial"/>
              <a:cs typeface="Arial"/>
            </a:defRPr>
          </a:pPr>
        </a:p>
      </c:txPr>
    </c:legend>
    <c:plotVisOnly val="1"/>
    <c:dispBlanksAs val="zero"/>
  </c:chart>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2D4B"/>
        </a:solidFill>
      </p:bgPr>
    </p:bg>
    <p:spTree>
      <p:nvGrpSpPr>
        <p:cNvPr id="1" name=""/>
        <p:cNvGrpSpPr/>
        <p:nvPr/>
      </p:nvGrpSpPr>
      <p:grpSpPr>
        <a:xfrm xmlns:a="http://schemas.openxmlformats.org/drawingml/2006/main"/>
      </p:grpSpPr>
      <p:sp>
        <p:nvSpPr>
          <p:cNvPr id="7" name="Rectangle 6">
            <a:extLst xmlns:a="http://schemas.openxmlformats.org/drawingml/2006/main">
              <a:ext uri="{FF2B5EF4-FFF2-40B4-BE49-F238E27FC236}">
                <a16:creationId xmlns:a16="http://schemas.microsoft.com/office/drawing/2014/main" id="{30155C3C-ECA4-401F-AADB-646A3E73D1FA}"/>
              </a:ext>
            </a:extLst>
          </p:cNvPr>
          <p:cNvSpPr>
            <a:spLocks xmlns:a="http://schemas.openxmlformats.org/drawingml/2006/main" noGrp="1"/>
          </p:cNvSpPr>
          <p:nvPr/>
        </p:nvSpPr>
        <p:spPr>
          <a:xfrm xmlns:a="http://schemas.openxmlformats.org/drawingml/2006/main">
            <a:off x="723900" y="1143000"/>
            <a:ext cx="76200" cy="2857500"/>
          </a:xfrm>
          <a:prstGeom xmlns:a="http://schemas.openxmlformats.org/drawingml/2006/main" prst="rect">
            <a:avLst/>
          </a:prstGeom>
          <a:solidFill xmlns:a="http://schemas.openxmlformats.org/drawingml/2006/main">
            <a:srgbClr val="F59E42"/>
          </a:solidFill>
          <a:ln xmlns:a="http://schemas.openxmlformats.org/drawingml/2006/main" w="0">
            <a:solidFill>
              <a:srgbClr val="F59E42"/>
            </a:solidFill>
          </a:ln>
        </p:spPr>
      </p:sp>
      <p:sp>
        <p:nvSpPr>
          <p:cNvPr id="2" name="Rectangle 1">
            <a:extLst xmlns:a="http://schemas.openxmlformats.org/drawingml/2006/main">
              <a:ext uri="{FF2B5EF4-FFF2-40B4-BE49-F238E27FC236}">
                <a16:creationId xmlns:a16="http://schemas.microsoft.com/office/drawing/2014/main" id="{C1ED89D8-F648-40F8-9766-FD1704394590}"/>
              </a:ext>
            </a:extLst>
          </p:cNvPr>
          <p:cNvSpPr>
            <a:spLocks xmlns:a="http://schemas.openxmlformats.org/drawingml/2006/main" noGrp="1"/>
          </p:cNvSpPr>
          <p:nvPr/>
        </p:nvSpPr>
        <p:spPr>
          <a:xfrm xmlns:a="http://schemas.openxmlformats.org/drawingml/2006/main">
            <a:off x="1066800" y="1200150"/>
            <a:ext cx="8858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BÁO CÁO PHÂN TÍCH DỮ LIỆU</a:t>
            </a:r>
          </a:p>
          <a:p xmlns:a="http://schemas.openxmlformats.org/drawingml/2006/main">
            <a:pPr algn="l">
              <a:buNone/>
              <a:defRPr sz="3150" b="1">
                <a:solidFill>
                  <a:srgbClr val="FFFFFF"/>
                </a:solidFill>
                <a:latin typeface="Arial"/>
                <a:ea typeface="Arial"/>
                <a:cs typeface="Arial"/>
              </a:defRPr>
            </a:pPr>
            <a:r>
              <a:rPr sz="3150" b="1">
                <a:solidFill>
                  <a:srgbClr val="FFFFFF"/>
                </a:solidFill>
                <a:latin typeface="Arial"/>
                <a:ea typeface="Arial"/>
                <a:cs typeface="Arial"/>
              </a:rPr>
              <a:t>ONLINE RETAIL</a:t>
            </a:r>
          </a:p>
        </p:txBody>
      </p:sp>
      <p:sp>
        <p:nvSpPr>
          <p:cNvPr id="3" name="Rectangle 2">
            <a:extLst xmlns:a="http://schemas.openxmlformats.org/drawingml/2006/main">
              <a:ext uri="{FF2B5EF4-FFF2-40B4-BE49-F238E27FC236}">
                <a16:creationId xmlns:a16="http://schemas.microsoft.com/office/drawing/2014/main" id="{5D61A526-6AE0-47A1-898F-D3DA4612A476}"/>
              </a:ext>
            </a:extLst>
          </p:cNvPr>
          <p:cNvSpPr>
            <a:spLocks xmlns:a="http://schemas.openxmlformats.org/drawingml/2006/main" noGrp="1"/>
          </p:cNvSpPr>
          <p:nvPr/>
        </p:nvSpPr>
        <p:spPr>
          <a:xfrm xmlns:a="http://schemas.openxmlformats.org/drawingml/2006/main">
            <a:off x="1085850" y="2838450"/>
            <a:ext cx="9334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725" b="0">
                <a:solidFill>
                  <a:srgbClr val="D8E5F3"/>
                </a:solidFill>
                <a:latin typeface="Arial"/>
                <a:ea typeface="Arial"/>
                <a:cs typeface="Arial"/>
              </a:defRPr>
            </a:pPr>
            <a:r>
              <a:rPr sz="1725" b="0">
                <a:solidFill>
                  <a:srgbClr val="D8E5F3"/>
                </a:solidFill>
                <a:latin typeface="Arial"/>
                <a:ea typeface="Arial"/>
                <a:cs typeface="Arial"/>
              </a:rPr>
              <a:t>Bài tập 2: Phân tích giao dịch và khai phá hành vi mua hàng</a:t>
            </a:r>
          </a:p>
        </p:txBody>
      </p:sp>
      <p:sp>
        <p:nvSpPr>
          <p:cNvPr id="4" name="Rectangle 3">
            <a:extLst xmlns:a="http://schemas.openxmlformats.org/drawingml/2006/main">
              <a:ext uri="{FF2B5EF4-FFF2-40B4-BE49-F238E27FC236}">
                <a16:creationId xmlns:a16="http://schemas.microsoft.com/office/drawing/2014/main" id="{B5ECD8DE-F76C-4491-BE37-3DACC50B7EBA}"/>
              </a:ext>
            </a:extLst>
          </p:cNvPr>
          <p:cNvSpPr>
            <a:spLocks xmlns:a="http://schemas.openxmlformats.org/drawingml/2006/main" noGrp="1"/>
          </p:cNvSpPr>
          <p:nvPr/>
        </p:nvSpPr>
        <p:spPr>
          <a:xfrm xmlns:a="http://schemas.openxmlformats.org/drawingml/2006/main">
            <a:off x="1085850" y="3638550"/>
            <a:ext cx="4762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75" b="1">
                <a:solidFill>
                  <a:srgbClr val="F59E42"/>
                </a:solidFill>
                <a:latin typeface="Arial"/>
                <a:ea typeface="Arial"/>
                <a:cs typeface="Arial"/>
              </a:defRPr>
            </a:pPr>
            <a:r>
              <a:rPr sz="1275" b="1">
                <a:solidFill>
                  <a:srgbClr val="F59E42"/>
                </a:solidFill>
                <a:latin typeface="Arial"/>
                <a:ea typeface="Arial"/>
                <a:cs typeface="Arial"/>
              </a:rPr>
              <a:t>Nội dung cập nhật</a:t>
            </a:r>
          </a:p>
        </p:txBody>
      </p:sp>
      <p:sp>
        <p:nvSpPr>
          <p:cNvPr id="5" name="Rectangle 4">
            <a:extLst xmlns:a="http://schemas.openxmlformats.org/drawingml/2006/main">
              <a:ext uri="{FF2B5EF4-FFF2-40B4-BE49-F238E27FC236}">
                <a16:creationId xmlns:a16="http://schemas.microsoft.com/office/drawing/2014/main" id="{EE793F9D-5A37-40A9-8F41-5AFA157107EE}"/>
              </a:ext>
            </a:extLst>
          </p:cNvPr>
          <p:cNvSpPr>
            <a:spLocks xmlns:a="http://schemas.openxmlformats.org/drawingml/2006/main" noGrp="1"/>
          </p:cNvSpPr>
          <p:nvPr/>
        </p:nvSpPr>
        <p:spPr>
          <a:xfrm xmlns:a="http://schemas.openxmlformats.org/drawingml/2006/main">
            <a:off x="1085850" y="3981450"/>
            <a:ext cx="990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Tiền xử lý và RFM</a:t>
            </a:r>
          </a:p>
          <a:p xmlns:a="http://schemas.openxmlformats.org/drawingml/2006/main">
            <a:pPr algn="l">
              <a:buNone/>
              <a:defRPr sz="1575" b="0">
                <a:solidFill>
                  <a:srgbClr val="FFFFFF"/>
                </a:solidFill>
                <a:latin typeface="Arial"/>
                <a:ea typeface="Arial"/>
                <a:cs typeface="Arial"/>
              </a:defRPr>
            </a:pPr>
            <a:r>
              <a:rPr sz="1575" b="0">
                <a:solidFill>
                  <a:srgbClr val="FFFFFF"/>
                </a:solidFill>
                <a:latin typeface="Arial"/>
                <a:ea typeface="Arial"/>
                <a:cs typeface="Arial"/>
              </a:rPr>
              <a:t>Apriori, gợi ý sản phẩm, xu hướng SKU và chuỗi mua hàng</a:t>
            </a:r>
          </a:p>
        </p:txBody>
      </p:sp>
      <p:sp>
        <p:nvSpPr>
          <p:cNvPr id="6" name="Rectangle 5">
            <a:extLst xmlns:a="http://schemas.openxmlformats.org/drawingml/2006/main">
              <a:ext uri="{FF2B5EF4-FFF2-40B4-BE49-F238E27FC236}">
                <a16:creationId xmlns:a16="http://schemas.microsoft.com/office/drawing/2014/main" id="{2B523FB0-984A-4380-ABDA-FD8B0C24151C}"/>
              </a:ext>
            </a:extLst>
          </p:cNvPr>
          <p:cNvSpPr>
            <a:spLocks xmlns:a="http://schemas.openxmlformats.org/drawingml/2006/main" noGrp="1"/>
          </p:cNvSpPr>
          <p:nvPr/>
        </p:nvSpPr>
        <p:spPr>
          <a:xfrm xmlns:a="http://schemas.openxmlformats.org/drawingml/2006/main">
            <a:off x="1085850" y="5905500"/>
            <a:ext cx="6858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125" b="0">
                <a:solidFill>
                  <a:srgbClr val="AFC2D8"/>
                </a:solidFill>
                <a:latin typeface="Arial"/>
                <a:ea typeface="Arial"/>
                <a:cs typeface="Arial"/>
              </a:defRPr>
            </a:pPr>
            <a:r>
              <a:rPr sz="1125" b="0">
                <a:solidFill>
                  <a:srgbClr val="AFC2D8"/>
                </a:solidFill>
                <a:latin typeface="Arial"/>
                <a:ea typeface="Arial"/>
                <a:cs typeface="Arial"/>
              </a:rPr>
              <a:t>Nguồn dữ liệu: UCI Machine Learning Repository</a:t>
            </a:r>
          </a:p>
        </p:txBody>
      </p:sp>
    </p:spTree>
    <p:extLst>
      <p:ext uri="{BB962C8B-B14F-4D97-AF65-F5344CB8AC3E}">
        <p14:creationId xmlns:p14="http://schemas.microsoft.com/office/powerpoint/2010/main" val="58519104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3" name="Rectangle 32">
            <a:extLst xmlns:a="http://schemas.openxmlformats.org/drawingml/2006/main">
              <a:ext uri="{FF2B5EF4-FFF2-40B4-BE49-F238E27FC236}">
                <a16:creationId xmlns:a16="http://schemas.microsoft.com/office/drawing/2014/main" id="{5C7B46A8-1904-42A7-97F7-F668331B43DE}"/>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B5CB83D9-EE2B-46FE-A295-436A428214D2}"/>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1. Tổng quan dữ liệu và mục tiêu khai phá</a:t>
            </a:r>
          </a:p>
        </p:txBody>
      </p:sp>
      <p:sp>
        <p:nvSpPr>
          <p:cNvPr id="3" name="Rectangle 2">
            <a:extLst xmlns:a="http://schemas.openxmlformats.org/drawingml/2006/main">
              <a:ext uri="{FF2B5EF4-FFF2-40B4-BE49-F238E27FC236}">
                <a16:creationId xmlns:a16="http://schemas.microsoft.com/office/drawing/2014/main" id="{866F0E8D-7ADD-4985-8E99-E410527DC3CB}"/>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02</a:t>
            </a:r>
          </a:p>
        </p:txBody>
      </p:sp>
      <p:sp>
        <p:nvSpPr>
          <p:cNvPr id="4" name="Rectangle: Rounded Corners 3">
            <a:extLst xmlns:a="http://schemas.openxmlformats.org/drawingml/2006/main">
              <a:ext uri="{FF2B5EF4-FFF2-40B4-BE49-F238E27FC236}">
                <a16:creationId xmlns:a16="http://schemas.microsoft.com/office/drawing/2014/main" id="{5E5500AD-B563-4FED-BC32-6782B734F3D9}"/>
              </a:ext>
            </a:extLst>
          </p:cNvPr>
          <p:cNvSpPr>
            <a:spLocks xmlns:a="http://schemas.openxmlformats.org/drawingml/2006/main" noGrp="1"/>
          </p:cNvSpPr>
          <p:nvPr/>
        </p:nvSpPr>
        <p:spPr>
          <a:xfrm xmlns:a="http://schemas.openxmlformats.org/drawingml/2006/main">
            <a:off x="419100" y="895350"/>
            <a:ext cx="257175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5" name="Rectangle 4">
            <a:extLst xmlns:a="http://schemas.openxmlformats.org/drawingml/2006/main">
              <a:ext uri="{FF2B5EF4-FFF2-40B4-BE49-F238E27FC236}">
                <a16:creationId xmlns:a16="http://schemas.microsoft.com/office/drawing/2014/main" id="{86E2E012-BD81-4EB0-8247-008BCD73DFDB}"/>
              </a:ext>
            </a:extLst>
          </p:cNvPr>
          <p:cNvSpPr>
            <a:spLocks xmlns:a="http://schemas.openxmlformats.org/drawingml/2006/main" noGrp="1"/>
          </p:cNvSpPr>
          <p:nvPr/>
        </p:nvSpPr>
        <p:spPr>
          <a:xfrm xmlns:a="http://schemas.openxmlformats.org/drawingml/2006/main">
            <a:off x="419100" y="895350"/>
            <a:ext cx="66675" cy="971550"/>
          </a:xfrm>
          <a:prstGeom xmlns:a="http://schemas.openxmlformats.org/drawingml/2006/main" prst="rect">
            <a:avLst/>
          </a:prstGeom>
          <a:solidFill xmlns:a="http://schemas.openxmlformats.org/drawingml/2006/main">
            <a:srgbClr val="F59E42"/>
          </a:solidFill>
          <a:ln xmlns:a="http://schemas.openxmlformats.org/drawingml/2006/main" w="0">
            <a:solidFill>
              <a:srgbClr val="F59E42"/>
            </a:solidFill>
          </a:ln>
        </p:spPr>
      </p:sp>
      <p:sp>
        <p:nvSpPr>
          <p:cNvPr id="6" name="Rectangle 5">
            <a:extLst xmlns:a="http://schemas.openxmlformats.org/drawingml/2006/main">
              <a:ext uri="{FF2B5EF4-FFF2-40B4-BE49-F238E27FC236}">
                <a16:creationId xmlns:a16="http://schemas.microsoft.com/office/drawing/2014/main" id="{ED9A2B8B-8DB8-4794-A529-043777037F35}"/>
              </a:ext>
            </a:extLst>
          </p:cNvPr>
          <p:cNvSpPr>
            <a:spLocks xmlns:a="http://schemas.openxmlformats.org/drawingml/2006/main" noGrp="1"/>
          </p:cNvSpPr>
          <p:nvPr/>
        </p:nvSpPr>
        <p:spPr>
          <a:xfrm xmlns:a="http://schemas.openxmlformats.org/drawingml/2006/main">
            <a:off x="628650" y="100965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541.909</a:t>
            </a:r>
          </a:p>
        </p:txBody>
      </p:sp>
      <p:sp>
        <p:nvSpPr>
          <p:cNvPr id="7" name="Rectangle 6">
            <a:extLst xmlns:a="http://schemas.openxmlformats.org/drawingml/2006/main">
              <a:ext uri="{FF2B5EF4-FFF2-40B4-BE49-F238E27FC236}">
                <a16:creationId xmlns:a16="http://schemas.microsoft.com/office/drawing/2014/main" id="{DBCCBD1A-9275-44A8-B636-6B327F0B9683}"/>
              </a:ext>
            </a:extLst>
          </p:cNvPr>
          <p:cNvSpPr>
            <a:spLocks xmlns:a="http://schemas.openxmlformats.org/drawingml/2006/main" noGrp="1"/>
          </p:cNvSpPr>
          <p:nvPr/>
        </p:nvSpPr>
        <p:spPr>
          <a:xfrm xmlns:a="http://schemas.openxmlformats.org/drawingml/2006/main">
            <a:off x="628650" y="14287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dòng giao dịch</a:t>
            </a:r>
          </a:p>
        </p:txBody>
      </p:sp>
      <p:sp>
        <p:nvSpPr>
          <p:cNvPr id="8" name="Rectangle: Rounded Corners 7">
            <a:extLst xmlns:a="http://schemas.openxmlformats.org/drawingml/2006/main">
              <a:ext uri="{FF2B5EF4-FFF2-40B4-BE49-F238E27FC236}">
                <a16:creationId xmlns:a16="http://schemas.microsoft.com/office/drawing/2014/main" id="{708A71D0-6448-4D21-9741-16199DC0E3B6}"/>
              </a:ext>
            </a:extLst>
          </p:cNvPr>
          <p:cNvSpPr>
            <a:spLocks xmlns:a="http://schemas.openxmlformats.org/drawingml/2006/main" noGrp="1"/>
          </p:cNvSpPr>
          <p:nvPr/>
        </p:nvSpPr>
        <p:spPr>
          <a:xfrm xmlns:a="http://schemas.openxmlformats.org/drawingml/2006/main">
            <a:off x="3143250" y="895350"/>
            <a:ext cx="257175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9" name="Rectangle 8">
            <a:extLst xmlns:a="http://schemas.openxmlformats.org/drawingml/2006/main">
              <a:ext uri="{FF2B5EF4-FFF2-40B4-BE49-F238E27FC236}">
                <a16:creationId xmlns:a16="http://schemas.microsoft.com/office/drawing/2014/main" id="{58A97447-324F-45C1-8D8E-3CDDAA315E1C}"/>
              </a:ext>
            </a:extLst>
          </p:cNvPr>
          <p:cNvSpPr>
            <a:spLocks xmlns:a="http://schemas.openxmlformats.org/drawingml/2006/main" noGrp="1"/>
          </p:cNvSpPr>
          <p:nvPr/>
        </p:nvSpPr>
        <p:spPr>
          <a:xfrm xmlns:a="http://schemas.openxmlformats.org/drawingml/2006/main">
            <a:off x="3143250" y="895350"/>
            <a:ext cx="66675" cy="9715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10" name="Rectangle 9">
            <a:extLst xmlns:a="http://schemas.openxmlformats.org/drawingml/2006/main">
              <a:ext uri="{FF2B5EF4-FFF2-40B4-BE49-F238E27FC236}">
                <a16:creationId xmlns:a16="http://schemas.microsoft.com/office/drawing/2014/main" id="{26044D9D-5B5C-4D49-9B3E-EACC7FEC58A3}"/>
              </a:ext>
            </a:extLst>
          </p:cNvPr>
          <p:cNvSpPr>
            <a:spLocks xmlns:a="http://schemas.openxmlformats.org/drawingml/2006/main" noGrp="1"/>
          </p:cNvSpPr>
          <p:nvPr/>
        </p:nvSpPr>
        <p:spPr>
          <a:xfrm xmlns:a="http://schemas.openxmlformats.org/drawingml/2006/main">
            <a:off x="3352800" y="100965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25.900</a:t>
            </a:r>
          </a:p>
        </p:txBody>
      </p:sp>
      <p:sp>
        <p:nvSpPr>
          <p:cNvPr id="11" name="Rectangle 10">
            <a:extLst xmlns:a="http://schemas.openxmlformats.org/drawingml/2006/main">
              <a:ext uri="{FF2B5EF4-FFF2-40B4-BE49-F238E27FC236}">
                <a16:creationId xmlns:a16="http://schemas.microsoft.com/office/drawing/2014/main" id="{8988F756-7779-4425-BA89-353038908E18}"/>
              </a:ext>
            </a:extLst>
          </p:cNvPr>
          <p:cNvSpPr>
            <a:spLocks xmlns:a="http://schemas.openxmlformats.org/drawingml/2006/main" noGrp="1"/>
          </p:cNvSpPr>
          <p:nvPr/>
        </p:nvSpPr>
        <p:spPr>
          <a:xfrm xmlns:a="http://schemas.openxmlformats.org/drawingml/2006/main">
            <a:off x="3352800" y="14287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mã hóa đơn trong dữ liệu thô</a:t>
            </a:r>
          </a:p>
        </p:txBody>
      </p:sp>
      <p:sp>
        <p:nvSpPr>
          <p:cNvPr id="12" name="Rectangle: Rounded Corners 11">
            <a:extLst xmlns:a="http://schemas.openxmlformats.org/drawingml/2006/main">
              <a:ext uri="{FF2B5EF4-FFF2-40B4-BE49-F238E27FC236}">
                <a16:creationId xmlns:a16="http://schemas.microsoft.com/office/drawing/2014/main" id="{E4C6F9F8-10B6-47E0-9CCD-AD2EBBD92FCC}"/>
              </a:ext>
            </a:extLst>
          </p:cNvPr>
          <p:cNvSpPr>
            <a:spLocks xmlns:a="http://schemas.openxmlformats.org/drawingml/2006/main" noGrp="1"/>
          </p:cNvSpPr>
          <p:nvPr/>
        </p:nvSpPr>
        <p:spPr>
          <a:xfrm xmlns:a="http://schemas.openxmlformats.org/drawingml/2006/main">
            <a:off x="5867400" y="895350"/>
            <a:ext cx="257175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13" name="Rectangle 12">
            <a:extLst xmlns:a="http://schemas.openxmlformats.org/drawingml/2006/main">
              <a:ext uri="{FF2B5EF4-FFF2-40B4-BE49-F238E27FC236}">
                <a16:creationId xmlns:a16="http://schemas.microsoft.com/office/drawing/2014/main" id="{B338AEFD-00C5-4ADC-BED7-2B60B203F85E}"/>
              </a:ext>
            </a:extLst>
          </p:cNvPr>
          <p:cNvSpPr>
            <a:spLocks xmlns:a="http://schemas.openxmlformats.org/drawingml/2006/main" noGrp="1"/>
          </p:cNvSpPr>
          <p:nvPr/>
        </p:nvSpPr>
        <p:spPr>
          <a:xfrm xmlns:a="http://schemas.openxmlformats.org/drawingml/2006/main">
            <a:off x="5867400" y="895350"/>
            <a:ext cx="66675" cy="971550"/>
          </a:xfrm>
          <a:prstGeom xmlns:a="http://schemas.openxmlformats.org/drawingml/2006/main" prst="rect">
            <a:avLst/>
          </a:prstGeom>
          <a:solidFill xmlns:a="http://schemas.openxmlformats.org/drawingml/2006/main">
            <a:srgbClr val="26A69A"/>
          </a:solidFill>
          <a:ln xmlns:a="http://schemas.openxmlformats.org/drawingml/2006/main" w="0">
            <a:solidFill>
              <a:srgbClr val="26A69A"/>
            </a:solidFill>
          </a:ln>
        </p:spPr>
      </p:sp>
      <p:sp>
        <p:nvSpPr>
          <p:cNvPr id="14" name="Rectangle 13">
            <a:extLst xmlns:a="http://schemas.openxmlformats.org/drawingml/2006/main">
              <a:ext uri="{FF2B5EF4-FFF2-40B4-BE49-F238E27FC236}">
                <a16:creationId xmlns:a16="http://schemas.microsoft.com/office/drawing/2014/main" id="{E653EC83-664A-4DAD-A505-8D21E7DD33F0}"/>
              </a:ext>
            </a:extLst>
          </p:cNvPr>
          <p:cNvSpPr>
            <a:spLocks xmlns:a="http://schemas.openxmlformats.org/drawingml/2006/main" noGrp="1"/>
          </p:cNvSpPr>
          <p:nvPr/>
        </p:nvSpPr>
        <p:spPr>
          <a:xfrm xmlns:a="http://schemas.openxmlformats.org/drawingml/2006/main">
            <a:off x="6076950" y="100965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4.372</a:t>
            </a:r>
          </a:p>
        </p:txBody>
      </p:sp>
      <p:sp>
        <p:nvSpPr>
          <p:cNvPr id="15" name="Rectangle 14">
            <a:extLst xmlns:a="http://schemas.openxmlformats.org/drawingml/2006/main">
              <a:ext uri="{FF2B5EF4-FFF2-40B4-BE49-F238E27FC236}">
                <a16:creationId xmlns:a16="http://schemas.microsoft.com/office/drawing/2014/main" id="{C3B87DE4-250E-4122-8773-13C3EFC2423F}"/>
              </a:ext>
            </a:extLst>
          </p:cNvPr>
          <p:cNvSpPr>
            <a:spLocks xmlns:a="http://schemas.openxmlformats.org/drawingml/2006/main" noGrp="1"/>
          </p:cNvSpPr>
          <p:nvPr/>
        </p:nvSpPr>
        <p:spPr>
          <a:xfrm xmlns:a="http://schemas.openxmlformats.org/drawingml/2006/main">
            <a:off x="6076950" y="14287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khách hàng có mã định danh</a:t>
            </a:r>
          </a:p>
        </p:txBody>
      </p:sp>
      <p:sp>
        <p:nvSpPr>
          <p:cNvPr id="16" name="Rectangle: Rounded Corners 15">
            <a:extLst xmlns:a="http://schemas.openxmlformats.org/drawingml/2006/main">
              <a:ext uri="{FF2B5EF4-FFF2-40B4-BE49-F238E27FC236}">
                <a16:creationId xmlns:a16="http://schemas.microsoft.com/office/drawing/2014/main" id="{676738DD-1B24-45D1-8046-B37D24BB26BD}"/>
              </a:ext>
            </a:extLst>
          </p:cNvPr>
          <p:cNvSpPr>
            <a:spLocks xmlns:a="http://schemas.openxmlformats.org/drawingml/2006/main" noGrp="1"/>
          </p:cNvSpPr>
          <p:nvPr/>
        </p:nvSpPr>
        <p:spPr>
          <a:xfrm xmlns:a="http://schemas.openxmlformats.org/drawingml/2006/main">
            <a:off x="8591550" y="895350"/>
            <a:ext cx="257175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17" name="Rectangle 16">
            <a:extLst xmlns:a="http://schemas.openxmlformats.org/drawingml/2006/main">
              <a:ext uri="{FF2B5EF4-FFF2-40B4-BE49-F238E27FC236}">
                <a16:creationId xmlns:a16="http://schemas.microsoft.com/office/drawing/2014/main" id="{62FFE3A1-D352-49B2-8BD4-B611C4E37FE2}"/>
              </a:ext>
            </a:extLst>
          </p:cNvPr>
          <p:cNvSpPr>
            <a:spLocks xmlns:a="http://schemas.openxmlformats.org/drawingml/2006/main" noGrp="1"/>
          </p:cNvSpPr>
          <p:nvPr/>
        </p:nvSpPr>
        <p:spPr>
          <a:xfrm xmlns:a="http://schemas.openxmlformats.org/drawingml/2006/main">
            <a:off x="8591550" y="895350"/>
            <a:ext cx="66675" cy="971550"/>
          </a:xfrm>
          <a:prstGeom xmlns:a="http://schemas.openxmlformats.org/drawingml/2006/main" prst="rect">
            <a:avLst/>
          </a:prstGeom>
          <a:solidFill xmlns:a="http://schemas.openxmlformats.org/drawingml/2006/main">
            <a:srgbClr val="28A745"/>
          </a:solidFill>
          <a:ln xmlns:a="http://schemas.openxmlformats.org/drawingml/2006/main" w="0">
            <a:solidFill>
              <a:srgbClr val="28A745"/>
            </a:solidFill>
          </a:ln>
        </p:spPr>
      </p:sp>
      <p:sp>
        <p:nvSpPr>
          <p:cNvPr id="18" name="Rectangle 17">
            <a:extLst xmlns:a="http://schemas.openxmlformats.org/drawingml/2006/main">
              <a:ext uri="{FF2B5EF4-FFF2-40B4-BE49-F238E27FC236}">
                <a16:creationId xmlns:a16="http://schemas.microsoft.com/office/drawing/2014/main" id="{567E0485-FFCC-48C1-9B16-EA0C670A5F74}"/>
              </a:ext>
            </a:extLst>
          </p:cNvPr>
          <p:cNvSpPr>
            <a:spLocks xmlns:a="http://schemas.openxmlformats.org/drawingml/2006/main" noGrp="1"/>
          </p:cNvSpPr>
          <p:nvPr/>
        </p:nvSpPr>
        <p:spPr>
          <a:xfrm xmlns:a="http://schemas.openxmlformats.org/drawingml/2006/main">
            <a:off x="8801100" y="1009650"/>
            <a:ext cx="2247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38</a:t>
            </a:r>
          </a:p>
        </p:txBody>
      </p:sp>
      <p:sp>
        <p:nvSpPr>
          <p:cNvPr id="19" name="Rectangle 18">
            <a:extLst xmlns:a="http://schemas.openxmlformats.org/drawingml/2006/main">
              <a:ext uri="{FF2B5EF4-FFF2-40B4-BE49-F238E27FC236}">
                <a16:creationId xmlns:a16="http://schemas.microsoft.com/office/drawing/2014/main" id="{8B329FE4-8A0D-47F0-BFDA-CDFBD921CD1E}"/>
              </a:ext>
            </a:extLst>
          </p:cNvPr>
          <p:cNvSpPr>
            <a:spLocks xmlns:a="http://schemas.openxmlformats.org/drawingml/2006/main" noGrp="1"/>
          </p:cNvSpPr>
          <p:nvPr/>
        </p:nvSpPr>
        <p:spPr>
          <a:xfrm xmlns:a="http://schemas.openxmlformats.org/drawingml/2006/main">
            <a:off x="8801100" y="1428750"/>
            <a:ext cx="2247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quốc gia và vùng lãnh thổ</a:t>
            </a:r>
          </a:p>
        </p:txBody>
      </p:sp>
      <p:sp>
        <p:nvSpPr>
          <p:cNvPr id="20" name="Rectangle 19">
            <a:extLst xmlns:a="http://schemas.openxmlformats.org/drawingml/2006/main">
              <a:ext uri="{FF2B5EF4-FFF2-40B4-BE49-F238E27FC236}">
                <a16:creationId xmlns:a16="http://schemas.microsoft.com/office/drawing/2014/main" id="{3443456B-7FC4-4935-9F11-8339D0766AAD}"/>
              </a:ext>
            </a:extLst>
          </p:cNvPr>
          <p:cNvSpPr>
            <a:spLocks xmlns:a="http://schemas.openxmlformats.org/drawingml/2006/main" noGrp="1"/>
          </p:cNvSpPr>
          <p:nvPr/>
        </p:nvSpPr>
        <p:spPr>
          <a:xfrm xmlns:a="http://schemas.openxmlformats.org/drawingml/2006/main">
            <a:off x="419100" y="2152650"/>
            <a:ext cx="5257800" cy="3238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21" name="Rectangle 20">
            <a:extLst xmlns:a="http://schemas.openxmlformats.org/drawingml/2006/main">
              <a:ext uri="{FF2B5EF4-FFF2-40B4-BE49-F238E27FC236}">
                <a16:creationId xmlns:a16="http://schemas.microsoft.com/office/drawing/2014/main" id="{93DC17A5-6F5E-41C5-91CA-60B6FFCB8FAC}"/>
              </a:ext>
            </a:extLst>
          </p:cNvPr>
          <p:cNvSpPr>
            <a:spLocks xmlns:a="http://schemas.openxmlformats.org/drawingml/2006/main" noGrp="1"/>
          </p:cNvSpPr>
          <p:nvPr/>
        </p:nvSpPr>
        <p:spPr>
          <a:xfrm xmlns:a="http://schemas.openxmlformats.org/drawingml/2006/main">
            <a:off x="514350" y="2171700"/>
            <a:ext cx="5067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CẤU TRÚC GIAO DỊCH</a:t>
            </a:r>
          </a:p>
        </p:txBody>
      </p:sp>
      <p:graphicFrame>
        <p:nvGraphicFramePr>
          <p:cNvPr id="56" name="Table 53"/>
          <p:cNvGraphicFramePr/>
          <p:nvPr/>
        </p:nvGraphicFramePr>
        <p:xfrm>
          <a:off xmlns:a="http://schemas.openxmlformats.org/drawingml/2006/main" x="419100" y="2552700"/>
          <a:ext xmlns:a="http://schemas.openxmlformats.org/drawingml/2006/main" cx="5257800" cy="3181350"/>
        </p:xfrm>
        <a:graphic xmlns:a="http://schemas.openxmlformats.org/drawingml/2006/main">
          <a:graphicData uri="http://schemas.openxmlformats.org/drawingml/2006/table">
            <a:tbl>
              <a:tblPr/>
              <a:tblGrid>
                <a:gridCol w="1666875"/>
                <a:gridCol w="3590925"/>
              </a:tblGrid>
              <a:tr h="621030">
                <a:tc>
                  <a:txBody>
                    <a:bodyPr/>
                    <a:lstStyle/>
                    <a:p>
                      <a:r>
                        <a:rPr sz="1725">
                          <a:latin typeface="Arial"/>
                          <a:ea typeface="Arial"/>
                          <a:cs typeface="Arial"/>
                        </a:rPr>
                        <a:t>Nhóm cột</a:t>
                      </a:r>
                    </a:p>
                  </a:txBody>
                  <a:tcPr marL="91440" marR="91440" marT="45720" marB="45720"/>
                </a:tc>
                <a:tc>
                  <a:txBody>
                    <a:bodyPr/>
                    <a:lstStyle/>
                    <a:p>
                      <a:r>
                        <a:rPr sz="1725">
                          <a:latin typeface="Arial"/>
                          <a:ea typeface="Arial"/>
                          <a:cs typeface="Arial"/>
                        </a:rPr>
                        <a:t>Vai trò</a:t>
                      </a:r>
                    </a:p>
                  </a:txBody>
                  <a:tcPr marL="91440" marR="91440" marT="45720" marB="45720"/>
                </a:tc>
              </a:tr>
              <a:tr h="621030">
                <a:tc>
                  <a:txBody>
                    <a:bodyPr/>
                    <a:lstStyle/>
                    <a:p>
                      <a:r>
                        <a:rPr sz="1725">
                          <a:latin typeface="Arial"/>
                          <a:ea typeface="Arial"/>
                          <a:cs typeface="Arial"/>
                        </a:rPr>
                        <a:t>InvoiceNo, InvoiceDate</a:t>
                      </a:r>
                    </a:p>
                  </a:txBody>
                  <a:tcPr marL="91440" marR="91440" marT="45720" marB="45720"/>
                </a:tc>
                <a:tc>
                  <a:txBody>
                    <a:bodyPr/>
                    <a:lstStyle/>
                    <a:p>
                      <a:r>
                        <a:rPr sz="1725">
                          <a:latin typeface="Arial"/>
                          <a:ea typeface="Arial"/>
                          <a:cs typeface="Arial"/>
                        </a:rPr>
                        <a:t>Nhận diện giao dịch và thời điểm phát sinh</a:t>
                      </a:r>
                    </a:p>
                  </a:txBody>
                  <a:tcPr marL="91440" marR="91440" marT="45720" marB="45720"/>
                </a:tc>
              </a:tr>
              <a:tr h="621030">
                <a:tc>
                  <a:txBody>
                    <a:bodyPr/>
                    <a:lstStyle/>
                    <a:p>
                      <a:r>
                        <a:rPr sz="1725">
                          <a:latin typeface="Arial"/>
                          <a:ea typeface="Arial"/>
                          <a:cs typeface="Arial"/>
                        </a:rPr>
                        <a:t>StockCode, Description</a:t>
                      </a:r>
                    </a:p>
                  </a:txBody>
                  <a:tcPr marL="91440" marR="91440" marT="45720" marB="45720"/>
                </a:tc>
                <a:tc>
                  <a:txBody>
                    <a:bodyPr/>
                    <a:lstStyle/>
                    <a:p>
                      <a:r>
                        <a:rPr sz="1725">
                          <a:latin typeface="Arial"/>
                          <a:ea typeface="Arial"/>
                          <a:cs typeface="Arial"/>
                        </a:rPr>
                        <a:t>Nhận diện và mô tả sản phẩm</a:t>
                      </a:r>
                    </a:p>
                  </a:txBody>
                  <a:tcPr marL="91440" marR="91440" marT="45720" marB="45720"/>
                </a:tc>
              </a:tr>
              <a:tr h="621030">
                <a:tc>
                  <a:txBody>
                    <a:bodyPr/>
                    <a:lstStyle/>
                    <a:p>
                      <a:r>
                        <a:rPr sz="1725">
                          <a:latin typeface="Arial"/>
                          <a:ea typeface="Arial"/>
                          <a:cs typeface="Arial"/>
                        </a:rPr>
                        <a:t>Quantity, UnitPrice</a:t>
                      </a:r>
                    </a:p>
                  </a:txBody>
                  <a:tcPr marL="91440" marR="91440" marT="45720" marB="45720"/>
                </a:tc>
                <a:tc>
                  <a:txBody>
                    <a:bodyPr/>
                    <a:lstStyle/>
                    <a:p>
                      <a:r>
                        <a:rPr sz="1725">
                          <a:latin typeface="Arial"/>
                          <a:ea typeface="Arial"/>
                          <a:cs typeface="Arial"/>
                        </a:rPr>
                        <a:t>Số lượng, đơn giá và doanh thu dòng hàng</a:t>
                      </a:r>
                    </a:p>
                  </a:txBody>
                  <a:tcPr marL="91440" marR="91440" marT="45720" marB="45720"/>
                </a:tc>
              </a:tr>
              <a:tr h="621030">
                <a:tc>
                  <a:txBody>
                    <a:bodyPr/>
                    <a:lstStyle/>
                    <a:p>
                      <a:r>
                        <a:rPr sz="1725">
                          <a:latin typeface="Arial"/>
                          <a:ea typeface="Arial"/>
                          <a:cs typeface="Arial"/>
                        </a:rPr>
                        <a:t>CustomerID, Country</a:t>
                      </a:r>
                    </a:p>
                  </a:txBody>
                  <a:tcPr marL="91440" marR="91440" marT="45720" marB="45720"/>
                </a:tc>
                <a:tc>
                  <a:txBody>
                    <a:bodyPr/>
                    <a:lstStyle/>
                    <a:p>
                      <a:r>
                        <a:rPr sz="1725">
                          <a:latin typeface="Arial"/>
                          <a:ea typeface="Arial"/>
                          <a:cs typeface="Arial"/>
                        </a:rPr>
                        <a:t>Khách hàng và thị trường</a:t>
                      </a:r>
                    </a:p>
                  </a:txBody>
                  <a:tcPr marL="91440" marR="91440" marT="45720" marB="45720"/>
                </a:tc>
              </a:tr>
            </a:tbl>
          </a:graphicData>
        </a:graphic>
      </p:graphicFrame>
      <p:sp>
        <p:nvSpPr>
          <p:cNvPr id="23" name="Rectangle 22">
            <a:extLst xmlns:a="http://schemas.openxmlformats.org/drawingml/2006/main">
              <a:ext uri="{FF2B5EF4-FFF2-40B4-BE49-F238E27FC236}">
                <a16:creationId xmlns:a16="http://schemas.microsoft.com/office/drawing/2014/main" id="{F860D3DA-C106-4D05-853F-15966F4AEBD1}"/>
              </a:ext>
            </a:extLst>
          </p:cNvPr>
          <p:cNvSpPr>
            <a:spLocks xmlns:a="http://schemas.openxmlformats.org/drawingml/2006/main" noGrp="1"/>
          </p:cNvSpPr>
          <p:nvPr/>
        </p:nvSpPr>
        <p:spPr>
          <a:xfrm xmlns:a="http://schemas.openxmlformats.org/drawingml/2006/main">
            <a:off x="6000750" y="2152650"/>
            <a:ext cx="5162550" cy="3238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24" name="Rectangle 23">
            <a:extLst xmlns:a="http://schemas.openxmlformats.org/drawingml/2006/main">
              <a:ext uri="{FF2B5EF4-FFF2-40B4-BE49-F238E27FC236}">
                <a16:creationId xmlns:a16="http://schemas.microsoft.com/office/drawing/2014/main" id="{F901025B-B8D6-46D8-ADEF-F33C7DFE469A}"/>
              </a:ext>
            </a:extLst>
          </p:cNvPr>
          <p:cNvSpPr>
            <a:spLocks xmlns:a="http://schemas.openxmlformats.org/drawingml/2006/main" noGrp="1"/>
          </p:cNvSpPr>
          <p:nvPr/>
        </p:nvSpPr>
        <p:spPr>
          <a:xfrm xmlns:a="http://schemas.openxmlformats.org/drawingml/2006/main">
            <a:off x="6096000" y="2171700"/>
            <a:ext cx="4972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PHẠM VI KHAI PHÁ MỞ RỘNG</a:t>
            </a:r>
          </a:p>
        </p:txBody>
      </p:sp>
      <p:sp>
        <p:nvSpPr>
          <p:cNvPr id="25" name="Rectangle: Rounded Corners 24">
            <a:extLst xmlns:a="http://schemas.openxmlformats.org/drawingml/2006/main">
              <a:ext uri="{FF2B5EF4-FFF2-40B4-BE49-F238E27FC236}">
                <a16:creationId xmlns:a16="http://schemas.microsoft.com/office/drawing/2014/main" id="{E6EE78D3-8F80-4824-8CC2-9C0D5AE70979}"/>
              </a:ext>
            </a:extLst>
          </p:cNvPr>
          <p:cNvSpPr>
            <a:spLocks xmlns:a="http://schemas.openxmlformats.org/drawingml/2006/main" noGrp="1"/>
          </p:cNvSpPr>
          <p:nvPr/>
        </p:nvSpPr>
        <p:spPr>
          <a:xfrm xmlns:a="http://schemas.openxmlformats.org/drawingml/2006/main">
            <a:off x="6000750" y="2552700"/>
            <a:ext cx="5162550" cy="1352550"/>
          </a:xfrm>
          <a:prstGeom xmlns:a="http://schemas.openxmlformats.org/drawingml/2006/main" prst="roundRect">
            <a:avLst>
              <a:gd name="adj" fmla="val 7042"/>
            </a:avLst>
          </a:prstGeom>
          <a:solidFill xmlns:a="http://schemas.openxmlformats.org/drawingml/2006/main">
            <a:srgbClr val="EDF7FB"/>
          </a:solidFill>
          <a:ln xmlns:a="http://schemas.openxmlformats.org/drawingml/2006/main" w="14288">
            <a:solidFill>
              <a:srgbClr val="2696C5"/>
            </a:solidFill>
          </a:ln>
        </p:spPr>
      </p:sp>
      <p:sp>
        <p:nvSpPr>
          <p:cNvPr id="26" name="Rectangle 25">
            <a:extLst xmlns:a="http://schemas.openxmlformats.org/drawingml/2006/main">
              <a:ext uri="{FF2B5EF4-FFF2-40B4-BE49-F238E27FC236}">
                <a16:creationId xmlns:a16="http://schemas.microsoft.com/office/drawing/2014/main" id="{2747BC84-8B4B-46ED-8CCA-E552A49F09A7}"/>
              </a:ext>
            </a:extLst>
          </p:cNvPr>
          <p:cNvSpPr>
            <a:spLocks xmlns:a="http://schemas.openxmlformats.org/drawingml/2006/main" noGrp="1"/>
          </p:cNvSpPr>
          <p:nvPr/>
        </p:nvSpPr>
        <p:spPr>
          <a:xfrm xmlns:a="http://schemas.openxmlformats.org/drawingml/2006/main">
            <a:off x="6210300" y="268605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00" b="1">
                <a:solidFill>
                  <a:srgbClr val="182D4B"/>
                </a:solidFill>
                <a:latin typeface="Arial"/>
                <a:ea typeface="Arial"/>
                <a:cs typeface="Arial"/>
              </a:defRPr>
            </a:pPr>
            <a:r>
              <a:rPr sz="1800" b="1">
                <a:solidFill>
                  <a:srgbClr val="182D4B"/>
                </a:solidFill>
                <a:latin typeface="Arial"/>
                <a:ea typeface="Arial"/>
                <a:cs typeface="Arial"/>
              </a:rPr>
              <a:t>Khách hàng và giỏ hàng</a:t>
            </a:r>
          </a:p>
        </p:txBody>
      </p:sp>
      <p:sp>
        <p:nvSpPr>
          <p:cNvPr id="27" name="Rectangle 26">
            <a:extLst xmlns:a="http://schemas.openxmlformats.org/drawingml/2006/main">
              <a:ext uri="{FF2B5EF4-FFF2-40B4-BE49-F238E27FC236}">
                <a16:creationId xmlns:a16="http://schemas.microsoft.com/office/drawing/2014/main" id="{D7E7E572-F617-4B80-80C5-D5EE05BD3A39}"/>
              </a:ext>
            </a:extLst>
          </p:cNvPr>
          <p:cNvSpPr>
            <a:spLocks xmlns:a="http://schemas.openxmlformats.org/drawingml/2006/main" noGrp="1"/>
          </p:cNvSpPr>
          <p:nvPr/>
        </p:nvSpPr>
        <p:spPr>
          <a:xfrm xmlns:a="http://schemas.openxmlformats.org/drawingml/2006/main">
            <a:off x="6210300" y="308610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RFM + K-Means để phân khúc khách hàng. Apriori để tìm sản phẩm thường mua trong cùng hóa đơn.</a:t>
            </a:r>
          </a:p>
        </p:txBody>
      </p:sp>
      <p:sp>
        <p:nvSpPr>
          <p:cNvPr id="28" name="Rectangle: Rounded Corners 27">
            <a:extLst xmlns:a="http://schemas.openxmlformats.org/drawingml/2006/main">
              <a:ext uri="{FF2B5EF4-FFF2-40B4-BE49-F238E27FC236}">
                <a16:creationId xmlns:a16="http://schemas.microsoft.com/office/drawing/2014/main" id="{9219006E-A0D8-4B4C-9C6D-430A22B8355B}"/>
              </a:ext>
            </a:extLst>
          </p:cNvPr>
          <p:cNvSpPr>
            <a:spLocks xmlns:a="http://schemas.openxmlformats.org/drawingml/2006/main" noGrp="1"/>
          </p:cNvSpPr>
          <p:nvPr/>
        </p:nvSpPr>
        <p:spPr>
          <a:xfrm xmlns:a="http://schemas.openxmlformats.org/drawingml/2006/main">
            <a:off x="6000750" y="4095750"/>
            <a:ext cx="5162550" cy="1352550"/>
          </a:xfrm>
          <a:prstGeom xmlns:a="http://schemas.openxmlformats.org/drawingml/2006/main" prst="roundRect">
            <a:avLst>
              <a:gd name="adj" fmla="val 7042"/>
            </a:avLst>
          </a:prstGeom>
          <a:solidFill xmlns:a="http://schemas.openxmlformats.org/drawingml/2006/main">
            <a:srgbClr val="FFF6EA"/>
          </a:solidFill>
          <a:ln xmlns:a="http://schemas.openxmlformats.org/drawingml/2006/main" w="14288">
            <a:solidFill>
              <a:srgbClr val="F59E42"/>
            </a:solidFill>
          </a:ln>
        </p:spPr>
      </p:sp>
      <p:sp>
        <p:nvSpPr>
          <p:cNvPr id="29" name="Rectangle 28">
            <a:extLst xmlns:a="http://schemas.openxmlformats.org/drawingml/2006/main">
              <a:ext uri="{FF2B5EF4-FFF2-40B4-BE49-F238E27FC236}">
                <a16:creationId xmlns:a16="http://schemas.microsoft.com/office/drawing/2014/main" id="{265AA564-7D29-40D2-B7DE-5BEB0FC3CD0F}"/>
              </a:ext>
            </a:extLst>
          </p:cNvPr>
          <p:cNvSpPr>
            <a:spLocks xmlns:a="http://schemas.openxmlformats.org/drawingml/2006/main" noGrp="1"/>
          </p:cNvSpPr>
          <p:nvPr/>
        </p:nvSpPr>
        <p:spPr>
          <a:xfrm xmlns:a="http://schemas.openxmlformats.org/drawingml/2006/main">
            <a:off x="6210300" y="4229100"/>
            <a:ext cx="4667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00" b="1">
                <a:solidFill>
                  <a:srgbClr val="182D4B"/>
                </a:solidFill>
                <a:latin typeface="Arial"/>
                <a:ea typeface="Arial"/>
                <a:cs typeface="Arial"/>
              </a:defRPr>
            </a:pPr>
            <a:r>
              <a:rPr sz="1800" b="1">
                <a:solidFill>
                  <a:srgbClr val="182D4B"/>
                </a:solidFill>
                <a:latin typeface="Arial"/>
                <a:ea typeface="Arial"/>
                <a:cs typeface="Arial"/>
              </a:rPr>
              <a:t>Các phần bổ sung</a:t>
            </a:r>
          </a:p>
        </p:txBody>
      </p:sp>
      <p:sp>
        <p:nvSpPr>
          <p:cNvPr id="30" name="Rectangle 29">
            <a:extLst xmlns:a="http://schemas.openxmlformats.org/drawingml/2006/main">
              <a:ext uri="{FF2B5EF4-FFF2-40B4-BE49-F238E27FC236}">
                <a16:creationId xmlns:a16="http://schemas.microsoft.com/office/drawing/2014/main" id="{6BDD015F-7D8F-4203-84C5-97AF4E69D418}"/>
              </a:ext>
            </a:extLst>
          </p:cNvPr>
          <p:cNvSpPr>
            <a:spLocks xmlns:a="http://schemas.openxmlformats.org/drawingml/2006/main" noGrp="1"/>
          </p:cNvSpPr>
          <p:nvPr/>
        </p:nvSpPr>
        <p:spPr>
          <a:xfrm xmlns:a="http://schemas.openxmlformats.org/drawingml/2006/main">
            <a:off x="6210300" y="4629150"/>
            <a:ext cx="4667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Gợi ý bằng item-item cosine, xu hướng lượng bán theo tuần và chuỗi mua giữa các hóa đơn.</a:t>
            </a:r>
          </a:p>
        </p:txBody>
      </p:sp>
      <p:sp>
        <p:nvSpPr>
          <p:cNvPr id="31" name="Rectangle 30">
            <a:extLst xmlns:a="http://schemas.openxmlformats.org/drawingml/2006/main">
              <a:ext uri="{FF2B5EF4-FFF2-40B4-BE49-F238E27FC236}">
                <a16:creationId xmlns:a16="http://schemas.microsoft.com/office/drawing/2014/main" id="{3A1FD0DD-FF30-4F9D-8BAD-B796A0E17387}"/>
              </a:ext>
            </a:extLst>
          </p:cNvPr>
          <p:cNvSpPr>
            <a:spLocks xmlns:a="http://schemas.openxmlformats.org/drawingml/2006/main" noGrp="1"/>
          </p:cNvSpPr>
          <p:nvPr/>
        </p:nvSpPr>
        <p:spPr>
          <a:xfrm xmlns:a="http://schemas.openxmlformats.org/drawingml/2006/main">
            <a:off x="6000750" y="5772150"/>
            <a:ext cx="516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5E6B7A"/>
                </a:solidFill>
                <a:latin typeface="Arial"/>
                <a:ea typeface="Arial"/>
                <a:cs typeface="Arial"/>
              </a:defRPr>
            </a:pPr>
            <a:r>
              <a:rPr sz="1200" b="1">
                <a:solidFill>
                  <a:srgbClr val="5E6B7A"/>
                </a:solidFill>
                <a:latin typeface="Arial"/>
                <a:ea typeface="Arial"/>
                <a:cs typeface="Arial"/>
              </a:rPr>
              <a:t>Thời gian dữ liệu: 01/12/2010 – 09/12/2011</a:t>
            </a:r>
          </a:p>
        </p:txBody>
      </p:sp>
      <p:sp>
        <p:nvSpPr>
          <p:cNvPr id="32" name="Rectangle 31">
            <a:extLst xmlns:a="http://schemas.openxmlformats.org/drawingml/2006/main">
              <a:ext uri="{FF2B5EF4-FFF2-40B4-BE49-F238E27FC236}">
                <a16:creationId xmlns:a16="http://schemas.microsoft.com/office/drawing/2014/main" id="{384AB03C-9DA6-410C-949D-B49A6DDECB7A}"/>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79961202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C553016E-7862-41BB-80A6-859A1D483735}"/>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DEB1022-E26C-446A-B763-B36BAB443C25}"/>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2. Kiểm tra chất lượng dữ liệu</a:t>
            </a:r>
          </a:p>
        </p:txBody>
      </p:sp>
      <p:sp>
        <p:nvSpPr>
          <p:cNvPr id="3" name="Rectangle 2">
            <a:extLst xmlns:a="http://schemas.openxmlformats.org/drawingml/2006/main">
              <a:ext uri="{FF2B5EF4-FFF2-40B4-BE49-F238E27FC236}">
                <a16:creationId xmlns:a16="http://schemas.microsoft.com/office/drawing/2014/main" id="{1E95366E-C701-4875-B9E0-70E5357A9985}"/>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03</a:t>
            </a:r>
          </a:p>
        </p:txBody>
      </p:sp>
      <p:graphicFrame>
        <p:nvGraphicFramePr>
          <p:cNvPr id="18" name="Chart"/>
          <p:cNvGraphicFramePr/>
          <p:nvPr/>
        </p:nvGraphicFramePr>
        <p:xfrm>
          <a:off xmlns:a="http://schemas.openxmlformats.org/drawingml/2006/main" x="476250" y="1104900"/>
          <a:ext xmlns:a="http://schemas.openxmlformats.org/drawingml/2006/main" cx="6762750" cy="4248150"/>
        </p:xfrm>
        <a:graphic xmlns:a="http://schemas.openxmlformats.org/drawingml/2006/main">
          <a:graphicData uri="http://schemas.openxmlformats.org/drawingml/2006/chart">
            <c:chart xmlns:r="http://schemas.openxmlformats.org/officeDocument/2006/relationships" xmlns:c="http://schemas.openxmlformats.org/drawingml/2006/chart" r:id="R2bd0a531ffd148b3"/>
          </a:graphicData>
        </a:graphic>
      </p:graphicFrame>
      <p:sp>
        <p:nvSpPr>
          <p:cNvPr id="5" name="Rectangle 4">
            <a:extLst xmlns:a="http://schemas.openxmlformats.org/drawingml/2006/main">
              <a:ext uri="{FF2B5EF4-FFF2-40B4-BE49-F238E27FC236}">
                <a16:creationId xmlns:a16="http://schemas.microsoft.com/office/drawing/2014/main" id="{F971D9F5-FAE5-4BA3-89E0-C3660B8F5911}"/>
              </a:ext>
            </a:extLst>
          </p:cNvPr>
          <p:cNvSpPr>
            <a:spLocks xmlns:a="http://schemas.openxmlformats.org/drawingml/2006/main" noGrp="1"/>
          </p:cNvSpPr>
          <p:nvPr/>
        </p:nvSpPr>
        <p:spPr>
          <a:xfrm xmlns:a="http://schemas.openxmlformats.org/drawingml/2006/main">
            <a:off x="7639050" y="1104900"/>
            <a:ext cx="3905250" cy="3238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6" name="Rectangle 5">
            <a:extLst xmlns:a="http://schemas.openxmlformats.org/drawingml/2006/main">
              <a:ext uri="{FF2B5EF4-FFF2-40B4-BE49-F238E27FC236}">
                <a16:creationId xmlns:a16="http://schemas.microsoft.com/office/drawing/2014/main" id="{910667A1-8AC2-4E0C-800D-94F409DFF5C4}"/>
              </a:ext>
            </a:extLst>
          </p:cNvPr>
          <p:cNvSpPr>
            <a:spLocks xmlns:a="http://schemas.openxmlformats.org/drawingml/2006/main" noGrp="1"/>
          </p:cNvSpPr>
          <p:nvPr/>
        </p:nvSpPr>
        <p:spPr>
          <a:xfrm xmlns:a="http://schemas.openxmlformats.org/drawingml/2006/main">
            <a:off x="7734300" y="1123950"/>
            <a:ext cx="3714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PHÁT HIỆN QUAN TRỌNG</a:t>
            </a:r>
          </a:p>
        </p:txBody>
      </p:sp>
      <p:sp>
        <p:nvSpPr>
          <p:cNvPr id="7" name="Rectangle 6">
            <a:extLst xmlns:a="http://schemas.openxmlformats.org/drawingml/2006/main">
              <a:ext uri="{FF2B5EF4-FFF2-40B4-BE49-F238E27FC236}">
                <a16:creationId xmlns:a16="http://schemas.microsoft.com/office/drawing/2014/main" id="{4E25A21A-E4D5-41D7-902D-553E790D9E73}"/>
              </a:ext>
            </a:extLst>
          </p:cNvPr>
          <p:cNvSpPr>
            <a:spLocks xmlns:a="http://schemas.openxmlformats.org/drawingml/2006/main" noGrp="1"/>
          </p:cNvSpPr>
          <p:nvPr/>
        </p:nvSpPr>
        <p:spPr>
          <a:xfrm xmlns:a="http://schemas.openxmlformats.org/drawingml/2006/main">
            <a:off x="7848600" y="1619250"/>
            <a:ext cx="1428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700" b="1">
                <a:solidFill>
                  <a:srgbClr val="F59E42"/>
                </a:solidFill>
                <a:latin typeface="Arial"/>
                <a:ea typeface="Arial"/>
                <a:cs typeface="Arial"/>
              </a:defRPr>
            </a:pPr>
            <a:r>
              <a:rPr sz="2700" b="1">
                <a:solidFill>
                  <a:srgbClr val="F59E42"/>
                </a:solidFill>
                <a:latin typeface="Arial"/>
                <a:ea typeface="Arial"/>
                <a:cs typeface="Arial"/>
              </a:rPr>
              <a:t>24,9%</a:t>
            </a:r>
          </a:p>
        </p:txBody>
      </p:sp>
      <p:sp>
        <p:nvSpPr>
          <p:cNvPr id="8" name="Rectangle 7">
            <a:extLst xmlns:a="http://schemas.openxmlformats.org/drawingml/2006/main">
              <a:ext uri="{FF2B5EF4-FFF2-40B4-BE49-F238E27FC236}">
                <a16:creationId xmlns:a16="http://schemas.microsoft.com/office/drawing/2014/main" id="{32A42ABE-B543-4C87-A390-4B52E83D2EAF}"/>
              </a:ext>
            </a:extLst>
          </p:cNvPr>
          <p:cNvSpPr>
            <a:spLocks xmlns:a="http://schemas.openxmlformats.org/drawingml/2006/main" noGrp="1"/>
          </p:cNvSpPr>
          <p:nvPr/>
        </p:nvSpPr>
        <p:spPr>
          <a:xfrm xmlns:a="http://schemas.openxmlformats.org/drawingml/2006/main">
            <a:off x="9201150" y="1676400"/>
            <a:ext cx="2095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dòng thiếu CustomerID</a:t>
            </a:r>
          </a:p>
        </p:txBody>
      </p:sp>
      <p:sp>
        <p:nvSpPr>
          <p:cNvPr id="9" name="Rectangle 8">
            <a:extLst xmlns:a="http://schemas.openxmlformats.org/drawingml/2006/main">
              <a:ext uri="{FF2B5EF4-FFF2-40B4-BE49-F238E27FC236}">
                <a16:creationId xmlns:a16="http://schemas.microsoft.com/office/drawing/2014/main" id="{CD4F5921-8F36-48C6-8B40-C631E9954FF1}"/>
              </a:ext>
            </a:extLst>
          </p:cNvPr>
          <p:cNvSpPr>
            <a:spLocks xmlns:a="http://schemas.openxmlformats.org/drawingml/2006/main" noGrp="1"/>
          </p:cNvSpPr>
          <p:nvPr/>
        </p:nvSpPr>
        <p:spPr>
          <a:xfrm xmlns:a="http://schemas.openxmlformats.org/drawingml/2006/main">
            <a:off x="7848600" y="2247900"/>
            <a:ext cx="339090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File thực tế có 135.080 CustomerID và 1.454 Description bị thiếu. Giữ giao dịch thiếu ID cho doanh thu, loại khỏi phân tích theo khách hàng.</a:t>
            </a:r>
          </a:p>
        </p:txBody>
      </p:sp>
      <p:sp>
        <p:nvSpPr>
          <p:cNvPr id="10" name="Rectangle 9">
            <a:extLst xmlns:a="http://schemas.openxmlformats.org/drawingml/2006/main">
              <a:ext uri="{FF2B5EF4-FFF2-40B4-BE49-F238E27FC236}">
                <a16:creationId xmlns:a16="http://schemas.microsoft.com/office/drawing/2014/main" id="{DD7C10FD-E872-4660-BB9B-C1DB287BDA19}"/>
              </a:ext>
            </a:extLst>
          </p:cNvPr>
          <p:cNvSpPr>
            <a:spLocks xmlns:a="http://schemas.openxmlformats.org/drawingml/2006/main" noGrp="1"/>
          </p:cNvSpPr>
          <p:nvPr/>
        </p:nvSpPr>
        <p:spPr>
          <a:xfrm xmlns:a="http://schemas.openxmlformats.org/drawingml/2006/main">
            <a:off x="7848600" y="3619500"/>
            <a:ext cx="33909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InvoiceNo bắt đầu bằng C là giao dịch hủy. Quantity âm phản ánh hoàn trả, không nên coi là doanh số bán mới.</a:t>
            </a:r>
          </a:p>
        </p:txBody>
      </p:sp>
      <p:sp>
        <p:nvSpPr>
          <p:cNvPr id="11" name="Rectangle 10">
            <a:extLst xmlns:a="http://schemas.openxmlformats.org/drawingml/2006/main">
              <a:ext uri="{FF2B5EF4-FFF2-40B4-BE49-F238E27FC236}">
                <a16:creationId xmlns:a16="http://schemas.microsoft.com/office/drawing/2014/main" id="{2203FF3D-9223-4D15-A224-18A4BCE4600F}"/>
              </a:ext>
            </a:extLst>
          </p:cNvPr>
          <p:cNvSpPr>
            <a:spLocks xmlns:a="http://schemas.openxmlformats.org/drawingml/2006/main" noGrp="1"/>
          </p:cNvSpPr>
          <p:nvPr/>
        </p:nvSpPr>
        <p:spPr>
          <a:xfrm xmlns:a="http://schemas.openxmlformats.org/drawingml/2006/main">
            <a:off x="7848600" y="4724400"/>
            <a:ext cx="33909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182D4B"/>
                </a:solidFill>
                <a:latin typeface="Arial"/>
                <a:ea typeface="Arial"/>
                <a:cs typeface="Arial"/>
              </a:defRPr>
            </a:pPr>
            <a:r>
              <a:rPr sz="1350" b="1">
                <a:solidFill>
                  <a:srgbClr val="182D4B"/>
                </a:solidFill>
                <a:latin typeface="Arial"/>
                <a:ea typeface="Arial"/>
                <a:cs typeface="Arial"/>
              </a:rPr>
              <a:t>5.268 dòng trùng hoàn toàn cần loại trước khi tính doanh thu và tần suất mua.</a:t>
            </a:r>
          </a:p>
        </p:txBody>
      </p:sp>
      <p:sp>
        <p:nvSpPr>
          <p:cNvPr id="12" name="Rectangle 11">
            <a:extLst xmlns:a="http://schemas.openxmlformats.org/drawingml/2006/main">
              <a:ext uri="{FF2B5EF4-FFF2-40B4-BE49-F238E27FC236}">
                <a16:creationId xmlns:a16="http://schemas.microsoft.com/office/drawing/2014/main" id="{B2A175C0-470E-4526-8AD8-C5BD6B613760}"/>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8088152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Rectangle 33">
            <a:extLst xmlns:a="http://schemas.openxmlformats.org/drawingml/2006/main">
              <a:ext uri="{FF2B5EF4-FFF2-40B4-BE49-F238E27FC236}">
                <a16:creationId xmlns:a16="http://schemas.microsoft.com/office/drawing/2014/main" id="{3580FBFE-4B75-413B-BDDD-31FDE55E5830}"/>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71A351C9-8A06-4258-8594-B3C6DA73E9CB}"/>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3. Quy trình tiền xử lý và tạo đặc trưng</a:t>
            </a:r>
          </a:p>
        </p:txBody>
      </p:sp>
      <p:sp>
        <p:nvSpPr>
          <p:cNvPr id="3" name="Rectangle 2">
            <a:extLst xmlns:a="http://schemas.openxmlformats.org/drawingml/2006/main">
              <a:ext uri="{FF2B5EF4-FFF2-40B4-BE49-F238E27FC236}">
                <a16:creationId xmlns:a16="http://schemas.microsoft.com/office/drawing/2014/main" id="{C5DF7662-656C-40EE-A845-B04D6602E63E}"/>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04</a:t>
            </a:r>
          </a:p>
        </p:txBody>
      </p:sp>
      <p:sp>
        <p:nvSpPr>
          <p:cNvPr id="4" name="Rectangle: Rounded Corners 3">
            <a:extLst xmlns:a="http://schemas.openxmlformats.org/drawingml/2006/main">
              <a:ext uri="{FF2B5EF4-FFF2-40B4-BE49-F238E27FC236}">
                <a16:creationId xmlns:a16="http://schemas.microsoft.com/office/drawing/2014/main" id="{EA4E928E-6483-4C0B-B968-E7A000CC8B17}"/>
              </a:ext>
            </a:extLst>
          </p:cNvPr>
          <p:cNvSpPr>
            <a:spLocks xmlns:a="http://schemas.openxmlformats.org/drawingml/2006/main" noGrp="1"/>
          </p:cNvSpPr>
          <p:nvPr/>
        </p:nvSpPr>
        <p:spPr>
          <a:xfrm xmlns:a="http://schemas.openxmlformats.org/drawingml/2006/main">
            <a:off x="4381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F59E42"/>
            </a:solidFill>
          </a:ln>
        </p:spPr>
      </p:sp>
      <p:sp>
        <p:nvSpPr>
          <p:cNvPr id="5" name="Oval 4">
            <a:extLst xmlns:a="http://schemas.openxmlformats.org/drawingml/2006/main">
              <a:ext uri="{FF2B5EF4-FFF2-40B4-BE49-F238E27FC236}">
                <a16:creationId xmlns:a16="http://schemas.microsoft.com/office/drawing/2014/main" id="{2A5478A8-76A3-47AF-B393-CB0CA4DF3695}"/>
              </a:ext>
            </a:extLst>
          </p:cNvPr>
          <p:cNvSpPr>
            <a:spLocks xmlns:a="http://schemas.openxmlformats.org/drawingml/2006/main" noGrp="1"/>
          </p:cNvSpPr>
          <p:nvPr/>
        </p:nvSpPr>
        <p:spPr>
          <a:xfrm xmlns:a="http://schemas.openxmlformats.org/drawingml/2006/main">
            <a:off x="1066800" y="1104900"/>
            <a:ext cx="685800" cy="685800"/>
          </a:xfrm>
          <a:prstGeom xmlns:a="http://schemas.openxmlformats.org/drawingml/2006/main" prst="ellipse">
            <a:avLst/>
          </a:prstGeom>
          <a:solidFill xmlns:a="http://schemas.openxmlformats.org/drawingml/2006/main">
            <a:srgbClr val="F59E42"/>
          </a:solidFill>
          <a:ln xmlns:a="http://schemas.openxmlformats.org/drawingml/2006/main" w="28575">
            <a:solidFill>
              <a:srgbClr val="FFFFFF"/>
            </a:solidFill>
          </a:ln>
        </p:spPr>
      </p:sp>
      <p:sp>
        <p:nvSpPr>
          <p:cNvPr id="6" name="Rectangle 5">
            <a:extLst xmlns:a="http://schemas.openxmlformats.org/drawingml/2006/main">
              <a:ext uri="{FF2B5EF4-FFF2-40B4-BE49-F238E27FC236}">
                <a16:creationId xmlns:a16="http://schemas.microsoft.com/office/drawing/2014/main" id="{B77155D5-8165-443F-B7D6-1C32CAE27FAC}"/>
              </a:ext>
            </a:extLst>
          </p:cNvPr>
          <p:cNvSpPr>
            <a:spLocks xmlns:a="http://schemas.openxmlformats.org/drawingml/2006/main" noGrp="1"/>
          </p:cNvSpPr>
          <p:nvPr/>
        </p:nvSpPr>
        <p:spPr>
          <a:xfrm xmlns:a="http://schemas.openxmlformats.org/drawingml/2006/main">
            <a:off x="10668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1</a:t>
            </a:r>
          </a:p>
        </p:txBody>
      </p:sp>
      <p:sp>
        <p:nvSpPr>
          <p:cNvPr id="7" name="Rectangle 6">
            <a:extLst xmlns:a="http://schemas.openxmlformats.org/drawingml/2006/main">
              <a:ext uri="{FF2B5EF4-FFF2-40B4-BE49-F238E27FC236}">
                <a16:creationId xmlns:a16="http://schemas.microsoft.com/office/drawing/2014/main" id="{D09D8F51-A54E-49C9-B0C6-FCA0D93AC383}"/>
              </a:ext>
            </a:extLst>
          </p:cNvPr>
          <p:cNvSpPr>
            <a:spLocks xmlns:a="http://schemas.openxmlformats.org/drawingml/2006/main" noGrp="1"/>
          </p:cNvSpPr>
          <p:nvPr/>
        </p:nvSpPr>
        <p:spPr>
          <a:xfrm xmlns:a="http://schemas.openxmlformats.org/drawingml/2006/main">
            <a:off x="5715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Loại trùng</a:t>
            </a:r>
          </a:p>
        </p:txBody>
      </p:sp>
      <p:sp>
        <p:nvSpPr>
          <p:cNvPr id="8" name="Rectangle 7">
            <a:extLst xmlns:a="http://schemas.openxmlformats.org/drawingml/2006/main">
              <a:ext uri="{FF2B5EF4-FFF2-40B4-BE49-F238E27FC236}">
                <a16:creationId xmlns:a16="http://schemas.microsoft.com/office/drawing/2014/main" id="{B0F3D356-6DF7-4A72-BFB1-BF05A4770493}"/>
              </a:ext>
            </a:extLst>
          </p:cNvPr>
          <p:cNvSpPr>
            <a:spLocks xmlns:a="http://schemas.openxmlformats.org/drawingml/2006/main" noGrp="1"/>
          </p:cNvSpPr>
          <p:nvPr/>
        </p:nvSpPr>
        <p:spPr>
          <a:xfrm xmlns:a="http://schemas.openxmlformats.org/drawingml/2006/main">
            <a:off x="6096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Xóa 5.268 dòng trùng hoàn toàn</a:t>
            </a:r>
          </a:p>
        </p:txBody>
      </p:sp>
      <p:sp>
        <p:nvSpPr>
          <p:cNvPr id="9" name="Rectangle: Rounded Corners 8">
            <a:extLst xmlns:a="http://schemas.openxmlformats.org/drawingml/2006/main">
              <a:ext uri="{FF2B5EF4-FFF2-40B4-BE49-F238E27FC236}">
                <a16:creationId xmlns:a16="http://schemas.microsoft.com/office/drawing/2014/main" id="{1293B7DF-3D4E-4D3A-AF25-846657425AC0}"/>
              </a:ext>
            </a:extLst>
          </p:cNvPr>
          <p:cNvSpPr>
            <a:spLocks xmlns:a="http://schemas.openxmlformats.org/drawingml/2006/main" noGrp="1"/>
          </p:cNvSpPr>
          <p:nvPr/>
        </p:nvSpPr>
        <p:spPr>
          <a:xfrm xmlns:a="http://schemas.openxmlformats.org/drawingml/2006/main">
            <a:off x="274320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696C5"/>
            </a:solidFill>
          </a:ln>
        </p:spPr>
      </p:sp>
      <p:sp>
        <p:nvSpPr>
          <p:cNvPr id="10" name="Oval 9">
            <a:extLst xmlns:a="http://schemas.openxmlformats.org/drawingml/2006/main">
              <a:ext uri="{FF2B5EF4-FFF2-40B4-BE49-F238E27FC236}">
                <a16:creationId xmlns:a16="http://schemas.microsoft.com/office/drawing/2014/main" id="{691231FB-4D79-450C-909E-A5FD321C5C74}"/>
              </a:ext>
            </a:extLst>
          </p:cNvPr>
          <p:cNvSpPr>
            <a:spLocks xmlns:a="http://schemas.openxmlformats.org/drawingml/2006/main" noGrp="1"/>
          </p:cNvSpPr>
          <p:nvPr/>
        </p:nvSpPr>
        <p:spPr>
          <a:xfrm xmlns:a="http://schemas.openxmlformats.org/drawingml/2006/main">
            <a:off x="3371850" y="1104900"/>
            <a:ext cx="685800" cy="685800"/>
          </a:xfrm>
          <a:prstGeom xmlns:a="http://schemas.openxmlformats.org/drawingml/2006/main" prst="ellipse">
            <a:avLst/>
          </a:prstGeom>
          <a:solidFill xmlns:a="http://schemas.openxmlformats.org/drawingml/2006/main">
            <a:srgbClr val="2696C5"/>
          </a:solidFill>
          <a:ln xmlns:a="http://schemas.openxmlformats.org/drawingml/2006/main" w="28575">
            <a:solidFill>
              <a:srgbClr val="FFFFFF"/>
            </a:solidFill>
          </a:ln>
        </p:spPr>
      </p:sp>
      <p:sp>
        <p:nvSpPr>
          <p:cNvPr id="11" name="Rectangle 10">
            <a:extLst xmlns:a="http://schemas.openxmlformats.org/drawingml/2006/main">
              <a:ext uri="{FF2B5EF4-FFF2-40B4-BE49-F238E27FC236}">
                <a16:creationId xmlns:a16="http://schemas.microsoft.com/office/drawing/2014/main" id="{DBCCD472-B2D3-47EB-9E61-4FD6860F2AFD}"/>
              </a:ext>
            </a:extLst>
          </p:cNvPr>
          <p:cNvSpPr>
            <a:spLocks xmlns:a="http://schemas.openxmlformats.org/drawingml/2006/main" noGrp="1"/>
          </p:cNvSpPr>
          <p:nvPr/>
        </p:nvSpPr>
        <p:spPr>
          <a:xfrm xmlns:a="http://schemas.openxmlformats.org/drawingml/2006/main">
            <a:off x="337185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2</a:t>
            </a:r>
          </a:p>
        </p:txBody>
      </p:sp>
      <p:sp>
        <p:nvSpPr>
          <p:cNvPr id="12" name="Rectangle 11">
            <a:extLst xmlns:a="http://schemas.openxmlformats.org/drawingml/2006/main">
              <a:ext uri="{FF2B5EF4-FFF2-40B4-BE49-F238E27FC236}">
                <a16:creationId xmlns:a16="http://schemas.microsoft.com/office/drawing/2014/main" id="{2773EB91-D853-4BCD-9DFF-635FC17BA60C}"/>
              </a:ext>
            </a:extLst>
          </p:cNvPr>
          <p:cNvSpPr>
            <a:spLocks xmlns:a="http://schemas.openxmlformats.org/drawingml/2006/main" noGrp="1"/>
          </p:cNvSpPr>
          <p:nvPr/>
        </p:nvSpPr>
        <p:spPr>
          <a:xfrm xmlns:a="http://schemas.openxmlformats.org/drawingml/2006/main">
            <a:off x="287655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Tách giao dịch</a:t>
            </a:r>
          </a:p>
        </p:txBody>
      </p:sp>
      <p:sp>
        <p:nvSpPr>
          <p:cNvPr id="13" name="Rectangle 12">
            <a:extLst xmlns:a="http://schemas.openxmlformats.org/drawingml/2006/main">
              <a:ext uri="{FF2B5EF4-FFF2-40B4-BE49-F238E27FC236}">
                <a16:creationId xmlns:a16="http://schemas.microsoft.com/office/drawing/2014/main" id="{81960DC3-19C6-4BFC-A8A5-DDDF7065171F}"/>
              </a:ext>
            </a:extLst>
          </p:cNvPr>
          <p:cNvSpPr>
            <a:spLocks xmlns:a="http://schemas.openxmlformats.org/drawingml/2006/main" noGrp="1"/>
          </p:cNvSpPr>
          <p:nvPr/>
        </p:nvSpPr>
        <p:spPr>
          <a:xfrm xmlns:a="http://schemas.openxmlformats.org/drawingml/2006/main">
            <a:off x="291465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Loại hóa đơn hủy và Quantity âm khỏi tập bán hợp lệ</a:t>
            </a:r>
          </a:p>
        </p:txBody>
      </p:sp>
      <p:sp>
        <p:nvSpPr>
          <p:cNvPr id="14" name="Rectangle: Rounded Corners 13">
            <a:extLst xmlns:a="http://schemas.openxmlformats.org/drawingml/2006/main">
              <a:ext uri="{FF2B5EF4-FFF2-40B4-BE49-F238E27FC236}">
                <a16:creationId xmlns:a16="http://schemas.microsoft.com/office/drawing/2014/main" id="{A11A5C59-E282-4191-AC3D-E3FF38BCFC42}"/>
              </a:ext>
            </a:extLst>
          </p:cNvPr>
          <p:cNvSpPr>
            <a:spLocks xmlns:a="http://schemas.openxmlformats.org/drawingml/2006/main" noGrp="1"/>
          </p:cNvSpPr>
          <p:nvPr/>
        </p:nvSpPr>
        <p:spPr>
          <a:xfrm xmlns:a="http://schemas.openxmlformats.org/drawingml/2006/main">
            <a:off x="50482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6A69A"/>
            </a:solidFill>
          </a:ln>
        </p:spPr>
      </p:sp>
      <p:sp>
        <p:nvSpPr>
          <p:cNvPr id="15" name="Oval 14">
            <a:extLst xmlns:a="http://schemas.openxmlformats.org/drawingml/2006/main">
              <a:ext uri="{FF2B5EF4-FFF2-40B4-BE49-F238E27FC236}">
                <a16:creationId xmlns:a16="http://schemas.microsoft.com/office/drawing/2014/main" id="{C72E849D-BB1A-4806-B3DA-2A7F8A53A611}"/>
              </a:ext>
            </a:extLst>
          </p:cNvPr>
          <p:cNvSpPr>
            <a:spLocks xmlns:a="http://schemas.openxmlformats.org/drawingml/2006/main" noGrp="1"/>
          </p:cNvSpPr>
          <p:nvPr/>
        </p:nvSpPr>
        <p:spPr>
          <a:xfrm xmlns:a="http://schemas.openxmlformats.org/drawingml/2006/main">
            <a:off x="5676900" y="1104900"/>
            <a:ext cx="685800" cy="685800"/>
          </a:xfrm>
          <a:prstGeom xmlns:a="http://schemas.openxmlformats.org/drawingml/2006/main" prst="ellipse">
            <a:avLst/>
          </a:prstGeom>
          <a:solidFill xmlns:a="http://schemas.openxmlformats.org/drawingml/2006/main">
            <a:srgbClr val="26A69A"/>
          </a:solidFill>
          <a:ln xmlns:a="http://schemas.openxmlformats.org/drawingml/2006/main" w="28575">
            <a:solidFill>
              <a:srgbClr val="FFFFFF"/>
            </a:solidFill>
          </a:ln>
        </p:spPr>
      </p:sp>
      <p:sp>
        <p:nvSpPr>
          <p:cNvPr id="16" name="Rectangle 15">
            <a:extLst xmlns:a="http://schemas.openxmlformats.org/drawingml/2006/main">
              <a:ext uri="{FF2B5EF4-FFF2-40B4-BE49-F238E27FC236}">
                <a16:creationId xmlns:a16="http://schemas.microsoft.com/office/drawing/2014/main" id="{041A6247-7B3C-427E-925C-C699EDE5C7C9}"/>
              </a:ext>
            </a:extLst>
          </p:cNvPr>
          <p:cNvSpPr>
            <a:spLocks xmlns:a="http://schemas.openxmlformats.org/drawingml/2006/main" noGrp="1"/>
          </p:cNvSpPr>
          <p:nvPr/>
        </p:nvSpPr>
        <p:spPr>
          <a:xfrm xmlns:a="http://schemas.openxmlformats.org/drawingml/2006/main">
            <a:off x="56769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3</a:t>
            </a:r>
          </a:p>
        </p:txBody>
      </p:sp>
      <p:sp>
        <p:nvSpPr>
          <p:cNvPr id="17" name="Rectangle 16">
            <a:extLst xmlns:a="http://schemas.openxmlformats.org/drawingml/2006/main">
              <a:ext uri="{FF2B5EF4-FFF2-40B4-BE49-F238E27FC236}">
                <a16:creationId xmlns:a16="http://schemas.microsoft.com/office/drawing/2014/main" id="{21BA2BBB-6120-4A31-BA9A-877A0CB32E62}"/>
              </a:ext>
            </a:extLst>
          </p:cNvPr>
          <p:cNvSpPr>
            <a:spLocks xmlns:a="http://schemas.openxmlformats.org/drawingml/2006/main" noGrp="1"/>
          </p:cNvSpPr>
          <p:nvPr/>
        </p:nvSpPr>
        <p:spPr>
          <a:xfrm xmlns:a="http://schemas.openxmlformats.org/drawingml/2006/main">
            <a:off x="51816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Lọc bán hàng</a:t>
            </a:r>
          </a:p>
        </p:txBody>
      </p:sp>
      <p:sp>
        <p:nvSpPr>
          <p:cNvPr id="18" name="Rectangle 17">
            <a:extLst xmlns:a="http://schemas.openxmlformats.org/drawingml/2006/main">
              <a:ext uri="{FF2B5EF4-FFF2-40B4-BE49-F238E27FC236}">
                <a16:creationId xmlns:a16="http://schemas.microsoft.com/office/drawing/2014/main" id="{3A6F8991-D7B2-439B-BBC6-FFE4BEAB7934}"/>
              </a:ext>
            </a:extLst>
          </p:cNvPr>
          <p:cNvSpPr>
            <a:spLocks xmlns:a="http://schemas.openxmlformats.org/drawingml/2006/main" noGrp="1"/>
          </p:cNvSpPr>
          <p:nvPr/>
        </p:nvSpPr>
        <p:spPr>
          <a:xfrm xmlns:a="http://schemas.openxmlformats.org/drawingml/2006/main">
            <a:off x="52197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Quantity &gt; 0, UnitPrice &gt; 0, có mô tả sản phẩm</a:t>
            </a:r>
          </a:p>
        </p:txBody>
      </p:sp>
      <p:sp>
        <p:nvSpPr>
          <p:cNvPr id="19" name="Rectangle: Rounded Corners 18">
            <a:extLst xmlns:a="http://schemas.openxmlformats.org/drawingml/2006/main">
              <a:ext uri="{FF2B5EF4-FFF2-40B4-BE49-F238E27FC236}">
                <a16:creationId xmlns:a16="http://schemas.microsoft.com/office/drawing/2014/main" id="{5FABE48F-5631-49F3-B6D6-BB9ADE7DAE51}"/>
              </a:ext>
            </a:extLst>
          </p:cNvPr>
          <p:cNvSpPr>
            <a:spLocks xmlns:a="http://schemas.openxmlformats.org/drawingml/2006/main" noGrp="1"/>
          </p:cNvSpPr>
          <p:nvPr/>
        </p:nvSpPr>
        <p:spPr>
          <a:xfrm xmlns:a="http://schemas.openxmlformats.org/drawingml/2006/main">
            <a:off x="735330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8A745"/>
            </a:solidFill>
          </a:ln>
        </p:spPr>
      </p:sp>
      <p:sp>
        <p:nvSpPr>
          <p:cNvPr id="20" name="Oval 19">
            <a:extLst xmlns:a="http://schemas.openxmlformats.org/drawingml/2006/main">
              <a:ext uri="{FF2B5EF4-FFF2-40B4-BE49-F238E27FC236}">
                <a16:creationId xmlns:a16="http://schemas.microsoft.com/office/drawing/2014/main" id="{D59E64CE-7EE9-4357-B6B3-D005EAACB05D}"/>
              </a:ext>
            </a:extLst>
          </p:cNvPr>
          <p:cNvSpPr>
            <a:spLocks xmlns:a="http://schemas.openxmlformats.org/drawingml/2006/main" noGrp="1"/>
          </p:cNvSpPr>
          <p:nvPr/>
        </p:nvSpPr>
        <p:spPr>
          <a:xfrm xmlns:a="http://schemas.openxmlformats.org/drawingml/2006/main">
            <a:off x="7981950" y="1104900"/>
            <a:ext cx="685800" cy="685800"/>
          </a:xfrm>
          <a:prstGeom xmlns:a="http://schemas.openxmlformats.org/drawingml/2006/main" prst="ellipse">
            <a:avLst/>
          </a:prstGeom>
          <a:solidFill xmlns:a="http://schemas.openxmlformats.org/drawingml/2006/main">
            <a:srgbClr val="28A745"/>
          </a:solidFill>
          <a:ln xmlns:a="http://schemas.openxmlformats.org/drawingml/2006/main" w="28575">
            <a:solidFill>
              <a:srgbClr val="FFFFFF"/>
            </a:solidFill>
          </a:ln>
        </p:spPr>
      </p:sp>
      <p:sp>
        <p:nvSpPr>
          <p:cNvPr id="21" name="Rectangle 20">
            <a:extLst xmlns:a="http://schemas.openxmlformats.org/drawingml/2006/main">
              <a:ext uri="{FF2B5EF4-FFF2-40B4-BE49-F238E27FC236}">
                <a16:creationId xmlns:a16="http://schemas.microsoft.com/office/drawing/2014/main" id="{21B73F60-9067-45AC-99BF-BCC8C16AFFF5}"/>
              </a:ext>
            </a:extLst>
          </p:cNvPr>
          <p:cNvSpPr>
            <a:spLocks xmlns:a="http://schemas.openxmlformats.org/drawingml/2006/main" noGrp="1"/>
          </p:cNvSpPr>
          <p:nvPr/>
        </p:nvSpPr>
        <p:spPr>
          <a:xfrm xmlns:a="http://schemas.openxmlformats.org/drawingml/2006/main">
            <a:off x="798195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4</a:t>
            </a:r>
          </a:p>
        </p:txBody>
      </p:sp>
      <p:sp>
        <p:nvSpPr>
          <p:cNvPr id="22" name="Rectangle 21">
            <a:extLst xmlns:a="http://schemas.openxmlformats.org/drawingml/2006/main">
              <a:ext uri="{FF2B5EF4-FFF2-40B4-BE49-F238E27FC236}">
                <a16:creationId xmlns:a16="http://schemas.microsoft.com/office/drawing/2014/main" id="{B67A5F1A-6FD8-4FC9-BF7D-DEC12B689C20}"/>
              </a:ext>
            </a:extLst>
          </p:cNvPr>
          <p:cNvSpPr>
            <a:spLocks xmlns:a="http://schemas.openxmlformats.org/drawingml/2006/main" noGrp="1"/>
          </p:cNvSpPr>
          <p:nvPr/>
        </p:nvSpPr>
        <p:spPr>
          <a:xfrm xmlns:a="http://schemas.openxmlformats.org/drawingml/2006/main">
            <a:off x="748665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Tạo đặc trưng</a:t>
            </a:r>
          </a:p>
        </p:txBody>
      </p:sp>
      <p:sp>
        <p:nvSpPr>
          <p:cNvPr id="23" name="Rectangle 22">
            <a:extLst xmlns:a="http://schemas.openxmlformats.org/drawingml/2006/main">
              <a:ext uri="{FF2B5EF4-FFF2-40B4-BE49-F238E27FC236}">
                <a16:creationId xmlns:a16="http://schemas.microsoft.com/office/drawing/2014/main" id="{094E5CC8-8D3E-4F22-999C-5D262C6535DA}"/>
              </a:ext>
            </a:extLst>
          </p:cNvPr>
          <p:cNvSpPr>
            <a:spLocks xmlns:a="http://schemas.openxmlformats.org/drawingml/2006/main" noGrp="1"/>
          </p:cNvSpPr>
          <p:nvPr/>
        </p:nvSpPr>
        <p:spPr>
          <a:xfrm xmlns:a="http://schemas.openxmlformats.org/drawingml/2006/main">
            <a:off x="752475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Revenue = Quantity × UnitPrice; xây Recency, Frequency, Monetary</a:t>
            </a:r>
          </a:p>
        </p:txBody>
      </p:sp>
      <p:sp>
        <p:nvSpPr>
          <p:cNvPr id="24" name="Rectangle: Rounded Corners 23">
            <a:extLst xmlns:a="http://schemas.openxmlformats.org/drawingml/2006/main">
              <a:ext uri="{FF2B5EF4-FFF2-40B4-BE49-F238E27FC236}">
                <a16:creationId xmlns:a16="http://schemas.microsoft.com/office/drawing/2014/main" id="{B93D5FD4-CC0C-47B7-9A5B-EE578436D859}"/>
              </a:ext>
            </a:extLst>
          </p:cNvPr>
          <p:cNvSpPr>
            <a:spLocks xmlns:a="http://schemas.openxmlformats.org/drawingml/2006/main" noGrp="1"/>
          </p:cNvSpPr>
          <p:nvPr/>
        </p:nvSpPr>
        <p:spPr>
          <a:xfrm xmlns:a="http://schemas.openxmlformats.org/drawingml/2006/main">
            <a:off x="9658350" y="1428750"/>
            <a:ext cx="1952625" cy="2419350"/>
          </a:xfrm>
          <a:prstGeom xmlns:a="http://schemas.openxmlformats.org/drawingml/2006/main" prst="roundRect">
            <a:avLst>
              <a:gd name="adj" fmla="val 5854"/>
            </a:avLst>
          </a:prstGeom>
          <a:solidFill xmlns:a="http://schemas.openxmlformats.org/drawingml/2006/main">
            <a:srgbClr val="F4F7FA"/>
          </a:solidFill>
          <a:ln xmlns:a="http://schemas.openxmlformats.org/drawingml/2006/main" w="19050">
            <a:solidFill>
              <a:srgbClr val="274568"/>
            </a:solidFill>
          </a:ln>
        </p:spPr>
      </p:sp>
      <p:sp>
        <p:nvSpPr>
          <p:cNvPr id="25" name="Oval 24">
            <a:extLst xmlns:a="http://schemas.openxmlformats.org/drawingml/2006/main">
              <a:ext uri="{FF2B5EF4-FFF2-40B4-BE49-F238E27FC236}">
                <a16:creationId xmlns:a16="http://schemas.microsoft.com/office/drawing/2014/main" id="{6844A22F-536A-45C6-A9D5-B82C291E5597}"/>
              </a:ext>
            </a:extLst>
          </p:cNvPr>
          <p:cNvSpPr>
            <a:spLocks xmlns:a="http://schemas.openxmlformats.org/drawingml/2006/main" noGrp="1"/>
          </p:cNvSpPr>
          <p:nvPr/>
        </p:nvSpPr>
        <p:spPr>
          <a:xfrm xmlns:a="http://schemas.openxmlformats.org/drawingml/2006/main">
            <a:off x="10287000" y="1104900"/>
            <a:ext cx="685800" cy="685800"/>
          </a:xfrm>
          <a:prstGeom xmlns:a="http://schemas.openxmlformats.org/drawingml/2006/main" prst="ellipse">
            <a:avLst/>
          </a:prstGeom>
          <a:solidFill xmlns:a="http://schemas.openxmlformats.org/drawingml/2006/main">
            <a:srgbClr val="274568"/>
          </a:solidFill>
          <a:ln xmlns:a="http://schemas.openxmlformats.org/drawingml/2006/main" w="28575">
            <a:solidFill>
              <a:srgbClr val="FFFFFF"/>
            </a:solidFill>
          </a:ln>
        </p:spPr>
      </p:sp>
      <p:sp>
        <p:nvSpPr>
          <p:cNvPr id="26" name="Rectangle 25">
            <a:extLst xmlns:a="http://schemas.openxmlformats.org/drawingml/2006/main">
              <a:ext uri="{FF2B5EF4-FFF2-40B4-BE49-F238E27FC236}">
                <a16:creationId xmlns:a16="http://schemas.microsoft.com/office/drawing/2014/main" id="{0AAEF81A-0BA4-4ADC-8B9E-5C86D4CC8004}"/>
              </a:ext>
            </a:extLst>
          </p:cNvPr>
          <p:cNvSpPr>
            <a:spLocks xmlns:a="http://schemas.openxmlformats.org/drawingml/2006/main" noGrp="1"/>
          </p:cNvSpPr>
          <p:nvPr/>
        </p:nvSpPr>
        <p:spPr>
          <a:xfrm xmlns:a="http://schemas.openxmlformats.org/drawingml/2006/main">
            <a:off x="10287000" y="1143000"/>
            <a:ext cx="685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2100" b="1">
                <a:solidFill>
                  <a:srgbClr val="FFFFFF"/>
                </a:solidFill>
                <a:latin typeface="Arial"/>
                <a:ea typeface="Arial"/>
                <a:cs typeface="Arial"/>
              </a:defRPr>
            </a:pPr>
            <a:r>
              <a:rPr sz="2100" b="1">
                <a:solidFill>
                  <a:srgbClr val="FFFFFF"/>
                </a:solidFill>
                <a:latin typeface="Arial"/>
                <a:ea typeface="Arial"/>
                <a:cs typeface="Arial"/>
              </a:rPr>
              <a:t>5</a:t>
            </a:r>
          </a:p>
        </p:txBody>
      </p:sp>
      <p:sp>
        <p:nvSpPr>
          <p:cNvPr id="27" name="Rectangle 26">
            <a:extLst xmlns:a="http://schemas.openxmlformats.org/drawingml/2006/main">
              <a:ext uri="{FF2B5EF4-FFF2-40B4-BE49-F238E27FC236}">
                <a16:creationId xmlns:a16="http://schemas.microsoft.com/office/drawing/2014/main" id="{00F6C6D8-97C8-4EC3-8C0D-1583A6E3A68E}"/>
              </a:ext>
            </a:extLst>
          </p:cNvPr>
          <p:cNvSpPr>
            <a:spLocks xmlns:a="http://schemas.openxmlformats.org/drawingml/2006/main" noGrp="1"/>
          </p:cNvSpPr>
          <p:nvPr/>
        </p:nvSpPr>
        <p:spPr>
          <a:xfrm xmlns:a="http://schemas.openxmlformats.org/drawingml/2006/main">
            <a:off x="9791700" y="1962150"/>
            <a:ext cx="16859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ctr">
              <a:buNone/>
              <a:defRPr sz="1500" b="1">
                <a:solidFill>
                  <a:srgbClr val="182D4B"/>
                </a:solidFill>
                <a:latin typeface="Arial"/>
                <a:ea typeface="Arial"/>
                <a:cs typeface="Arial"/>
              </a:defRPr>
            </a:pPr>
            <a:r>
              <a:rPr sz="1500" b="1">
                <a:solidFill>
                  <a:srgbClr val="182D4B"/>
                </a:solidFill>
                <a:latin typeface="Arial"/>
                <a:ea typeface="Arial"/>
                <a:cs typeface="Arial"/>
              </a:rPr>
              <a:t>Chuẩn hóa</a:t>
            </a:r>
          </a:p>
        </p:txBody>
      </p:sp>
      <p:sp>
        <p:nvSpPr>
          <p:cNvPr id="28" name="Rectangle 27">
            <a:extLst xmlns:a="http://schemas.openxmlformats.org/drawingml/2006/main">
              <a:ext uri="{FF2B5EF4-FFF2-40B4-BE49-F238E27FC236}">
                <a16:creationId xmlns:a16="http://schemas.microsoft.com/office/drawing/2014/main" id="{53148D5B-931D-4F6F-B6FF-EE08AB3A922A}"/>
              </a:ext>
            </a:extLst>
          </p:cNvPr>
          <p:cNvSpPr>
            <a:spLocks xmlns:a="http://schemas.openxmlformats.org/drawingml/2006/main" noGrp="1"/>
          </p:cNvSpPr>
          <p:nvPr/>
        </p:nvSpPr>
        <p:spPr>
          <a:xfrm xmlns:a="http://schemas.openxmlformats.org/drawingml/2006/main">
            <a:off x="9829800" y="2495550"/>
            <a:ext cx="1609725"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ctr">
              <a:buNone/>
              <a:defRPr sz="1275" b="0">
                <a:solidFill>
                  <a:srgbClr val="1F2937"/>
                </a:solidFill>
                <a:latin typeface="Arial"/>
                <a:ea typeface="Arial"/>
                <a:cs typeface="Arial"/>
              </a:defRPr>
            </a:pPr>
            <a:r>
              <a:rPr sz="1275" b="0">
                <a:solidFill>
                  <a:srgbClr val="1F2937"/>
                </a:solidFill>
                <a:latin typeface="Arial"/>
                <a:ea typeface="Arial"/>
                <a:cs typeface="Arial"/>
              </a:rPr>
              <a:t>Winsorize 99%, log1p và StandardScaler trước K-Means</a:t>
            </a:r>
          </a:p>
        </p:txBody>
      </p:sp>
      <p:sp>
        <p:nvSpPr>
          <p:cNvPr id="29" name="Rectangle: Rounded Corners 28">
            <a:extLst xmlns:a="http://schemas.openxmlformats.org/drawingml/2006/main">
              <a:ext uri="{FF2B5EF4-FFF2-40B4-BE49-F238E27FC236}">
                <a16:creationId xmlns:a16="http://schemas.microsoft.com/office/drawing/2014/main" id="{CE633FB4-553F-4E12-BD14-22188CB045FC}"/>
              </a:ext>
            </a:extLst>
          </p:cNvPr>
          <p:cNvSpPr>
            <a:spLocks xmlns:a="http://schemas.openxmlformats.org/drawingml/2006/main" noGrp="1"/>
          </p:cNvSpPr>
          <p:nvPr/>
        </p:nvSpPr>
        <p:spPr>
          <a:xfrm xmlns:a="http://schemas.openxmlformats.org/drawingml/2006/main">
            <a:off x="857250" y="4457700"/>
            <a:ext cx="10477500" cy="1257300"/>
          </a:xfrm>
          <a:prstGeom xmlns:a="http://schemas.openxmlformats.org/drawingml/2006/main" prst="roundRect">
            <a:avLst>
              <a:gd name="adj" fmla="val 7576"/>
            </a:avLst>
          </a:prstGeom>
          <a:solidFill xmlns:a="http://schemas.openxmlformats.org/drawingml/2006/main">
            <a:srgbClr val="EDF7FB"/>
          </a:solidFill>
          <a:ln xmlns:a="http://schemas.openxmlformats.org/drawingml/2006/main" w="14288">
            <a:solidFill>
              <a:srgbClr val="2696C5"/>
            </a:solidFill>
          </a:ln>
        </p:spPr>
      </p:sp>
      <p:sp>
        <p:nvSpPr>
          <p:cNvPr id="30" name="Rectangle 29">
            <a:extLst xmlns:a="http://schemas.openxmlformats.org/drawingml/2006/main">
              <a:ext uri="{FF2B5EF4-FFF2-40B4-BE49-F238E27FC236}">
                <a16:creationId xmlns:a16="http://schemas.microsoft.com/office/drawing/2014/main" id="{1457D007-34DB-4879-B98C-8F36BE5D9561}"/>
              </a:ext>
            </a:extLst>
          </p:cNvPr>
          <p:cNvSpPr>
            <a:spLocks xmlns:a="http://schemas.openxmlformats.org/drawingml/2006/main" noGrp="1"/>
          </p:cNvSpPr>
          <p:nvPr/>
        </p:nvSpPr>
        <p:spPr>
          <a:xfrm xmlns:a="http://schemas.openxmlformats.org/drawingml/2006/main">
            <a:off x="1104900" y="4629150"/>
            <a:ext cx="247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575" b="1">
                <a:solidFill>
                  <a:srgbClr val="182D4B"/>
                </a:solidFill>
                <a:latin typeface="Arial"/>
                <a:ea typeface="Arial"/>
                <a:cs typeface="Arial"/>
              </a:defRPr>
            </a:pPr>
            <a:r>
              <a:rPr sz="1575" b="1">
                <a:solidFill>
                  <a:srgbClr val="182D4B"/>
                </a:solidFill>
                <a:latin typeface="Arial"/>
                <a:ea typeface="Arial"/>
                <a:cs typeface="Arial"/>
              </a:rPr>
              <a:t>Kết quả sau làm sạch</a:t>
            </a:r>
          </a:p>
        </p:txBody>
      </p:sp>
      <p:sp>
        <p:nvSpPr>
          <p:cNvPr id="31" name="Rectangle 30">
            <a:extLst xmlns:a="http://schemas.openxmlformats.org/drawingml/2006/main">
              <a:ext uri="{FF2B5EF4-FFF2-40B4-BE49-F238E27FC236}">
                <a16:creationId xmlns:a16="http://schemas.microsoft.com/office/drawing/2014/main" id="{169994B1-67D0-4725-A94C-E93075C7A93F}"/>
              </a:ext>
            </a:extLst>
          </p:cNvPr>
          <p:cNvSpPr>
            <a:spLocks xmlns:a="http://schemas.openxmlformats.org/drawingml/2006/main" noGrp="1"/>
          </p:cNvSpPr>
          <p:nvPr/>
        </p:nvSpPr>
        <p:spPr>
          <a:xfrm xmlns:a="http://schemas.openxmlformats.org/drawingml/2006/main">
            <a:off x="1104900" y="5048250"/>
            <a:ext cx="9696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00" b="1">
                <a:solidFill>
                  <a:srgbClr val="2696C5"/>
                </a:solidFill>
                <a:latin typeface="Arial"/>
                <a:ea typeface="Arial"/>
                <a:cs typeface="Arial"/>
              </a:defRPr>
            </a:pPr>
            <a:r>
              <a:rPr sz="1800" b="1">
                <a:solidFill>
                  <a:srgbClr val="2696C5"/>
                </a:solidFill>
                <a:latin typeface="Arial"/>
                <a:ea typeface="Arial"/>
                <a:cs typeface="Arial"/>
              </a:rPr>
              <a:t>524.878 dòng bán hợp lệ  ·  19.960 hóa đơn  ·  £10,64 triệu doanh thu dương</a:t>
            </a:r>
          </a:p>
        </p:txBody>
      </p:sp>
      <p:sp>
        <p:nvSpPr>
          <p:cNvPr id="32" name="Rectangle 31">
            <a:extLst xmlns:a="http://schemas.openxmlformats.org/drawingml/2006/main">
              <a:ext uri="{FF2B5EF4-FFF2-40B4-BE49-F238E27FC236}">
                <a16:creationId xmlns:a16="http://schemas.microsoft.com/office/drawing/2014/main" id="{9A5C73E8-970D-4E3E-8D74-3D129CA468E5}"/>
              </a:ext>
            </a:extLst>
          </p:cNvPr>
          <p:cNvSpPr>
            <a:spLocks xmlns:a="http://schemas.openxmlformats.org/drawingml/2006/main" noGrp="1"/>
          </p:cNvSpPr>
          <p:nvPr/>
        </p:nvSpPr>
        <p:spPr>
          <a:xfrm xmlns:a="http://schemas.openxmlformats.org/drawingml/2006/main">
            <a:off x="1104900" y="5429250"/>
            <a:ext cx="9696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Phân tích khách hàng chỉ dùng 4.338 khách có CustomerID; nhóm này bao phủ 83,5% doanh thu bán hợp lệ.</a:t>
            </a:r>
          </a:p>
        </p:txBody>
      </p:sp>
      <p:sp>
        <p:nvSpPr>
          <p:cNvPr id="33" name="Rectangle 32">
            <a:extLst xmlns:a="http://schemas.openxmlformats.org/drawingml/2006/main">
              <a:ext uri="{FF2B5EF4-FFF2-40B4-BE49-F238E27FC236}">
                <a16:creationId xmlns:a16="http://schemas.microsoft.com/office/drawing/2014/main" id="{92052E31-EC72-4720-902B-A9A96B0F3839}"/>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337577897"/>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62C58C77-D149-4CF3-B9C3-2B71F271F5F6}"/>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2067168C-31D6-445C-A3FA-2D51315A65E2}"/>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4. Doanh thu tăng mạnh vào mùa mua sắm cuối năm</a:t>
            </a:r>
          </a:p>
        </p:txBody>
      </p:sp>
      <p:sp>
        <p:nvSpPr>
          <p:cNvPr id="3" name="Rectangle 2">
            <a:extLst xmlns:a="http://schemas.openxmlformats.org/drawingml/2006/main">
              <a:ext uri="{FF2B5EF4-FFF2-40B4-BE49-F238E27FC236}">
                <a16:creationId xmlns:a16="http://schemas.microsoft.com/office/drawing/2014/main" id="{DCD2F044-215F-48D6-96EE-61457CD6547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05</a:t>
            </a:r>
          </a:p>
        </p:txBody>
      </p:sp>
      <p:graphicFrame>
        <p:nvGraphicFramePr>
          <p:cNvPr id="19" name="Chart"/>
          <p:cNvGraphicFramePr/>
          <p:nvPr/>
        </p:nvGraphicFramePr>
        <p:xfrm>
          <a:off xmlns:a="http://schemas.openxmlformats.org/drawingml/2006/main" x="419100" y="11049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d925a2db430b4293"/>
          </a:graphicData>
        </a:graphic>
      </p:graphicFrame>
      <p:sp>
        <p:nvSpPr>
          <p:cNvPr id="5" name="Rectangle 4">
            <a:extLst xmlns:a="http://schemas.openxmlformats.org/drawingml/2006/main">
              <a:ext uri="{FF2B5EF4-FFF2-40B4-BE49-F238E27FC236}">
                <a16:creationId xmlns:a16="http://schemas.microsoft.com/office/drawing/2014/main" id="{2C7CF912-9BBA-4806-8CFE-EE4984A3455B}"/>
              </a:ext>
            </a:extLst>
          </p:cNvPr>
          <p:cNvSpPr>
            <a:spLocks xmlns:a="http://schemas.openxmlformats.org/drawingml/2006/main" noGrp="1"/>
          </p:cNvSpPr>
          <p:nvPr/>
        </p:nvSpPr>
        <p:spPr>
          <a:xfrm xmlns:a="http://schemas.openxmlformats.org/drawingml/2006/main">
            <a:off x="8382000" y="1295400"/>
            <a:ext cx="276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700" b="1">
                <a:solidFill>
                  <a:srgbClr val="F59E42"/>
                </a:solidFill>
                <a:latin typeface="Arial"/>
                <a:ea typeface="Arial"/>
                <a:cs typeface="Arial"/>
              </a:defRPr>
            </a:pPr>
            <a:r>
              <a:rPr sz="2700" b="1">
                <a:solidFill>
                  <a:srgbClr val="F59E42"/>
                </a:solidFill>
                <a:latin typeface="Arial"/>
                <a:ea typeface="Arial"/>
                <a:cs typeface="Arial"/>
              </a:rPr>
              <a:t>£1,50 triệu</a:t>
            </a:r>
          </a:p>
        </p:txBody>
      </p:sp>
      <p:sp>
        <p:nvSpPr>
          <p:cNvPr id="6" name="Rectangle 5">
            <a:extLst xmlns:a="http://schemas.openxmlformats.org/drawingml/2006/main">
              <a:ext uri="{FF2B5EF4-FFF2-40B4-BE49-F238E27FC236}">
                <a16:creationId xmlns:a16="http://schemas.microsoft.com/office/drawing/2014/main" id="{E11E3E73-798A-426B-AEB4-E716C8EB8726}"/>
              </a:ext>
            </a:extLst>
          </p:cNvPr>
          <p:cNvSpPr>
            <a:spLocks xmlns:a="http://schemas.openxmlformats.org/drawingml/2006/main" noGrp="1"/>
          </p:cNvSpPr>
          <p:nvPr/>
        </p:nvSpPr>
        <p:spPr>
          <a:xfrm xmlns:a="http://schemas.openxmlformats.org/drawingml/2006/main">
            <a:off x="8382000" y="184785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doanh thu cao nhất vào 11/2011</a:t>
            </a:r>
          </a:p>
        </p:txBody>
      </p:sp>
      <p:sp>
        <p:nvSpPr>
          <p:cNvPr id="7" name="Rectangle 6">
            <a:extLst xmlns:a="http://schemas.openxmlformats.org/drawingml/2006/main">
              <a:ext uri="{FF2B5EF4-FFF2-40B4-BE49-F238E27FC236}">
                <a16:creationId xmlns:a16="http://schemas.microsoft.com/office/drawing/2014/main" id="{D9D97385-738D-4937-AABE-7804D10CE82D}"/>
              </a:ext>
            </a:extLst>
          </p:cNvPr>
          <p:cNvSpPr>
            <a:spLocks xmlns:a="http://schemas.openxmlformats.org/drawingml/2006/main" noGrp="1"/>
          </p:cNvSpPr>
          <p:nvPr/>
        </p:nvSpPr>
        <p:spPr>
          <a:xfrm xmlns:a="http://schemas.openxmlformats.org/drawingml/2006/main">
            <a:off x="8382000" y="2609850"/>
            <a:ext cx="1524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700" b="1">
                <a:solidFill>
                  <a:srgbClr val="2696C5"/>
                </a:solidFill>
                <a:latin typeface="Arial"/>
                <a:ea typeface="Arial"/>
                <a:cs typeface="Arial"/>
              </a:defRPr>
            </a:pPr>
            <a:r>
              <a:rPr sz="2700" b="1">
                <a:solidFill>
                  <a:srgbClr val="2696C5"/>
                </a:solidFill>
                <a:latin typeface="Arial"/>
                <a:ea typeface="Arial"/>
                <a:cs typeface="Arial"/>
              </a:rPr>
              <a:t>84,6%</a:t>
            </a:r>
          </a:p>
        </p:txBody>
      </p:sp>
      <p:sp>
        <p:nvSpPr>
          <p:cNvPr id="8" name="Rectangle 7">
            <a:extLst xmlns:a="http://schemas.openxmlformats.org/drawingml/2006/main">
              <a:ext uri="{FF2B5EF4-FFF2-40B4-BE49-F238E27FC236}">
                <a16:creationId xmlns:a16="http://schemas.microsoft.com/office/drawing/2014/main" id="{B33D94AC-CF20-4DE8-91DF-243789A48653}"/>
              </a:ext>
            </a:extLst>
          </p:cNvPr>
          <p:cNvSpPr>
            <a:spLocks xmlns:a="http://schemas.openxmlformats.org/drawingml/2006/main" noGrp="1"/>
          </p:cNvSpPr>
          <p:nvPr/>
        </p:nvSpPr>
        <p:spPr>
          <a:xfrm xmlns:a="http://schemas.openxmlformats.org/drawingml/2006/main">
            <a:off x="8382000" y="3143250"/>
            <a:ext cx="285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doanh thu đến từ United Kingdom</a:t>
            </a:r>
          </a:p>
        </p:txBody>
      </p:sp>
      <p:sp>
        <p:nvSpPr>
          <p:cNvPr id="9" name="Rectangle 8">
            <a:extLst xmlns:a="http://schemas.openxmlformats.org/drawingml/2006/main">
              <a:ext uri="{FF2B5EF4-FFF2-40B4-BE49-F238E27FC236}">
                <a16:creationId xmlns:a16="http://schemas.microsoft.com/office/drawing/2014/main" id="{4A6A27D7-AD82-41F2-9D12-4E4CAB206EF8}"/>
              </a:ext>
            </a:extLst>
          </p:cNvPr>
          <p:cNvSpPr>
            <a:spLocks xmlns:a="http://schemas.openxmlformats.org/drawingml/2006/main" noGrp="1"/>
          </p:cNvSpPr>
          <p:nvPr/>
        </p:nvSpPr>
        <p:spPr>
          <a:xfrm xmlns:a="http://schemas.openxmlformats.org/drawingml/2006/main">
            <a:off x="8382000" y="3943350"/>
            <a:ext cx="285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350" b="1">
                <a:solidFill>
                  <a:srgbClr val="182D4B"/>
                </a:solidFill>
                <a:latin typeface="Arial"/>
                <a:ea typeface="Arial"/>
                <a:cs typeface="Arial"/>
              </a:defRPr>
            </a:pPr>
            <a:r>
              <a:rPr sz="1350" b="1">
                <a:solidFill>
                  <a:srgbClr val="182D4B"/>
                </a:solidFill>
                <a:latin typeface="Arial"/>
                <a:ea typeface="Arial"/>
                <a:cs typeface="Arial"/>
              </a:rPr>
              <a:t>Thị trường ngoài UK dẫn đầu</a:t>
            </a:r>
          </a:p>
        </p:txBody>
      </p:sp>
      <p:sp>
        <p:nvSpPr>
          <p:cNvPr id="10" name="Rectangle 9">
            <a:extLst xmlns:a="http://schemas.openxmlformats.org/drawingml/2006/main">
              <a:ext uri="{FF2B5EF4-FFF2-40B4-BE49-F238E27FC236}">
                <a16:creationId xmlns:a16="http://schemas.microsoft.com/office/drawing/2014/main" id="{1973E7B1-4E6C-4BFC-AD58-E47A71BCF6A3}"/>
              </a:ext>
            </a:extLst>
          </p:cNvPr>
          <p:cNvSpPr>
            <a:spLocks xmlns:a="http://schemas.openxmlformats.org/drawingml/2006/main" noGrp="1"/>
          </p:cNvSpPr>
          <p:nvPr/>
        </p:nvSpPr>
        <p:spPr>
          <a:xfrm xmlns:a="http://schemas.openxmlformats.org/drawingml/2006/main">
            <a:off x="8382000" y="4286250"/>
            <a:ext cx="2857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Netherlands £285k</a:t>
            </a:r>
          </a:p>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EIRE £283k</a:t>
            </a:r>
          </a:p>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Germany £229k</a:t>
            </a:r>
          </a:p>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France £210k</a:t>
            </a:r>
          </a:p>
        </p:txBody>
      </p:sp>
      <p:sp>
        <p:nvSpPr>
          <p:cNvPr id="11" name="Rectangle: Rounded Corners 10">
            <a:extLst xmlns:a="http://schemas.openxmlformats.org/drawingml/2006/main">
              <a:ext uri="{FF2B5EF4-FFF2-40B4-BE49-F238E27FC236}">
                <a16:creationId xmlns:a16="http://schemas.microsoft.com/office/drawing/2014/main" id="{215C2116-B965-42EE-87DC-0960ED9B5776}"/>
              </a:ext>
            </a:extLst>
          </p:cNvPr>
          <p:cNvSpPr>
            <a:spLocks xmlns:a="http://schemas.openxmlformats.org/drawingml/2006/main" noGrp="1"/>
          </p:cNvSpPr>
          <p:nvPr/>
        </p:nvSpPr>
        <p:spPr>
          <a:xfrm xmlns:a="http://schemas.openxmlformats.org/drawingml/2006/main">
            <a:off x="514350" y="5372100"/>
            <a:ext cx="7524750" cy="742950"/>
          </a:xfrm>
          <a:prstGeom xmlns:a="http://schemas.openxmlformats.org/drawingml/2006/main" prst="roundRect">
            <a:avLst>
              <a:gd name="adj" fmla="val 10256"/>
            </a:avLst>
          </a:prstGeom>
          <a:solidFill xmlns:a="http://schemas.openxmlformats.org/drawingml/2006/main">
            <a:srgbClr val="FFF6EA"/>
          </a:solidFill>
          <a:ln xmlns:a="http://schemas.openxmlformats.org/drawingml/2006/main" w="9525">
            <a:solidFill>
              <a:srgbClr val="F59E42"/>
            </a:solidFill>
          </a:ln>
        </p:spPr>
      </p:sp>
      <p:sp>
        <p:nvSpPr>
          <p:cNvPr id="12" name="Rectangle 11">
            <a:extLst xmlns:a="http://schemas.openxmlformats.org/drawingml/2006/main">
              <a:ext uri="{FF2B5EF4-FFF2-40B4-BE49-F238E27FC236}">
                <a16:creationId xmlns:a16="http://schemas.microsoft.com/office/drawing/2014/main" id="{223F32C1-F15E-4B64-8B76-0B105D132351}"/>
              </a:ext>
            </a:extLst>
          </p:cNvPr>
          <p:cNvSpPr>
            <a:spLocks xmlns:a="http://schemas.openxmlformats.org/drawingml/2006/main" noGrp="1"/>
          </p:cNvSpPr>
          <p:nvPr/>
        </p:nvSpPr>
        <p:spPr>
          <a:xfrm xmlns:a="http://schemas.openxmlformats.org/drawingml/2006/main">
            <a:off x="704850" y="5486400"/>
            <a:ext cx="714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1F2937"/>
                </a:solidFill>
                <a:latin typeface="Arial"/>
                <a:ea typeface="Arial"/>
                <a:cs typeface="Arial"/>
              </a:defRPr>
            </a:pPr>
            <a:r>
              <a:rPr sz="1275" b="0">
                <a:solidFill>
                  <a:srgbClr val="1F2937"/>
                </a:solidFill>
                <a:latin typeface="Arial"/>
                <a:ea typeface="Arial"/>
                <a:cs typeface="Arial"/>
              </a:rPr>
              <a:t>Lưu ý: tháng 12/2011 chỉ có dữ liệu đến ngày 09/12 nên không thể so sánh trực tiếp với các tháng đầy đủ.</a:t>
            </a:r>
          </a:p>
        </p:txBody>
      </p:sp>
      <p:sp>
        <p:nvSpPr>
          <p:cNvPr id="13" name="Rectangle 12">
            <a:extLst xmlns:a="http://schemas.openxmlformats.org/drawingml/2006/main">
              <a:ext uri="{FF2B5EF4-FFF2-40B4-BE49-F238E27FC236}">
                <a16:creationId xmlns:a16="http://schemas.microsoft.com/office/drawing/2014/main" id="{24F6EAB0-1DBA-4DAE-86D5-38B2CF011B93}"/>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218941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Rectangle 12">
            <a:extLst xmlns:a="http://schemas.openxmlformats.org/drawingml/2006/main">
              <a:ext uri="{FF2B5EF4-FFF2-40B4-BE49-F238E27FC236}">
                <a16:creationId xmlns:a16="http://schemas.microsoft.com/office/drawing/2014/main" id="{6F545EEB-6E27-4096-8676-E6BE1B41FC74}"/>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19F837AB-BBAF-473B-9DBF-D193BC6D3C30}"/>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5. Một số sản phẩm xuất hiện trong nhiều hóa đơn</a:t>
            </a:r>
          </a:p>
        </p:txBody>
      </p:sp>
      <p:sp>
        <p:nvSpPr>
          <p:cNvPr id="3" name="Rectangle 2">
            <a:extLst xmlns:a="http://schemas.openxmlformats.org/drawingml/2006/main">
              <a:ext uri="{FF2B5EF4-FFF2-40B4-BE49-F238E27FC236}">
                <a16:creationId xmlns:a16="http://schemas.microsoft.com/office/drawing/2014/main" id="{208302D4-7C51-45DA-9F28-04683B3B8B1B}"/>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06</a:t>
            </a:r>
          </a:p>
        </p:txBody>
      </p:sp>
      <p:graphicFrame>
        <p:nvGraphicFramePr>
          <p:cNvPr id="18" name="Chart"/>
          <p:cNvGraphicFramePr/>
          <p:nvPr/>
        </p:nvGraphicFramePr>
        <p:xfrm>
          <a:off xmlns:a="http://schemas.openxmlformats.org/drawingml/2006/main" x="514350" y="1143000"/>
          <a:ext xmlns:a="http://schemas.openxmlformats.org/drawingml/2006/main" cx="7143750" cy="4191000"/>
        </p:xfrm>
        <a:graphic xmlns:a="http://schemas.openxmlformats.org/drawingml/2006/main">
          <a:graphicData uri="http://schemas.openxmlformats.org/drawingml/2006/chart">
            <c:chart xmlns:r="http://schemas.openxmlformats.org/officeDocument/2006/relationships" xmlns:c="http://schemas.openxmlformats.org/drawingml/2006/chart" r:id="Re2e4ec89d3224e33"/>
          </a:graphicData>
        </a:graphic>
      </p:graphicFrame>
      <p:sp>
        <p:nvSpPr>
          <p:cNvPr id="5" name="Rectangle 4">
            <a:extLst xmlns:a="http://schemas.openxmlformats.org/drawingml/2006/main">
              <a:ext uri="{FF2B5EF4-FFF2-40B4-BE49-F238E27FC236}">
                <a16:creationId xmlns:a16="http://schemas.microsoft.com/office/drawing/2014/main" id="{4F2298CA-3A4B-4C58-9AC3-1B46204F109D}"/>
              </a:ext>
            </a:extLst>
          </p:cNvPr>
          <p:cNvSpPr>
            <a:spLocks xmlns:a="http://schemas.openxmlformats.org/drawingml/2006/main" noGrp="1"/>
          </p:cNvSpPr>
          <p:nvPr/>
        </p:nvSpPr>
        <p:spPr>
          <a:xfrm xmlns:a="http://schemas.openxmlformats.org/drawingml/2006/main">
            <a:off x="8020050" y="1143000"/>
            <a:ext cx="3524250" cy="3238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6" name="Rectangle 5">
            <a:extLst xmlns:a="http://schemas.openxmlformats.org/drawingml/2006/main">
              <a:ext uri="{FF2B5EF4-FFF2-40B4-BE49-F238E27FC236}">
                <a16:creationId xmlns:a16="http://schemas.microsoft.com/office/drawing/2014/main" id="{8BA99C3E-CA12-4B84-9553-F8B1CB874905}"/>
              </a:ext>
            </a:extLst>
          </p:cNvPr>
          <p:cNvSpPr>
            <a:spLocks xmlns:a="http://schemas.openxmlformats.org/drawingml/2006/main" noGrp="1"/>
          </p:cNvSpPr>
          <p:nvPr/>
        </p:nvSpPr>
        <p:spPr>
          <a:xfrm xmlns:a="http://schemas.openxmlformats.org/drawingml/2006/main">
            <a:off x="8115300" y="1162050"/>
            <a:ext cx="3333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DIỄN GIẢI</a:t>
            </a:r>
          </a:p>
        </p:txBody>
      </p:sp>
      <p:sp>
        <p:nvSpPr>
          <p:cNvPr id="7" name="Rectangle 6">
            <a:extLst xmlns:a="http://schemas.openxmlformats.org/drawingml/2006/main">
              <a:ext uri="{FF2B5EF4-FFF2-40B4-BE49-F238E27FC236}">
                <a16:creationId xmlns:a16="http://schemas.microsoft.com/office/drawing/2014/main" id="{52A661A1-0332-4986-8F58-5AC908FC6556}"/>
              </a:ext>
            </a:extLst>
          </p:cNvPr>
          <p:cNvSpPr>
            <a:spLocks xmlns:a="http://schemas.openxmlformats.org/drawingml/2006/main" noGrp="1"/>
          </p:cNvSpPr>
          <p:nvPr/>
        </p:nvSpPr>
        <p:spPr>
          <a:xfrm xmlns:a="http://schemas.openxmlformats.org/drawingml/2006/main">
            <a:off x="8229600" y="163830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182D4B"/>
                </a:solidFill>
                <a:latin typeface="Arial"/>
                <a:ea typeface="Arial"/>
                <a:cs typeface="Arial"/>
              </a:defRPr>
            </a:pPr>
            <a:r>
              <a:rPr sz="1650" b="1">
                <a:solidFill>
                  <a:srgbClr val="182D4B"/>
                </a:solidFill>
                <a:latin typeface="Arial"/>
                <a:ea typeface="Arial"/>
                <a:cs typeface="Arial"/>
              </a:rPr>
              <a:t>Sản phẩm có độ phủ cao</a:t>
            </a:r>
          </a:p>
        </p:txBody>
      </p:sp>
      <p:sp>
        <p:nvSpPr>
          <p:cNvPr id="8" name="Rectangle 7">
            <a:extLst xmlns:a="http://schemas.openxmlformats.org/drawingml/2006/main">
              <a:ext uri="{FF2B5EF4-FFF2-40B4-BE49-F238E27FC236}">
                <a16:creationId xmlns:a16="http://schemas.microsoft.com/office/drawing/2014/main" id="{1B33A215-D8EB-4463-8BF1-10C81290E440}"/>
              </a:ext>
            </a:extLst>
          </p:cNvPr>
          <p:cNvSpPr>
            <a:spLocks xmlns:a="http://schemas.openxmlformats.org/drawingml/2006/main" noGrp="1"/>
          </p:cNvSpPr>
          <p:nvPr/>
        </p:nvSpPr>
        <p:spPr>
          <a:xfrm xmlns:a="http://schemas.openxmlformats.org/drawingml/2006/main">
            <a:off x="8229600" y="2038350"/>
            <a:ext cx="3048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White Hanging Heart T-light Holder xuất hiện trong 2.189 hóa đơn, cao nhất trong nhóm sản phẩm thực.</a:t>
            </a:r>
          </a:p>
        </p:txBody>
      </p:sp>
      <p:sp>
        <p:nvSpPr>
          <p:cNvPr id="9" name="Rectangle 8">
            <a:extLst xmlns:a="http://schemas.openxmlformats.org/drawingml/2006/main">
              <a:ext uri="{FF2B5EF4-FFF2-40B4-BE49-F238E27FC236}">
                <a16:creationId xmlns:a16="http://schemas.microsoft.com/office/drawing/2014/main" id="{57979601-4854-41A9-A0FB-3BE807720E15}"/>
              </a:ext>
            </a:extLst>
          </p:cNvPr>
          <p:cNvSpPr>
            <a:spLocks xmlns:a="http://schemas.openxmlformats.org/drawingml/2006/main" noGrp="1"/>
          </p:cNvSpPr>
          <p:nvPr/>
        </p:nvSpPr>
        <p:spPr>
          <a:xfrm xmlns:a="http://schemas.openxmlformats.org/drawingml/2006/main">
            <a:off x="8229600" y="3181350"/>
            <a:ext cx="304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650" b="1">
                <a:solidFill>
                  <a:srgbClr val="182D4B"/>
                </a:solidFill>
                <a:latin typeface="Arial"/>
                <a:ea typeface="Arial"/>
                <a:cs typeface="Arial"/>
              </a:defRPr>
            </a:pPr>
            <a:r>
              <a:rPr sz="1650" b="1">
                <a:solidFill>
                  <a:srgbClr val="182D4B"/>
                </a:solidFill>
                <a:latin typeface="Arial"/>
                <a:ea typeface="Arial"/>
                <a:cs typeface="Arial"/>
              </a:rPr>
              <a:t>Không dùng doanh thu đơn thuần</a:t>
            </a:r>
          </a:p>
        </p:txBody>
      </p:sp>
      <p:sp>
        <p:nvSpPr>
          <p:cNvPr id="10" name="Rectangle 9">
            <a:extLst xmlns:a="http://schemas.openxmlformats.org/drawingml/2006/main">
              <a:ext uri="{FF2B5EF4-FFF2-40B4-BE49-F238E27FC236}">
                <a16:creationId xmlns:a16="http://schemas.microsoft.com/office/drawing/2014/main" id="{1BC46630-A329-4529-8D92-79888F504AB1}"/>
              </a:ext>
            </a:extLst>
          </p:cNvPr>
          <p:cNvSpPr>
            <a:spLocks xmlns:a="http://schemas.openxmlformats.org/drawingml/2006/main" noGrp="1"/>
          </p:cNvSpPr>
          <p:nvPr/>
        </p:nvSpPr>
        <p:spPr>
          <a:xfrm xmlns:a="http://schemas.openxmlformats.org/drawingml/2006/main">
            <a:off x="8229600" y="3581400"/>
            <a:ext cx="3048000"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Các dòng POSTAGE, DOTCOM POSTAGE và một giao dịch số lượng cực lớn có thể làm sai thứ hạng sản phẩm. Vì vậy biểu đồ dùng số hóa đơn thay cho doanh thu.</a:t>
            </a:r>
          </a:p>
        </p:txBody>
      </p:sp>
      <p:sp>
        <p:nvSpPr>
          <p:cNvPr id="11" name="Rectangle 10">
            <a:extLst xmlns:a="http://schemas.openxmlformats.org/drawingml/2006/main">
              <a:ext uri="{FF2B5EF4-FFF2-40B4-BE49-F238E27FC236}">
                <a16:creationId xmlns:a16="http://schemas.microsoft.com/office/drawing/2014/main" id="{ECB81140-0CB0-4DA8-AB9F-5C203AB29A55}"/>
              </a:ext>
            </a:extLst>
          </p:cNvPr>
          <p:cNvSpPr>
            <a:spLocks xmlns:a="http://schemas.openxmlformats.org/drawingml/2006/main" noGrp="1"/>
          </p:cNvSpPr>
          <p:nvPr/>
        </p:nvSpPr>
        <p:spPr>
          <a:xfrm xmlns:a="http://schemas.openxmlformats.org/drawingml/2006/main">
            <a:off x="8229600" y="5048250"/>
            <a:ext cx="304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1">
                <a:solidFill>
                  <a:srgbClr val="F59E42"/>
                </a:solidFill>
                <a:latin typeface="Arial"/>
                <a:ea typeface="Arial"/>
                <a:cs typeface="Arial"/>
              </a:defRPr>
            </a:pPr>
            <a:r>
              <a:rPr sz="1275" b="1">
                <a:solidFill>
                  <a:srgbClr val="F59E42"/>
                </a:solidFill>
                <a:latin typeface="Arial"/>
                <a:ea typeface="Arial"/>
                <a:cs typeface="Arial"/>
              </a:rPr>
              <a:t>Đây là bước khắc phục ngoại lệ trước khi tìm luật mua kèm.</a:t>
            </a:r>
          </a:p>
        </p:txBody>
      </p:sp>
      <p:sp>
        <p:nvSpPr>
          <p:cNvPr id="12" name="Rectangle 11">
            <a:extLst xmlns:a="http://schemas.openxmlformats.org/drawingml/2006/main">
              <a:ext uri="{FF2B5EF4-FFF2-40B4-BE49-F238E27FC236}">
                <a16:creationId xmlns:a16="http://schemas.microsoft.com/office/drawing/2014/main" id="{8759BD36-BC61-4EBB-93CB-00FCFBDC018E}"/>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5685340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F483ED81-BDD8-456C-A7FE-523B1A1A630B}"/>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C34D9C38-9E0D-483C-97BF-151AEC8D2ED4}"/>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6. RFM và lựa chọn số cụm khách hàng</a:t>
            </a:r>
          </a:p>
        </p:txBody>
      </p:sp>
      <p:sp>
        <p:nvSpPr>
          <p:cNvPr id="3" name="Rectangle 2">
            <a:extLst xmlns:a="http://schemas.openxmlformats.org/drawingml/2006/main">
              <a:ext uri="{FF2B5EF4-FFF2-40B4-BE49-F238E27FC236}">
                <a16:creationId xmlns:a16="http://schemas.microsoft.com/office/drawing/2014/main" id="{B35B1957-EDF2-44F5-A437-319F30F02AAE}"/>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07</a:t>
            </a:r>
          </a:p>
        </p:txBody>
      </p:sp>
      <p:graphicFrame>
        <p:nvGraphicFramePr>
          <p:cNvPr id="19" name="Chart"/>
          <p:cNvGraphicFramePr/>
          <p:nvPr/>
        </p:nvGraphicFramePr>
        <p:xfrm>
          <a:off xmlns:a="http://schemas.openxmlformats.org/drawingml/2006/main" x="533400" y="1352550"/>
          <a:ext xmlns:a="http://schemas.openxmlformats.org/drawingml/2006/main" cx="6191250" cy="3810000"/>
        </p:xfrm>
        <a:graphic xmlns:a="http://schemas.openxmlformats.org/drawingml/2006/main">
          <a:graphicData uri="http://schemas.openxmlformats.org/drawingml/2006/chart">
            <c:chart xmlns:r="http://schemas.openxmlformats.org/officeDocument/2006/relationships" xmlns:c="http://schemas.openxmlformats.org/drawingml/2006/chart" r:id="Rffadb996bc174d33"/>
          </a:graphicData>
        </a:graphic>
      </p:graphicFrame>
      <p:sp>
        <p:nvSpPr>
          <p:cNvPr id="5" name="Rectangle 4">
            <a:extLst xmlns:a="http://schemas.openxmlformats.org/drawingml/2006/main">
              <a:ext uri="{FF2B5EF4-FFF2-40B4-BE49-F238E27FC236}">
                <a16:creationId xmlns:a16="http://schemas.microsoft.com/office/drawing/2014/main" id="{64749E49-B1F3-4623-9463-EE87A2F43253}"/>
              </a:ext>
            </a:extLst>
          </p:cNvPr>
          <p:cNvSpPr>
            <a:spLocks xmlns:a="http://schemas.openxmlformats.org/drawingml/2006/main" noGrp="1"/>
          </p:cNvSpPr>
          <p:nvPr/>
        </p:nvSpPr>
        <p:spPr>
          <a:xfrm xmlns:a="http://schemas.openxmlformats.org/drawingml/2006/main">
            <a:off x="7239000" y="1162050"/>
            <a:ext cx="4286250" cy="3238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6" name="Rectangle 5">
            <a:extLst xmlns:a="http://schemas.openxmlformats.org/drawingml/2006/main">
              <a:ext uri="{FF2B5EF4-FFF2-40B4-BE49-F238E27FC236}">
                <a16:creationId xmlns:a16="http://schemas.microsoft.com/office/drawing/2014/main" id="{6319E3ED-7C7B-4BEF-934B-54982E671DFD}"/>
              </a:ext>
            </a:extLst>
          </p:cNvPr>
          <p:cNvSpPr>
            <a:spLocks xmlns:a="http://schemas.openxmlformats.org/drawingml/2006/main" noGrp="1"/>
          </p:cNvSpPr>
          <p:nvPr/>
        </p:nvSpPr>
        <p:spPr>
          <a:xfrm xmlns:a="http://schemas.openxmlformats.org/drawingml/2006/main">
            <a:off x="7334250" y="1181100"/>
            <a:ext cx="4095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200" b="1">
                <a:solidFill>
                  <a:srgbClr val="FFFFFF"/>
                </a:solidFill>
                <a:latin typeface="Arial"/>
                <a:ea typeface="Arial"/>
                <a:cs typeface="Arial"/>
              </a:defRPr>
            </a:pPr>
            <a:r>
              <a:rPr sz="1200" b="1">
                <a:solidFill>
                  <a:srgbClr val="FFFFFF"/>
                </a:solidFill>
                <a:latin typeface="Arial"/>
                <a:ea typeface="Arial"/>
                <a:cs typeface="Arial"/>
              </a:rPr>
              <a:t>QUYẾT ĐỊNH MÔ HÌNH</a:t>
            </a:r>
          </a:p>
        </p:txBody>
      </p:sp>
      <p:sp>
        <p:nvSpPr>
          <p:cNvPr id="7" name="Rectangle 6">
            <a:extLst xmlns:a="http://schemas.openxmlformats.org/drawingml/2006/main">
              <a:ext uri="{FF2B5EF4-FFF2-40B4-BE49-F238E27FC236}">
                <a16:creationId xmlns:a16="http://schemas.microsoft.com/office/drawing/2014/main" id="{6ABD4D77-A05C-4FCA-A3E0-399E98AC1694}"/>
              </a:ext>
            </a:extLst>
          </p:cNvPr>
          <p:cNvSpPr>
            <a:spLocks xmlns:a="http://schemas.openxmlformats.org/drawingml/2006/main" noGrp="1"/>
          </p:cNvSpPr>
          <p:nvPr/>
        </p:nvSpPr>
        <p:spPr>
          <a:xfrm xmlns:a="http://schemas.openxmlformats.org/drawingml/2006/main">
            <a:off x="7486650" y="1657350"/>
            <a:ext cx="8001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800" b="1">
                <a:solidFill>
                  <a:srgbClr val="F59E42"/>
                </a:solidFill>
                <a:latin typeface="Arial"/>
                <a:ea typeface="Arial"/>
                <a:cs typeface="Arial"/>
              </a:defRPr>
            </a:pPr>
            <a:r>
              <a:rPr sz="1800" b="1">
                <a:solidFill>
                  <a:srgbClr val="F59E42"/>
                </a:solidFill>
                <a:latin typeface="Arial"/>
                <a:ea typeface="Arial"/>
                <a:cs typeface="Arial"/>
              </a:rPr>
              <a:t>RFM</a:t>
            </a:r>
          </a:p>
        </p:txBody>
      </p:sp>
      <p:sp>
        <p:nvSpPr>
          <p:cNvPr id="8" name="Rectangle 7">
            <a:extLst xmlns:a="http://schemas.openxmlformats.org/drawingml/2006/main">
              <a:ext uri="{FF2B5EF4-FFF2-40B4-BE49-F238E27FC236}">
                <a16:creationId xmlns:a16="http://schemas.microsoft.com/office/drawing/2014/main" id="{6CB27EF4-90B2-41F0-B152-EFDEE93DC157}"/>
              </a:ext>
            </a:extLst>
          </p:cNvPr>
          <p:cNvSpPr>
            <a:spLocks xmlns:a="http://schemas.openxmlformats.org/drawingml/2006/main" noGrp="1"/>
          </p:cNvSpPr>
          <p:nvPr/>
        </p:nvSpPr>
        <p:spPr>
          <a:xfrm xmlns:a="http://schemas.openxmlformats.org/drawingml/2006/main">
            <a:off x="8439150" y="1619250"/>
            <a:ext cx="27813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Recency: số ngày từ lần mua cuối</a:t>
            </a:r>
          </a:p>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Frequency: số hóa đơn</a:t>
            </a:r>
          </a:p>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Monetary: tổng chi tiêu</a:t>
            </a:r>
          </a:p>
        </p:txBody>
      </p:sp>
      <p:sp>
        <p:nvSpPr>
          <p:cNvPr id="9" name="Rectangle 8">
            <a:extLst xmlns:a="http://schemas.openxmlformats.org/drawingml/2006/main">
              <a:ext uri="{FF2B5EF4-FFF2-40B4-BE49-F238E27FC236}">
                <a16:creationId xmlns:a16="http://schemas.microsoft.com/office/drawing/2014/main" id="{1A8DC748-5BDA-4F34-9260-CC6BEAB463E6}"/>
              </a:ext>
            </a:extLst>
          </p:cNvPr>
          <p:cNvSpPr>
            <a:spLocks xmlns:a="http://schemas.openxmlformats.org/drawingml/2006/main" noGrp="1"/>
          </p:cNvSpPr>
          <p:nvPr/>
        </p:nvSpPr>
        <p:spPr>
          <a:xfrm xmlns:a="http://schemas.openxmlformats.org/drawingml/2006/main">
            <a:off x="7486650" y="2895600"/>
            <a:ext cx="3714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k = 2 có Silhouette cao nhất (0,435), nhưng chỉ tách khách giá trị cao và thấp.</a:t>
            </a:r>
          </a:p>
        </p:txBody>
      </p:sp>
      <p:sp>
        <p:nvSpPr>
          <p:cNvPr id="10" name="Rectangle 9">
            <a:extLst xmlns:a="http://schemas.openxmlformats.org/drawingml/2006/main">
              <a:ext uri="{FF2B5EF4-FFF2-40B4-BE49-F238E27FC236}">
                <a16:creationId xmlns:a16="http://schemas.microsoft.com/office/drawing/2014/main" id="{EEF35DF1-B96D-4CBF-B05D-241E1837986C}"/>
              </a:ext>
            </a:extLst>
          </p:cNvPr>
          <p:cNvSpPr>
            <a:spLocks xmlns:a="http://schemas.openxmlformats.org/drawingml/2006/main" noGrp="1"/>
          </p:cNvSpPr>
          <p:nvPr/>
        </p:nvSpPr>
        <p:spPr>
          <a:xfrm xmlns:a="http://schemas.openxmlformats.org/drawingml/2006/main">
            <a:off x="7486650" y="3848100"/>
            <a:ext cx="247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00" b="1">
                <a:solidFill>
                  <a:srgbClr val="2696C5"/>
                </a:solidFill>
                <a:latin typeface="Arial"/>
                <a:ea typeface="Arial"/>
                <a:cs typeface="Arial"/>
              </a:defRPr>
            </a:pPr>
            <a:r>
              <a:rPr sz="2100" b="1">
                <a:solidFill>
                  <a:srgbClr val="2696C5"/>
                </a:solidFill>
                <a:latin typeface="Arial"/>
                <a:ea typeface="Arial"/>
                <a:cs typeface="Arial"/>
              </a:rPr>
              <a:t>Chọn k = 4</a:t>
            </a:r>
          </a:p>
        </p:txBody>
      </p:sp>
      <p:sp>
        <p:nvSpPr>
          <p:cNvPr id="11" name="Rectangle 10">
            <a:extLst xmlns:a="http://schemas.openxmlformats.org/drawingml/2006/main">
              <a:ext uri="{FF2B5EF4-FFF2-40B4-BE49-F238E27FC236}">
                <a16:creationId xmlns:a16="http://schemas.microsoft.com/office/drawing/2014/main" id="{022CB1E7-D7DD-4842-9282-69C643BC0161}"/>
              </a:ext>
            </a:extLst>
          </p:cNvPr>
          <p:cNvSpPr>
            <a:spLocks xmlns:a="http://schemas.openxmlformats.org/drawingml/2006/main" noGrp="1"/>
          </p:cNvSpPr>
          <p:nvPr/>
        </p:nvSpPr>
        <p:spPr>
          <a:xfrm xmlns:a="http://schemas.openxmlformats.org/drawingml/2006/main">
            <a:off x="7486650" y="43053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0">
                <a:solidFill>
                  <a:srgbClr val="1F2937"/>
                </a:solidFill>
                <a:latin typeface="Arial"/>
                <a:ea typeface="Arial"/>
                <a:cs typeface="Arial"/>
              </a:defRPr>
            </a:pPr>
            <a:r>
              <a:rPr sz="1350" b="0">
                <a:solidFill>
                  <a:srgbClr val="1F2937"/>
                </a:solidFill>
                <a:latin typeface="Arial"/>
                <a:ea typeface="Arial"/>
                <a:cs typeface="Arial"/>
              </a:rPr>
              <a:t>Silhouette = 0,335. Mức phân tách thấp hơn nhưng tạo bốn nhóm đủ khác biệt để triển khai chăm sóc khách hàng.</a:t>
            </a:r>
          </a:p>
        </p:txBody>
      </p:sp>
      <p:sp>
        <p:nvSpPr>
          <p:cNvPr id="12" name="Rectangle 11">
            <a:extLst xmlns:a="http://schemas.openxmlformats.org/drawingml/2006/main">
              <a:ext uri="{FF2B5EF4-FFF2-40B4-BE49-F238E27FC236}">
                <a16:creationId xmlns:a16="http://schemas.microsoft.com/office/drawing/2014/main" id="{F321B488-5922-4E0D-9DDD-C31A83637909}"/>
              </a:ext>
            </a:extLst>
          </p:cNvPr>
          <p:cNvSpPr>
            <a:spLocks xmlns:a="http://schemas.openxmlformats.org/drawingml/2006/main" noGrp="1"/>
          </p:cNvSpPr>
          <p:nvPr/>
        </p:nvSpPr>
        <p:spPr>
          <a:xfrm xmlns:a="http://schemas.openxmlformats.org/drawingml/2006/main">
            <a:off x="7486650" y="5219700"/>
            <a:ext cx="3714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350" b="1">
                <a:solidFill>
                  <a:srgbClr val="28A745"/>
                </a:solidFill>
                <a:latin typeface="Arial"/>
                <a:ea typeface="Arial"/>
                <a:cs typeface="Arial"/>
              </a:defRPr>
            </a:pPr>
            <a:r>
              <a:rPr sz="1350" b="1">
                <a:solidFill>
                  <a:srgbClr val="28A745"/>
                </a:solidFill>
                <a:latin typeface="Arial"/>
                <a:ea typeface="Arial"/>
                <a:cs typeface="Arial"/>
              </a:rPr>
              <a:t>Độ ổn định ARI qua 10 lần khởi tạo: 0,951 ± 0,013</a:t>
            </a:r>
          </a:p>
        </p:txBody>
      </p:sp>
      <p:sp>
        <p:nvSpPr>
          <p:cNvPr id="13" name="Rectangle 12">
            <a:extLst xmlns:a="http://schemas.openxmlformats.org/drawingml/2006/main">
              <a:ext uri="{FF2B5EF4-FFF2-40B4-BE49-F238E27FC236}">
                <a16:creationId xmlns:a16="http://schemas.microsoft.com/office/drawing/2014/main" id="{2EE1F8F4-07C1-4E75-AB10-1F8381711E3A}"/>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73888367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D89AD9C4-D285-4E55-8BEC-8EB867F0D1D6}"/>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07AA9A01-A40F-4A29-A096-8EF4597E337B}"/>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025" b="1">
                <a:solidFill>
                  <a:srgbClr val="FFFFFF"/>
                </a:solidFill>
                <a:latin typeface="Arial"/>
                <a:ea typeface="Arial"/>
                <a:cs typeface="Arial"/>
              </a:defRPr>
            </a:pPr>
            <a:r>
              <a:rPr sz="2025" b="1">
                <a:solidFill>
                  <a:srgbClr val="FFFFFF"/>
                </a:solidFill>
                <a:latin typeface="Arial"/>
                <a:ea typeface="Arial"/>
                <a:cs typeface="Arial"/>
              </a:rPr>
              <a:t>7. Bốn phân khúc khách hàng tạo ra mức doanh thu rất khác nhau</a:t>
            </a:r>
          </a:p>
        </p:txBody>
      </p:sp>
      <p:sp>
        <p:nvSpPr>
          <p:cNvPr id="3" name="Rectangle 2">
            <a:extLst xmlns:a="http://schemas.openxmlformats.org/drawingml/2006/main">
              <a:ext uri="{FF2B5EF4-FFF2-40B4-BE49-F238E27FC236}">
                <a16:creationId xmlns:a16="http://schemas.microsoft.com/office/drawing/2014/main" id="{9CD46D19-DC44-44A9-B892-4C9DC94BC87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08</a:t>
            </a:r>
          </a:p>
        </p:txBody>
      </p:sp>
      <p:graphicFrame>
        <p:nvGraphicFramePr>
          <p:cNvPr id="16" name="Chart"/>
          <p:cNvGraphicFramePr/>
          <p:nvPr/>
        </p:nvGraphicFramePr>
        <p:xfrm>
          <a:off xmlns:a="http://schemas.openxmlformats.org/drawingml/2006/main" x="419100" y="1104900"/>
          <a:ext xmlns:a="http://schemas.openxmlformats.org/drawingml/2006/main" cx="5715000" cy="3333750"/>
        </p:xfrm>
        <a:graphic xmlns:a="http://schemas.openxmlformats.org/drawingml/2006/main">
          <a:graphicData uri="http://schemas.openxmlformats.org/drawingml/2006/chart">
            <c:chart xmlns:r="http://schemas.openxmlformats.org/officeDocument/2006/relationships" xmlns:c="http://schemas.openxmlformats.org/drawingml/2006/chart" r:id="Rfba32e46bb4f4b05"/>
          </a:graphicData>
        </a:graphic>
      </p:graphicFrame>
      <p:graphicFrame>
        <p:nvGraphicFramePr>
          <p:cNvPr id="17" name="Table 13"/>
          <p:cNvGraphicFramePr/>
          <p:nvPr/>
        </p:nvGraphicFramePr>
        <p:xfrm>
          <a:off xmlns:a="http://schemas.openxmlformats.org/drawingml/2006/main" x="6381750" y="1143000"/>
          <a:ext xmlns:a="http://schemas.openxmlformats.org/drawingml/2006/main" cx="5334000" cy="3219450"/>
        </p:xfrm>
        <a:graphic xmlns:a="http://schemas.openxmlformats.org/drawingml/2006/main">
          <a:graphicData uri="http://schemas.openxmlformats.org/drawingml/2006/table">
            <a:tbl>
              <a:tblPr/>
              <a:tblGrid>
                <a:gridCol w="1238250"/>
                <a:gridCol w="904875"/>
                <a:gridCol w="857250"/>
                <a:gridCol w="523875"/>
                <a:gridCol w="904875"/>
                <a:gridCol w="904875"/>
              </a:tblGrid>
              <a:tr h="643890">
                <a:tc>
                  <a:txBody>
                    <a:bodyPr/>
                    <a:lstStyle/>
                    <a:p>
                      <a:r>
                        <a:rPr sz="1650">
                          <a:latin typeface="Arial"/>
                          <a:ea typeface="Arial"/>
                          <a:cs typeface="Arial"/>
                        </a:rPr>
                        <a:t>Nhóm</a:t>
                      </a:r>
                    </a:p>
                  </a:txBody>
                  <a:tcPr marL="91440" marR="91440" marT="45720" marB="45720"/>
                </a:tc>
                <a:tc>
                  <a:txBody>
                    <a:bodyPr/>
                    <a:lstStyle/>
                    <a:p>
                      <a:r>
                        <a:rPr sz="1650">
                          <a:latin typeface="Arial"/>
                          <a:ea typeface="Arial"/>
                          <a:cs typeface="Arial"/>
                        </a:rPr>
                        <a:t>SL khách</a:t>
                      </a:r>
                    </a:p>
                  </a:txBody>
                  <a:tcPr marL="91440" marR="91440" marT="45720" marB="45720"/>
                </a:tc>
                <a:tc>
                  <a:txBody>
                    <a:bodyPr/>
                    <a:lstStyle/>
                    <a:p>
                      <a:r>
                        <a:rPr sz="1650">
                          <a:latin typeface="Arial"/>
                          <a:ea typeface="Arial"/>
                          <a:cs typeface="Arial"/>
                        </a:rPr>
                        <a:t>R</a:t>
                      </a:r>
                    </a:p>
                  </a:txBody>
                  <a:tcPr marL="91440" marR="91440" marT="45720" marB="45720"/>
                </a:tc>
                <a:tc>
                  <a:txBody>
                    <a:bodyPr/>
                    <a:lstStyle/>
                    <a:p>
                      <a:r>
                        <a:rPr sz="1650">
                          <a:latin typeface="Arial"/>
                          <a:ea typeface="Arial"/>
                          <a:cs typeface="Arial"/>
                        </a:rPr>
                        <a:t>F</a:t>
                      </a:r>
                    </a:p>
                  </a:txBody>
                  <a:tcPr marL="91440" marR="91440" marT="45720" marB="45720"/>
                </a:tc>
                <a:tc>
                  <a:txBody>
                    <a:bodyPr/>
                    <a:lstStyle/>
                    <a:p>
                      <a:r>
                        <a:rPr sz="1650">
                          <a:latin typeface="Arial"/>
                          <a:ea typeface="Arial"/>
                          <a:cs typeface="Arial"/>
                        </a:rPr>
                        <a:t>M</a:t>
                      </a:r>
                    </a:p>
                  </a:txBody>
                  <a:tcPr marL="91440" marR="91440" marT="45720" marB="45720"/>
                </a:tc>
                <a:tc>
                  <a:txBody>
                    <a:bodyPr/>
                    <a:lstStyle/>
                    <a:p>
                      <a:r>
                        <a:rPr sz="1650">
                          <a:latin typeface="Arial"/>
                          <a:ea typeface="Arial"/>
                          <a:cs typeface="Arial"/>
                        </a:rPr>
                        <a:t>DT</a:t>
                      </a:r>
                    </a:p>
                  </a:txBody>
                  <a:tcPr marL="91440" marR="91440" marT="45720" marB="45720"/>
                </a:tc>
              </a:tr>
              <a:tr h="643890">
                <a:tc>
                  <a:txBody>
                    <a:bodyPr/>
                    <a:lstStyle/>
                    <a:p>
                      <a:r>
                        <a:rPr sz="1650">
                          <a:latin typeface="Arial"/>
                          <a:ea typeface="Arial"/>
                          <a:cs typeface="Arial"/>
                        </a:rPr>
                        <a:t>Ngủ quên</a:t>
                      </a:r>
                    </a:p>
                  </a:txBody>
                  <a:tcPr marL="91440" marR="91440" marT="45720" marB="45720"/>
                </a:tc>
                <a:tc>
                  <a:txBody>
                    <a:bodyPr/>
                    <a:lstStyle/>
                    <a:p>
                      <a:r>
                        <a:rPr sz="1650">
                          <a:latin typeface="Arial"/>
                          <a:ea typeface="Arial"/>
                          <a:cs typeface="Arial"/>
                        </a:rPr>
                        <a:t>1.488</a:t>
                      </a:r>
                    </a:p>
                  </a:txBody>
                  <a:tcPr marL="91440" marR="91440" marT="45720" marB="45720"/>
                </a:tc>
                <a:tc>
                  <a:txBody>
                    <a:bodyPr/>
                    <a:lstStyle/>
                    <a:p>
                      <a:r>
                        <a:rPr sz="1650">
                          <a:latin typeface="Arial"/>
                          <a:ea typeface="Arial"/>
                          <a:cs typeface="Arial"/>
                        </a:rPr>
                        <a:t>190 ngày</a:t>
                      </a:r>
                    </a:p>
                  </a:txBody>
                  <a:tcPr marL="91440" marR="91440" marT="45720" marB="45720"/>
                </a:tc>
                <a:tc>
                  <a:txBody>
                    <a:bodyPr/>
                    <a:lstStyle/>
                    <a:p>
                      <a:r>
                        <a:rPr sz="1650">
                          <a:latin typeface="Arial"/>
                          <a:ea typeface="Arial"/>
                          <a:cs typeface="Arial"/>
                        </a:rPr>
                        <a:t>1</a:t>
                      </a:r>
                    </a:p>
                  </a:txBody>
                  <a:tcPr marL="91440" marR="91440" marT="45720" marB="45720"/>
                </a:tc>
                <a:tc>
                  <a:txBody>
                    <a:bodyPr/>
                    <a:lstStyle/>
                    <a:p>
                      <a:r>
                        <a:rPr sz="1650">
                          <a:latin typeface="Arial"/>
                          <a:ea typeface="Arial"/>
                          <a:cs typeface="Arial"/>
                        </a:rPr>
                        <a:t>£293</a:t>
                      </a:r>
                    </a:p>
                  </a:txBody>
                  <a:tcPr marL="91440" marR="91440" marT="45720" marB="45720"/>
                </a:tc>
                <a:tc>
                  <a:txBody>
                    <a:bodyPr/>
                    <a:lstStyle/>
                    <a:p>
                      <a:r>
                        <a:rPr sz="1650">
                          <a:latin typeface="Arial"/>
                          <a:ea typeface="Arial"/>
                          <a:cs typeface="Arial"/>
                        </a:rPr>
                        <a:t>5,7%</a:t>
                      </a:r>
                    </a:p>
                  </a:txBody>
                  <a:tcPr marL="91440" marR="91440" marT="45720" marB="45720"/>
                </a:tc>
              </a:tr>
              <a:tr h="643890">
                <a:tc>
                  <a:txBody>
                    <a:bodyPr/>
                    <a:lstStyle/>
                    <a:p>
                      <a:r>
                        <a:rPr sz="1650" b="1">
                          <a:latin typeface="Arial"/>
                          <a:ea typeface="Arial"/>
                          <a:cs typeface="Arial"/>
                        </a:rPr>
                        <a:t>Giá trị cao</a:t>
                      </a:r>
                    </a:p>
                  </a:txBody>
                  <a:tcPr marL="91440" marR="91440" marT="45720" marB="45720">
                    <a:solidFill>
                      <a:srgbClr val="EAF7EE"/>
                    </a:solidFill>
                  </a:tcPr>
                </a:tc>
                <a:tc>
                  <a:txBody>
                    <a:bodyPr/>
                    <a:lstStyle/>
                    <a:p>
                      <a:r>
                        <a:rPr sz="1650" b="1">
                          <a:latin typeface="Arial"/>
                          <a:ea typeface="Arial"/>
                          <a:cs typeface="Arial"/>
                        </a:rPr>
                        <a:t>766</a:t>
                      </a:r>
                    </a:p>
                  </a:txBody>
                  <a:tcPr marL="91440" marR="91440" marT="45720" marB="45720">
                    <a:solidFill>
                      <a:srgbClr val="EAF7EE"/>
                    </a:solidFill>
                  </a:tcPr>
                </a:tc>
                <a:tc>
                  <a:txBody>
                    <a:bodyPr/>
                    <a:lstStyle/>
                    <a:p>
                      <a:r>
                        <a:rPr sz="1650" b="1">
                          <a:latin typeface="Arial"/>
                          <a:ea typeface="Arial"/>
                          <a:cs typeface="Arial"/>
                        </a:rPr>
                        <a:t>9 ngày</a:t>
                      </a:r>
                    </a:p>
                  </a:txBody>
                  <a:tcPr marL="91440" marR="91440" marT="45720" marB="45720">
                    <a:solidFill>
                      <a:srgbClr val="EAF7EE"/>
                    </a:solidFill>
                  </a:tcPr>
                </a:tc>
                <a:tc>
                  <a:txBody>
                    <a:bodyPr/>
                    <a:lstStyle/>
                    <a:p>
                      <a:r>
                        <a:rPr sz="1650" b="1">
                          <a:latin typeface="Arial"/>
                          <a:ea typeface="Arial"/>
                          <a:cs typeface="Arial"/>
                        </a:rPr>
                        <a:t>9,5</a:t>
                      </a:r>
                    </a:p>
                  </a:txBody>
                  <a:tcPr marL="91440" marR="91440" marT="45720" marB="45720">
                    <a:solidFill>
                      <a:srgbClr val="EAF7EE"/>
                    </a:solidFill>
                  </a:tcPr>
                </a:tc>
                <a:tc>
                  <a:txBody>
                    <a:bodyPr/>
                    <a:lstStyle/>
                    <a:p>
                      <a:r>
                        <a:rPr sz="1650" b="1">
                          <a:latin typeface="Arial"/>
                          <a:ea typeface="Arial"/>
                          <a:cs typeface="Arial"/>
                        </a:rPr>
                        <a:t>£3.553</a:t>
                      </a:r>
                    </a:p>
                  </a:txBody>
                  <a:tcPr marL="91440" marR="91440" marT="45720" marB="45720">
                    <a:solidFill>
                      <a:srgbClr val="EAF7EE"/>
                    </a:solidFill>
                  </a:tcPr>
                </a:tc>
                <a:tc>
                  <a:txBody>
                    <a:bodyPr/>
                    <a:lstStyle/>
                    <a:p>
                      <a:r>
                        <a:rPr sz="1650" b="1">
                          <a:latin typeface="Arial"/>
                          <a:ea typeface="Arial"/>
                          <a:cs typeface="Arial"/>
                        </a:rPr>
                        <a:t>66,0%</a:t>
                      </a:r>
                    </a:p>
                  </a:txBody>
                  <a:tcPr marL="91440" marR="91440" marT="45720" marB="45720">
                    <a:solidFill>
                      <a:srgbClr val="EAF7EE"/>
                    </a:solidFill>
                  </a:tcPr>
                </a:tc>
              </a:tr>
              <a:tr h="643890">
                <a:tc>
                  <a:txBody>
                    <a:bodyPr/>
                    <a:lstStyle/>
                    <a:p>
                      <a:r>
                        <a:rPr sz="1650">
                          <a:latin typeface="Arial"/>
                          <a:ea typeface="Arial"/>
                          <a:cs typeface="Arial"/>
                        </a:rPr>
                        <a:t>Mới/ít mua</a:t>
                      </a:r>
                    </a:p>
                  </a:txBody>
                  <a:tcPr marL="91440" marR="91440" marT="45720" marB="45720"/>
                </a:tc>
                <a:tc>
                  <a:txBody>
                    <a:bodyPr/>
                    <a:lstStyle/>
                    <a:p>
                      <a:r>
                        <a:rPr sz="1650">
                          <a:latin typeface="Arial"/>
                          <a:ea typeface="Arial"/>
                          <a:cs typeface="Arial"/>
                        </a:rPr>
                        <a:t>883</a:t>
                      </a:r>
                    </a:p>
                  </a:txBody>
                  <a:tcPr marL="91440" marR="91440" marT="45720" marB="45720"/>
                </a:tc>
                <a:tc>
                  <a:txBody>
                    <a:bodyPr/>
                    <a:lstStyle/>
                    <a:p>
                      <a:r>
                        <a:rPr sz="1650">
                          <a:latin typeface="Arial"/>
                          <a:ea typeface="Arial"/>
                          <a:cs typeface="Arial"/>
                        </a:rPr>
                        <a:t>20 ngày</a:t>
                      </a:r>
                    </a:p>
                  </a:txBody>
                  <a:tcPr marL="91440" marR="91440" marT="45720" marB="45720"/>
                </a:tc>
                <a:tc>
                  <a:txBody>
                    <a:bodyPr/>
                    <a:lstStyle/>
                    <a:p>
                      <a:r>
                        <a:rPr sz="1650">
                          <a:latin typeface="Arial"/>
                          <a:ea typeface="Arial"/>
                          <a:cs typeface="Arial"/>
                        </a:rPr>
                        <a:t>2</a:t>
                      </a:r>
                    </a:p>
                  </a:txBody>
                  <a:tcPr marL="91440" marR="91440" marT="45720" marB="45720"/>
                </a:tc>
                <a:tc>
                  <a:txBody>
                    <a:bodyPr/>
                    <a:lstStyle/>
                    <a:p>
                      <a:r>
                        <a:rPr sz="1650">
                          <a:latin typeface="Arial"/>
                          <a:ea typeface="Arial"/>
                          <a:cs typeface="Arial"/>
                        </a:rPr>
                        <a:t>£409</a:t>
                      </a:r>
                    </a:p>
                  </a:txBody>
                  <a:tcPr marL="91440" marR="91440" marT="45720" marB="45720"/>
                </a:tc>
                <a:tc>
                  <a:txBody>
                    <a:bodyPr/>
                    <a:lstStyle/>
                    <a:p>
                      <a:r>
                        <a:rPr sz="1650">
                          <a:latin typeface="Arial"/>
                          <a:ea typeface="Arial"/>
                          <a:cs typeface="Arial"/>
                        </a:rPr>
                        <a:t>4,7%</a:t>
                      </a:r>
                    </a:p>
                  </a:txBody>
                  <a:tcPr marL="91440" marR="91440" marT="45720" marB="45720"/>
                </a:tc>
              </a:tr>
              <a:tr h="643890">
                <a:tc>
                  <a:txBody>
                    <a:bodyPr/>
                    <a:lstStyle/>
                    <a:p>
                      <a:r>
                        <a:rPr sz="1650">
                          <a:latin typeface="Arial"/>
                          <a:ea typeface="Arial"/>
                          <a:cs typeface="Arial"/>
                        </a:rPr>
                        <a:t>Khách cốt lõi</a:t>
                      </a:r>
                    </a:p>
                  </a:txBody>
                  <a:tcPr marL="91440" marR="91440" marT="45720" marB="45720"/>
                </a:tc>
                <a:tc>
                  <a:txBody>
                    <a:bodyPr/>
                    <a:lstStyle/>
                    <a:p>
                      <a:r>
                        <a:rPr sz="1650">
                          <a:latin typeface="Arial"/>
                          <a:ea typeface="Arial"/>
                          <a:cs typeface="Arial"/>
                        </a:rPr>
                        <a:t>1.201</a:t>
                      </a:r>
                    </a:p>
                  </a:txBody>
                  <a:tcPr marL="91440" marR="91440" marT="45720" marB="45720"/>
                </a:tc>
                <a:tc>
                  <a:txBody>
                    <a:bodyPr/>
                    <a:lstStyle/>
                    <a:p>
                      <a:r>
                        <a:rPr sz="1650">
                          <a:latin typeface="Arial"/>
                          <a:ea typeface="Arial"/>
                          <a:cs typeface="Arial"/>
                        </a:rPr>
                        <a:t>57 ngày</a:t>
                      </a:r>
                    </a:p>
                  </a:txBody>
                  <a:tcPr marL="91440" marR="91440" marT="45720" marB="45720"/>
                </a:tc>
                <a:tc>
                  <a:txBody>
                    <a:bodyPr/>
                    <a:lstStyle/>
                    <a:p>
                      <a:r>
                        <a:rPr sz="1650">
                          <a:latin typeface="Arial"/>
                          <a:ea typeface="Arial"/>
                          <a:cs typeface="Arial"/>
                        </a:rPr>
                        <a:t>4</a:t>
                      </a:r>
                    </a:p>
                  </a:txBody>
                  <a:tcPr marL="91440" marR="91440" marT="45720" marB="45720"/>
                </a:tc>
                <a:tc>
                  <a:txBody>
                    <a:bodyPr/>
                    <a:lstStyle/>
                    <a:p>
                      <a:r>
                        <a:rPr sz="1650">
                          <a:latin typeface="Arial"/>
                          <a:ea typeface="Arial"/>
                          <a:cs typeface="Arial"/>
                        </a:rPr>
                        <a:t>£1.309</a:t>
                      </a:r>
                    </a:p>
                  </a:txBody>
                  <a:tcPr marL="91440" marR="91440" marT="45720" marB="45720"/>
                </a:tc>
                <a:tc>
                  <a:txBody>
                    <a:bodyPr/>
                    <a:lstStyle/>
                    <a:p>
                      <a:r>
                        <a:rPr sz="1650">
                          <a:latin typeface="Arial"/>
                          <a:ea typeface="Arial"/>
                          <a:cs typeface="Arial"/>
                        </a:rPr>
                        <a:t>23,7%</a:t>
                      </a:r>
                    </a:p>
                  </a:txBody>
                  <a:tcPr marL="91440" marR="91440" marT="45720" marB="45720"/>
                </a:tc>
              </a:tr>
            </a:tbl>
          </a:graphicData>
        </a:graphic>
      </p:graphicFrame>
      <p:sp>
        <p:nvSpPr>
          <p:cNvPr id="6" name="Rectangle: Rounded Corners 5">
            <a:extLst xmlns:a="http://schemas.openxmlformats.org/drawingml/2006/main">
              <a:ext uri="{FF2B5EF4-FFF2-40B4-BE49-F238E27FC236}">
                <a16:creationId xmlns:a16="http://schemas.microsoft.com/office/drawing/2014/main" id="{84351F74-D859-4972-93D0-D051DE630130}"/>
              </a:ext>
            </a:extLst>
          </p:cNvPr>
          <p:cNvSpPr>
            <a:spLocks xmlns:a="http://schemas.openxmlformats.org/drawingml/2006/main" noGrp="1"/>
          </p:cNvSpPr>
          <p:nvPr/>
        </p:nvSpPr>
        <p:spPr>
          <a:xfrm xmlns:a="http://schemas.openxmlformats.org/drawingml/2006/main">
            <a:off x="552450" y="4857750"/>
            <a:ext cx="11087100" cy="1162050"/>
          </a:xfrm>
          <a:prstGeom xmlns:a="http://schemas.openxmlformats.org/drawingml/2006/main" prst="roundRect">
            <a:avLst>
              <a:gd name="adj" fmla="val 6557"/>
            </a:avLst>
          </a:prstGeom>
          <a:solidFill xmlns:a="http://schemas.openxmlformats.org/drawingml/2006/main">
            <a:srgbClr val="F4F7FA"/>
          </a:solidFill>
          <a:ln xmlns:a="http://schemas.openxmlformats.org/drawingml/2006/main" w="9525">
            <a:solidFill>
              <a:srgbClr val="D7E0E8"/>
            </a:solidFill>
          </a:ln>
        </p:spPr>
      </p:sp>
      <p:sp>
        <p:nvSpPr>
          <p:cNvPr id="7" name="Rectangle 6">
            <a:extLst xmlns:a="http://schemas.openxmlformats.org/drawingml/2006/main">
              <a:ext uri="{FF2B5EF4-FFF2-40B4-BE49-F238E27FC236}">
                <a16:creationId xmlns:a16="http://schemas.microsoft.com/office/drawing/2014/main" id="{48FDDD0E-0092-41EC-896D-E6E883A0298B}"/>
              </a:ext>
            </a:extLst>
          </p:cNvPr>
          <p:cNvSpPr>
            <a:spLocks xmlns:a="http://schemas.openxmlformats.org/drawingml/2006/main" noGrp="1"/>
          </p:cNvSpPr>
          <p:nvPr/>
        </p:nvSpPr>
        <p:spPr>
          <a:xfrm xmlns:a="http://schemas.openxmlformats.org/drawingml/2006/main">
            <a:off x="781050" y="501015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1500" b="1">
                <a:solidFill>
                  <a:srgbClr val="182D4B"/>
                </a:solidFill>
                <a:latin typeface="Arial"/>
                <a:ea typeface="Arial"/>
                <a:cs typeface="Arial"/>
              </a:defRPr>
            </a:pPr>
            <a:r>
              <a:rPr sz="1500" b="1">
                <a:solidFill>
                  <a:srgbClr val="182D4B"/>
                </a:solidFill>
                <a:latin typeface="Arial"/>
                <a:ea typeface="Arial"/>
                <a:cs typeface="Arial"/>
              </a:rPr>
              <a:t>Hành động đề xuất</a:t>
            </a:r>
          </a:p>
        </p:txBody>
      </p:sp>
      <p:sp>
        <p:nvSpPr>
          <p:cNvPr id="8" name="Rectangle 7">
            <a:extLst xmlns:a="http://schemas.openxmlformats.org/drawingml/2006/main">
              <a:ext uri="{FF2B5EF4-FFF2-40B4-BE49-F238E27FC236}">
                <a16:creationId xmlns:a16="http://schemas.microsoft.com/office/drawing/2014/main" id="{CA2C7EA3-C65E-4A57-828C-D840289AAC3E}"/>
              </a:ext>
            </a:extLst>
          </p:cNvPr>
          <p:cNvSpPr>
            <a:spLocks xmlns:a="http://schemas.openxmlformats.org/drawingml/2006/main" noGrp="1"/>
          </p:cNvSpPr>
          <p:nvPr/>
        </p:nvSpPr>
        <p:spPr>
          <a:xfrm xmlns:a="http://schemas.openxmlformats.org/drawingml/2006/main">
            <a:off x="781050" y="5391150"/>
            <a:ext cx="104584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1F2937"/>
                </a:solidFill>
                <a:latin typeface="Arial"/>
                <a:ea typeface="Arial"/>
                <a:cs typeface="Arial"/>
              </a:defRPr>
            </a:pPr>
            <a:r>
              <a:rPr sz="1275" b="0">
                <a:solidFill>
                  <a:srgbClr val="1F2937"/>
                </a:solidFill>
                <a:latin typeface="Arial"/>
                <a:ea typeface="Arial"/>
                <a:cs typeface="Arial"/>
              </a:rPr>
              <a:t>Giá trị cao: ưu tiên giữ chân và đặc quyền.   Khách cốt lõi: bán thêm theo lịch mua.   Mới/ít mua: kích hoạt lần mua thứ hai.   Ngủ quên: chiến dịch tái kích hoạt có kiểm soát.</a:t>
            </a:r>
          </a:p>
        </p:txBody>
      </p:sp>
      <p:sp>
        <p:nvSpPr>
          <p:cNvPr id="9" name="Rectangle 8">
            <a:extLst xmlns:a="http://schemas.openxmlformats.org/drawingml/2006/main">
              <a:ext uri="{FF2B5EF4-FFF2-40B4-BE49-F238E27FC236}">
                <a16:creationId xmlns:a16="http://schemas.microsoft.com/office/drawing/2014/main" id="{493D636E-940C-479F-9AAE-4FBA2527FF1F}"/>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UCI Online Retail; tính toán từ file Online Retail.xlsx</a:t>
            </a:r>
          </a:p>
        </p:txBody>
      </p:sp>
    </p:spTree>
    <p:extLst>
      <p:ext uri="{BB962C8B-B14F-4D97-AF65-F5344CB8AC3E}">
        <p14:creationId xmlns:p14="http://schemas.microsoft.com/office/powerpoint/2010/main" val="183242407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Rectangle 23">
            <a:extLst xmlns:a="http://schemas.openxmlformats.org/drawingml/2006/main">
              <a:ext uri="{FF2B5EF4-FFF2-40B4-BE49-F238E27FC236}">
                <a16:creationId xmlns:a16="http://schemas.microsoft.com/office/drawing/2014/main" id="{5C6BB90F-6EC7-4EE7-A110-991AADB2BB3E}"/>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8D530BC0-8E72-48A6-87FE-7B5F54A441A9}"/>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8. Apriori: 180 luật mua kèm đạt ngưỡng mới</a:t>
            </a:r>
          </a:p>
        </p:txBody>
      </p:sp>
      <p:sp>
        <p:nvSpPr>
          <p:cNvPr id="3" name="Rectangle 2">
            <a:extLst xmlns:a="http://schemas.openxmlformats.org/drawingml/2006/main">
              <a:ext uri="{FF2B5EF4-FFF2-40B4-BE49-F238E27FC236}">
                <a16:creationId xmlns:a16="http://schemas.microsoft.com/office/drawing/2014/main" id="{4524F7E2-80B5-4CCD-A6B1-16B12E96E844}"/>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09</a:t>
            </a:r>
          </a:p>
        </p:txBody>
      </p:sp>
      <p:sp>
        <p:nvSpPr>
          <p:cNvPr id="4" name="Rectangle: Rounded Corners 3">
            <a:extLst xmlns:a="http://schemas.openxmlformats.org/drawingml/2006/main">
              <a:ext uri="{FF2B5EF4-FFF2-40B4-BE49-F238E27FC236}">
                <a16:creationId xmlns:a16="http://schemas.microsoft.com/office/drawing/2014/main" id="{A5D3A243-6DC9-41CA-A0D6-BD836F031CCA}"/>
              </a:ext>
            </a:extLst>
          </p:cNvPr>
          <p:cNvSpPr>
            <a:spLocks xmlns:a="http://schemas.openxmlformats.org/drawingml/2006/main" noGrp="1"/>
          </p:cNvSpPr>
          <p:nvPr/>
        </p:nvSpPr>
        <p:spPr>
          <a:xfrm xmlns:a="http://schemas.openxmlformats.org/drawingml/2006/main">
            <a:off x="457200" y="914400"/>
            <a:ext cx="285750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5" name="Rectangle 4">
            <a:extLst xmlns:a="http://schemas.openxmlformats.org/drawingml/2006/main">
              <a:ext uri="{FF2B5EF4-FFF2-40B4-BE49-F238E27FC236}">
                <a16:creationId xmlns:a16="http://schemas.microsoft.com/office/drawing/2014/main" id="{D825A60A-2C77-40BE-9D27-5DA594080C77}"/>
              </a:ext>
            </a:extLst>
          </p:cNvPr>
          <p:cNvSpPr>
            <a:spLocks xmlns:a="http://schemas.openxmlformats.org/drawingml/2006/main" noGrp="1"/>
          </p:cNvSpPr>
          <p:nvPr/>
        </p:nvSpPr>
        <p:spPr>
          <a:xfrm xmlns:a="http://schemas.openxmlformats.org/drawingml/2006/main">
            <a:off x="457200" y="914400"/>
            <a:ext cx="66675" cy="971550"/>
          </a:xfrm>
          <a:prstGeom xmlns:a="http://schemas.openxmlformats.org/drawingml/2006/main" prst="rect">
            <a:avLst/>
          </a:prstGeom>
          <a:solidFill xmlns:a="http://schemas.openxmlformats.org/drawingml/2006/main">
            <a:srgbClr val="2696C5"/>
          </a:solidFill>
          <a:ln xmlns:a="http://schemas.openxmlformats.org/drawingml/2006/main" w="0">
            <a:solidFill>
              <a:srgbClr val="2696C5"/>
            </a:solidFill>
          </a:ln>
        </p:spPr>
      </p:sp>
      <p:sp>
        <p:nvSpPr>
          <p:cNvPr id="6" name="Rectangle 5">
            <a:extLst xmlns:a="http://schemas.openxmlformats.org/drawingml/2006/main">
              <a:ext uri="{FF2B5EF4-FFF2-40B4-BE49-F238E27FC236}">
                <a16:creationId xmlns:a16="http://schemas.microsoft.com/office/drawing/2014/main" id="{45C76EF3-3BBE-4ADB-8FA9-5A67D0D5AFD8}"/>
              </a:ext>
            </a:extLst>
          </p:cNvPr>
          <p:cNvSpPr>
            <a:spLocks xmlns:a="http://schemas.openxmlformats.org/drawingml/2006/main" noGrp="1"/>
          </p:cNvSpPr>
          <p:nvPr/>
        </p:nvSpPr>
        <p:spPr>
          <a:xfrm xmlns:a="http://schemas.openxmlformats.org/drawingml/2006/main">
            <a:off x="666750" y="1028700"/>
            <a:ext cx="2533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16.506</a:t>
            </a:r>
          </a:p>
        </p:txBody>
      </p:sp>
      <p:sp>
        <p:nvSpPr>
          <p:cNvPr id="7" name="Rectangle 6">
            <a:extLst xmlns:a="http://schemas.openxmlformats.org/drawingml/2006/main">
              <a:ext uri="{FF2B5EF4-FFF2-40B4-BE49-F238E27FC236}">
                <a16:creationId xmlns:a16="http://schemas.microsoft.com/office/drawing/2014/main" id="{8E8DC4BC-D1EA-41B7-9B06-B26DAD865C6E}"/>
              </a:ext>
            </a:extLst>
          </p:cNvPr>
          <p:cNvSpPr>
            <a:spLocks xmlns:a="http://schemas.openxmlformats.org/drawingml/2006/main" noGrp="1"/>
          </p:cNvSpPr>
          <p:nvPr/>
        </p:nvSpPr>
        <p:spPr>
          <a:xfrm xmlns:a="http://schemas.openxmlformats.org/drawingml/2006/main">
            <a:off x="666750" y="14478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giỏ hàng UK có ít nhất 2 sản phẩm</a:t>
            </a:r>
          </a:p>
        </p:txBody>
      </p:sp>
      <p:sp>
        <p:nvSpPr>
          <p:cNvPr id="8" name="Rectangle: Rounded Corners 7">
            <a:extLst xmlns:a="http://schemas.openxmlformats.org/drawingml/2006/main">
              <a:ext uri="{FF2B5EF4-FFF2-40B4-BE49-F238E27FC236}">
                <a16:creationId xmlns:a16="http://schemas.microsoft.com/office/drawing/2014/main" id="{0E1D84E5-AB69-4D4B-BD3A-B0FDBF3C705A}"/>
              </a:ext>
            </a:extLst>
          </p:cNvPr>
          <p:cNvSpPr>
            <a:spLocks xmlns:a="http://schemas.openxmlformats.org/drawingml/2006/main" noGrp="1"/>
          </p:cNvSpPr>
          <p:nvPr/>
        </p:nvSpPr>
        <p:spPr>
          <a:xfrm xmlns:a="http://schemas.openxmlformats.org/drawingml/2006/main">
            <a:off x="3486150" y="914400"/>
            <a:ext cx="285750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9" name="Rectangle 8">
            <a:extLst xmlns:a="http://schemas.openxmlformats.org/drawingml/2006/main">
              <a:ext uri="{FF2B5EF4-FFF2-40B4-BE49-F238E27FC236}">
                <a16:creationId xmlns:a16="http://schemas.microsoft.com/office/drawing/2014/main" id="{C48EFDB6-A35C-4333-AFE6-1198B30381A9}"/>
              </a:ext>
            </a:extLst>
          </p:cNvPr>
          <p:cNvSpPr>
            <a:spLocks xmlns:a="http://schemas.openxmlformats.org/drawingml/2006/main" noGrp="1"/>
          </p:cNvSpPr>
          <p:nvPr/>
        </p:nvSpPr>
        <p:spPr>
          <a:xfrm xmlns:a="http://schemas.openxmlformats.org/drawingml/2006/main">
            <a:off x="3486150" y="914400"/>
            <a:ext cx="66675" cy="971550"/>
          </a:xfrm>
          <a:prstGeom xmlns:a="http://schemas.openxmlformats.org/drawingml/2006/main" prst="rect">
            <a:avLst/>
          </a:prstGeom>
          <a:solidFill xmlns:a="http://schemas.openxmlformats.org/drawingml/2006/main">
            <a:srgbClr val="26A69A"/>
          </a:solidFill>
          <a:ln xmlns:a="http://schemas.openxmlformats.org/drawingml/2006/main" w="0">
            <a:solidFill>
              <a:srgbClr val="26A69A"/>
            </a:solidFill>
          </a:ln>
        </p:spPr>
      </p:sp>
      <p:sp>
        <p:nvSpPr>
          <p:cNvPr id="10" name="Rectangle 9">
            <a:extLst xmlns:a="http://schemas.openxmlformats.org/drawingml/2006/main">
              <a:ext uri="{FF2B5EF4-FFF2-40B4-BE49-F238E27FC236}">
                <a16:creationId xmlns:a16="http://schemas.microsoft.com/office/drawing/2014/main" id="{FFBB74CA-81A3-4E2A-9ECD-DF99EDB0C375}"/>
              </a:ext>
            </a:extLst>
          </p:cNvPr>
          <p:cNvSpPr>
            <a:spLocks xmlns:a="http://schemas.openxmlformats.org/drawingml/2006/main" noGrp="1"/>
          </p:cNvSpPr>
          <p:nvPr/>
        </p:nvSpPr>
        <p:spPr>
          <a:xfrm xmlns:a="http://schemas.openxmlformats.org/drawingml/2006/main">
            <a:off x="3695700" y="1028700"/>
            <a:ext cx="2533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346</a:t>
            </a:r>
          </a:p>
        </p:txBody>
      </p:sp>
      <p:sp>
        <p:nvSpPr>
          <p:cNvPr id="11" name="Rectangle 10">
            <a:extLst xmlns:a="http://schemas.openxmlformats.org/drawingml/2006/main">
              <a:ext uri="{FF2B5EF4-FFF2-40B4-BE49-F238E27FC236}">
                <a16:creationId xmlns:a16="http://schemas.microsoft.com/office/drawing/2014/main" id="{4B5B5664-40B5-476F-9984-43B8CFC93D0D}"/>
              </a:ext>
            </a:extLst>
          </p:cNvPr>
          <p:cNvSpPr>
            <a:spLocks xmlns:a="http://schemas.openxmlformats.org/drawingml/2006/main" noGrp="1"/>
          </p:cNvSpPr>
          <p:nvPr/>
        </p:nvSpPr>
        <p:spPr>
          <a:xfrm xmlns:a="http://schemas.openxmlformats.org/drawingml/2006/main">
            <a:off x="3695700" y="14478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sản phẩm đạt support tối thiểu 2%</a:t>
            </a:r>
          </a:p>
        </p:txBody>
      </p:sp>
      <p:sp>
        <p:nvSpPr>
          <p:cNvPr id="12" name="Rectangle: Rounded Corners 11">
            <a:extLst xmlns:a="http://schemas.openxmlformats.org/drawingml/2006/main">
              <a:ext uri="{FF2B5EF4-FFF2-40B4-BE49-F238E27FC236}">
                <a16:creationId xmlns:a16="http://schemas.microsoft.com/office/drawing/2014/main" id="{0FEE94C6-5EDD-4552-B921-5AFF6DCA4B0A}"/>
              </a:ext>
            </a:extLst>
          </p:cNvPr>
          <p:cNvSpPr>
            <a:spLocks xmlns:a="http://schemas.openxmlformats.org/drawingml/2006/main" noGrp="1"/>
          </p:cNvSpPr>
          <p:nvPr/>
        </p:nvSpPr>
        <p:spPr>
          <a:xfrm xmlns:a="http://schemas.openxmlformats.org/drawingml/2006/main">
            <a:off x="6515100" y="914400"/>
            <a:ext cx="285750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13" name="Rectangle 12">
            <a:extLst xmlns:a="http://schemas.openxmlformats.org/drawingml/2006/main">
              <a:ext uri="{FF2B5EF4-FFF2-40B4-BE49-F238E27FC236}">
                <a16:creationId xmlns:a16="http://schemas.microsoft.com/office/drawing/2014/main" id="{A082D297-3594-44CA-BFF3-F74C5A1DB1DD}"/>
              </a:ext>
            </a:extLst>
          </p:cNvPr>
          <p:cNvSpPr>
            <a:spLocks xmlns:a="http://schemas.openxmlformats.org/drawingml/2006/main" noGrp="1"/>
          </p:cNvSpPr>
          <p:nvPr/>
        </p:nvSpPr>
        <p:spPr>
          <a:xfrm xmlns:a="http://schemas.openxmlformats.org/drawingml/2006/main">
            <a:off x="6515100" y="914400"/>
            <a:ext cx="66675" cy="971550"/>
          </a:xfrm>
          <a:prstGeom xmlns:a="http://schemas.openxmlformats.org/drawingml/2006/main" prst="rect">
            <a:avLst/>
          </a:prstGeom>
          <a:solidFill xmlns:a="http://schemas.openxmlformats.org/drawingml/2006/main">
            <a:srgbClr val="F59E42"/>
          </a:solidFill>
          <a:ln xmlns:a="http://schemas.openxmlformats.org/drawingml/2006/main" w="0">
            <a:solidFill>
              <a:srgbClr val="F59E42"/>
            </a:solidFill>
          </a:ln>
        </p:spPr>
      </p:sp>
      <p:sp>
        <p:nvSpPr>
          <p:cNvPr id="14" name="Rectangle 13">
            <a:extLst xmlns:a="http://schemas.openxmlformats.org/drawingml/2006/main">
              <a:ext uri="{FF2B5EF4-FFF2-40B4-BE49-F238E27FC236}">
                <a16:creationId xmlns:a16="http://schemas.microsoft.com/office/drawing/2014/main" id="{34375D93-C7BE-4A81-9BF3-45A84BADD0E1}"/>
              </a:ext>
            </a:extLst>
          </p:cNvPr>
          <p:cNvSpPr>
            <a:spLocks xmlns:a="http://schemas.openxmlformats.org/drawingml/2006/main" noGrp="1"/>
          </p:cNvSpPr>
          <p:nvPr/>
        </p:nvSpPr>
        <p:spPr>
          <a:xfrm xmlns:a="http://schemas.openxmlformats.org/drawingml/2006/main">
            <a:off x="6724650" y="1028700"/>
            <a:ext cx="2533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180</a:t>
            </a:r>
          </a:p>
        </p:txBody>
      </p:sp>
      <p:sp>
        <p:nvSpPr>
          <p:cNvPr id="15" name="Rectangle 14">
            <a:extLst xmlns:a="http://schemas.openxmlformats.org/drawingml/2006/main">
              <a:ext uri="{FF2B5EF4-FFF2-40B4-BE49-F238E27FC236}">
                <a16:creationId xmlns:a16="http://schemas.microsoft.com/office/drawing/2014/main" id="{0902425A-738D-4043-95B3-6A2370C1903F}"/>
              </a:ext>
            </a:extLst>
          </p:cNvPr>
          <p:cNvSpPr>
            <a:spLocks xmlns:a="http://schemas.openxmlformats.org/drawingml/2006/main" noGrp="1"/>
          </p:cNvSpPr>
          <p:nvPr/>
        </p:nvSpPr>
        <p:spPr>
          <a:xfrm xmlns:a="http://schemas.openxmlformats.org/drawingml/2006/main">
            <a:off x="6724650" y="1447800"/>
            <a:ext cx="25336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luật đạt support, confidence và lift</a:t>
            </a:r>
          </a:p>
        </p:txBody>
      </p:sp>
      <p:sp>
        <p:nvSpPr>
          <p:cNvPr id="16" name="Rectangle: Rounded Corners 15">
            <a:extLst xmlns:a="http://schemas.openxmlformats.org/drawingml/2006/main">
              <a:ext uri="{FF2B5EF4-FFF2-40B4-BE49-F238E27FC236}">
                <a16:creationId xmlns:a16="http://schemas.microsoft.com/office/drawing/2014/main" id="{0380BEBB-F0A1-419A-9FF2-F22EA933BEEF}"/>
              </a:ext>
            </a:extLst>
          </p:cNvPr>
          <p:cNvSpPr>
            <a:spLocks xmlns:a="http://schemas.openxmlformats.org/drawingml/2006/main" noGrp="1"/>
          </p:cNvSpPr>
          <p:nvPr/>
        </p:nvSpPr>
        <p:spPr>
          <a:xfrm xmlns:a="http://schemas.openxmlformats.org/drawingml/2006/main">
            <a:off x="9544050" y="914400"/>
            <a:ext cx="2190750" cy="971550"/>
          </a:xfrm>
          <a:prstGeom xmlns:a="http://schemas.openxmlformats.org/drawingml/2006/main" prst="roundRect">
            <a:avLst>
              <a:gd name="adj" fmla="val 9804"/>
            </a:avLst>
          </a:prstGeom>
          <a:solidFill xmlns:a="http://schemas.openxmlformats.org/drawingml/2006/main">
            <a:srgbClr val="F4F7FA"/>
          </a:solidFill>
          <a:ln xmlns:a="http://schemas.openxmlformats.org/drawingml/2006/main" w="9525">
            <a:solidFill>
              <a:srgbClr val="D7E0E8"/>
            </a:solidFill>
          </a:ln>
        </p:spPr>
      </p:sp>
      <p:sp>
        <p:nvSpPr>
          <p:cNvPr id="17" name="Rectangle 16">
            <a:extLst xmlns:a="http://schemas.openxmlformats.org/drawingml/2006/main">
              <a:ext uri="{FF2B5EF4-FFF2-40B4-BE49-F238E27FC236}">
                <a16:creationId xmlns:a16="http://schemas.microsoft.com/office/drawing/2014/main" id="{0F0AFE4C-5E79-4171-9A18-375CA6B200AB}"/>
              </a:ext>
            </a:extLst>
          </p:cNvPr>
          <p:cNvSpPr>
            <a:spLocks xmlns:a="http://schemas.openxmlformats.org/drawingml/2006/main" noGrp="1"/>
          </p:cNvSpPr>
          <p:nvPr/>
        </p:nvSpPr>
        <p:spPr>
          <a:xfrm xmlns:a="http://schemas.openxmlformats.org/drawingml/2006/main">
            <a:off x="9544050" y="914400"/>
            <a:ext cx="66675" cy="971550"/>
          </a:xfrm>
          <a:prstGeom xmlns:a="http://schemas.openxmlformats.org/drawingml/2006/main" prst="rect">
            <a:avLst/>
          </a:prstGeom>
          <a:solidFill xmlns:a="http://schemas.openxmlformats.org/drawingml/2006/main">
            <a:srgbClr val="28A745"/>
          </a:solidFill>
          <a:ln xmlns:a="http://schemas.openxmlformats.org/drawingml/2006/main" w="0">
            <a:solidFill>
              <a:srgbClr val="28A745"/>
            </a:solidFill>
          </a:ln>
        </p:spPr>
      </p:sp>
      <p:sp>
        <p:nvSpPr>
          <p:cNvPr id="18" name="Rectangle 17">
            <a:extLst xmlns:a="http://schemas.openxmlformats.org/drawingml/2006/main">
              <a:ext uri="{FF2B5EF4-FFF2-40B4-BE49-F238E27FC236}">
                <a16:creationId xmlns:a16="http://schemas.microsoft.com/office/drawing/2014/main" id="{42A8284C-174B-4B1B-90AF-518BF77F1966}"/>
              </a:ext>
            </a:extLst>
          </p:cNvPr>
          <p:cNvSpPr>
            <a:spLocks xmlns:a="http://schemas.openxmlformats.org/drawingml/2006/main" noGrp="1"/>
          </p:cNvSpPr>
          <p:nvPr/>
        </p:nvSpPr>
        <p:spPr>
          <a:xfrm xmlns:a="http://schemas.openxmlformats.org/drawingml/2006/main">
            <a:off x="9753600" y="102870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250" b="1">
                <a:solidFill>
                  <a:srgbClr val="182D4B"/>
                </a:solidFill>
                <a:latin typeface="Arial"/>
                <a:ea typeface="Arial"/>
                <a:cs typeface="Arial"/>
              </a:defRPr>
            </a:pPr>
            <a:r>
              <a:rPr sz="2250" b="1">
                <a:solidFill>
                  <a:srgbClr val="182D4B"/>
                </a:solidFill>
                <a:latin typeface="Arial"/>
                <a:ea typeface="Arial"/>
                <a:cs typeface="Arial"/>
              </a:rPr>
              <a:t>142</a:t>
            </a:r>
          </a:p>
        </p:txBody>
      </p:sp>
      <p:sp>
        <p:nvSpPr>
          <p:cNvPr id="19" name="Rectangle 18">
            <a:extLst xmlns:a="http://schemas.openxmlformats.org/drawingml/2006/main">
              <a:ext uri="{FF2B5EF4-FFF2-40B4-BE49-F238E27FC236}">
                <a16:creationId xmlns:a16="http://schemas.microsoft.com/office/drawing/2014/main" id="{D1750AC8-3CC7-4E7E-BA1D-56BE2D4C4484}"/>
              </a:ext>
            </a:extLst>
          </p:cNvPr>
          <p:cNvSpPr>
            <a:spLocks xmlns:a="http://schemas.openxmlformats.org/drawingml/2006/main" noGrp="1"/>
          </p:cNvSpPr>
          <p:nvPr/>
        </p:nvSpPr>
        <p:spPr>
          <a:xfrm xmlns:a="http://schemas.openxmlformats.org/drawingml/2006/main">
            <a:off x="9753600" y="1447800"/>
            <a:ext cx="18669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00" b="0">
                <a:solidFill>
                  <a:srgbClr val="5E6B7A"/>
                </a:solidFill>
                <a:latin typeface="Arial"/>
                <a:ea typeface="Arial"/>
                <a:cs typeface="Arial"/>
              </a:defRPr>
            </a:pPr>
            <a:r>
              <a:rPr sz="1200" b="0">
                <a:solidFill>
                  <a:srgbClr val="5E6B7A"/>
                </a:solidFill>
                <a:latin typeface="Arial"/>
                <a:ea typeface="Arial"/>
                <a:cs typeface="Arial"/>
              </a:rPr>
              <a:t>itemset gồm 2–3 sản phẩm</a:t>
            </a:r>
          </a:p>
        </p:txBody>
      </p:sp>
      <p:sp>
        <p:nvSpPr>
          <p:cNvPr id="21" name="Rectangle: Rounded Corners 20">
            <a:extLst xmlns:a="http://schemas.openxmlformats.org/drawingml/2006/main">
              <a:ext uri="{FF2B5EF4-FFF2-40B4-BE49-F238E27FC236}">
                <a16:creationId xmlns:a16="http://schemas.microsoft.com/office/drawing/2014/main" id="{DED9FB95-3F4F-48C5-AA07-E298E8052B4F}"/>
              </a:ext>
            </a:extLst>
          </p:cNvPr>
          <p:cNvSpPr>
            <a:spLocks xmlns:a="http://schemas.openxmlformats.org/drawingml/2006/main" noGrp="1"/>
          </p:cNvSpPr>
          <p:nvPr/>
        </p:nvSpPr>
        <p:spPr>
          <a:xfrm xmlns:a="http://schemas.openxmlformats.org/drawingml/2006/main">
            <a:off x="476250" y="5372100"/>
            <a:ext cx="11239500" cy="704850"/>
          </a:xfrm>
          <a:prstGeom xmlns:a="http://schemas.openxmlformats.org/drawingml/2006/main" prst="roundRect">
            <a:avLst>
              <a:gd name="adj" fmla="val 10811"/>
            </a:avLst>
          </a:prstGeom>
          <a:solidFill xmlns:a="http://schemas.openxmlformats.org/drawingml/2006/main">
            <a:srgbClr val="F4F7FA"/>
          </a:solidFill>
          <a:ln xmlns:a="http://schemas.openxmlformats.org/drawingml/2006/main" w="9525">
            <a:solidFill>
              <a:srgbClr val="D7E0E8"/>
            </a:solidFill>
          </a:ln>
        </p:spPr>
      </p:sp>
      <p:sp>
        <p:nvSpPr>
          <p:cNvPr id="22" name="Rectangle 21">
            <a:extLst xmlns:a="http://schemas.openxmlformats.org/drawingml/2006/main">
              <a:ext uri="{FF2B5EF4-FFF2-40B4-BE49-F238E27FC236}">
                <a16:creationId xmlns:a16="http://schemas.microsoft.com/office/drawing/2014/main" id="{0431C9AD-F125-44DA-8B95-B5766C889460}"/>
              </a:ext>
            </a:extLst>
          </p:cNvPr>
          <p:cNvSpPr>
            <a:spLocks xmlns:a="http://schemas.openxmlformats.org/drawingml/2006/main" noGrp="1"/>
          </p:cNvSpPr>
          <p:nvPr/>
        </p:nvSpPr>
        <p:spPr>
          <a:xfrm xmlns:a="http://schemas.openxmlformats.org/drawingml/2006/main">
            <a:off x="704850" y="5486400"/>
            <a:ext cx="107632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1275" b="0">
                <a:solidFill>
                  <a:srgbClr val="1F2937"/>
                </a:solidFill>
                <a:latin typeface="Arial"/>
                <a:ea typeface="Arial"/>
                <a:cs typeface="Arial"/>
              </a:defRPr>
            </a:pPr>
            <a:r>
              <a:rPr sz="1275" b="0">
                <a:solidFill>
                  <a:srgbClr val="1F2937"/>
                </a:solidFill>
                <a:latin typeface="Arial"/>
                <a:ea typeface="Arial"/>
                <a:cs typeface="Arial"/>
              </a:rPr>
              <a:t>Ngưỡng: support ≥ 2%, confidence ≥ 40%, lift ≥ 1,2. Tìm itemset tối đa 3 sản phẩm.</a:t>
            </a:r>
          </a:p>
          <a:p xmlns:a="http://schemas.openxmlformats.org/drawingml/2006/main">
            <a:pPr algn="l">
              <a:buNone/>
              <a:defRPr sz="1275" b="0">
                <a:solidFill>
                  <a:srgbClr val="1F2937"/>
                </a:solidFill>
                <a:latin typeface="Arial"/>
                <a:ea typeface="Arial"/>
                <a:cs typeface="Arial"/>
              </a:defRPr>
            </a:pPr>
            <a:r>
              <a:rPr sz="1275" b="0">
                <a:solidFill>
                  <a:srgbClr val="1F2937"/>
                </a:solidFill>
                <a:latin typeface="Arial"/>
                <a:ea typeface="Arial"/>
                <a:cs typeface="Arial"/>
              </a:rPr>
              <a:t>Ứng dụng: combo và bán kèm. Các tỷ lệ trong bảng làm tròn theo output notebook.</a:t>
            </a:r>
          </a:p>
        </p:txBody>
      </p:sp>
      <p:sp>
        <p:nvSpPr>
          <p:cNvPr id="23" name="Rectangle 22">
            <a:extLst xmlns:a="http://schemas.openxmlformats.org/drawingml/2006/main">
              <a:ext uri="{FF2B5EF4-FFF2-40B4-BE49-F238E27FC236}">
                <a16:creationId xmlns:a16="http://schemas.microsoft.com/office/drawing/2014/main" id="{3A66223A-F5A4-4F46-B4D8-E2D668BD2DE8}"/>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graphicFrame>
        <p:nvGraphicFramePr>
          <p:cNvPr id="48" name=""/>
          <p:cNvGraphicFramePr/>
          <p:nvPr/>
        </p:nvGraphicFramePr>
        <p:xfrm>
          <a:off xmlns:a="http://schemas.openxmlformats.org/drawingml/2006/main" x="476250" y="2238375"/>
          <a:ext xmlns:a="http://schemas.openxmlformats.org/drawingml/2006/main" cx="11239500" cy="2905125"/>
        </p:xfrm>
        <a:graphic xmlns:a="http://schemas.openxmlformats.org/drawingml/2006/main">
          <a:graphicData uri="http://schemas.openxmlformats.org/drawingml/2006/table">
            <a:tbl>
              <a:tblPr/>
              <a:tblGrid>
                <a:gridCol w="3048000"/>
                <a:gridCol w="3143250"/>
                <a:gridCol w="1524000"/>
                <a:gridCol w="1714500"/>
                <a:gridCol w="1809750"/>
              </a:tblGrid>
              <a:tr h="581025">
                <a:tc>
                  <a:txBody>
                    <a:bodyPr>
                      <a:noAutofit/>
                    </a:bodyPr>
                    <a:lstStyle/>
                    <a:p>
                      <a:r>
                        <a:rPr sz="1725" b="1">
                          <a:solidFill>
                            <a:srgbClr val="FFFFFF"/>
                          </a:solidFill>
                          <a:latin typeface="Arial"/>
                          <a:ea typeface="Arial"/>
                          <a:cs typeface="Arial"/>
                        </a:rPr>
                        <a:t>Nếu mua</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Thường mua thêm</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Support</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Confidence</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Lift</a:t>
                      </a:r>
                    </a:p>
                  </a:txBody>
                  <a:tcPr marL="91440" marR="91440" marT="45720" marB="45720">
                    <a:solidFill>
                      <a:srgbClr val="2696C5"/>
                    </a:solidFill>
                  </a:tcPr>
                </a:tc>
              </a:tr>
              <a:tr h="581025">
                <a:tc>
                  <a:txBody>
                    <a:bodyPr>
                      <a:noAutofit/>
                    </a:bodyPr>
                    <a:lstStyle/>
                    <a:p>
                      <a:r>
                        <a:rPr sz="1725" b="0">
                          <a:solidFill>
                            <a:srgbClr val="1F2937"/>
                          </a:solidFill>
                          <a:latin typeface="Arial"/>
                          <a:ea typeface="Arial"/>
                          <a:cs typeface="Arial"/>
                        </a:rPr>
                        <a:t>Bát Dolly Mix cam</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Bát Marshmallows hồng</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2,0%</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66,3%</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26,195</a:t>
                      </a:r>
                    </a:p>
                  </a:txBody>
                  <a:tcPr marL="91440" marR="91440" marT="45720" marB="45720">
                    <a:solidFill>
                      <a:srgbClr val="F4F7FA"/>
                    </a:solidFill>
                  </a:tcPr>
                </a:tc>
              </a:tr>
              <a:tr h="581025">
                <a:tc>
                  <a:txBody>
                    <a:bodyPr>
                      <a:noAutofit/>
                    </a:bodyPr>
                    <a:lstStyle/>
                    <a:p>
                      <a:r>
                        <a:rPr sz="1725" b="0">
                          <a:solidFill>
                            <a:srgbClr val="1F2937"/>
                          </a:solidFill>
                          <a:latin typeface="Arial"/>
                          <a:ea typeface="Arial"/>
                          <a:cs typeface="Arial"/>
                        </a:rPr>
                        <a:t>Sao gỗ Giáng sinh</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Tim gỗ Giáng sinh</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2,2%</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77,0%</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24,966</a:t>
                      </a:r>
                    </a:p>
                  </a:txBody>
                  <a:tcPr marL="91440" marR="91440" marT="45720" marB="45720">
                    <a:solidFill>
                      <a:srgbClr val="FFFFFF"/>
                    </a:solidFill>
                  </a:tcPr>
                </a:tc>
              </a:tr>
              <a:tr h="581025">
                <a:tc>
                  <a:txBody>
                    <a:bodyPr>
                      <a:noAutofit/>
                    </a:bodyPr>
                    <a:lstStyle/>
                    <a:p>
                      <a:r>
                        <a:rPr sz="1725" b="0">
                          <a:solidFill>
                            <a:srgbClr val="1F2937"/>
                          </a:solidFill>
                          <a:latin typeface="Arial"/>
                          <a:ea typeface="Arial"/>
                          <a:cs typeface="Arial"/>
                        </a:rPr>
                        <a:t>Tách Regency hồng</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Tách Regency xanh</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3,5%</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82,5%</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14,615</a:t>
                      </a:r>
                    </a:p>
                  </a:txBody>
                  <a:tcPr marL="91440" marR="91440" marT="45720" marB="45720">
                    <a:solidFill>
                      <a:srgbClr val="F4F7FA"/>
                    </a:solidFill>
                  </a:tcPr>
                </a:tc>
              </a:tr>
              <a:tr h="581025">
                <a:tc>
                  <a:txBody>
                    <a:bodyPr>
                      <a:noAutofit/>
                    </a:bodyPr>
                    <a:lstStyle/>
                    <a:p>
                      <a:r>
                        <a:rPr sz="1725" b="0">
                          <a:solidFill>
                            <a:srgbClr val="1F2937"/>
                          </a:solidFill>
                          <a:latin typeface="Arial"/>
                          <a:ea typeface="Arial"/>
                          <a:cs typeface="Arial"/>
                        </a:rPr>
                        <a:t>Hộp cơm Dolly Girl</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Hộp cơm Spaceboy</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2,6%</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60,9%</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14,350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51432958"/>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9. Mạng luật kết hợp làm rõ các nhóm mua kèm</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10</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6b33192a20fb46e6"/>
          <a:stretch xmlns:a="http://schemas.openxmlformats.org/drawingml/2006/main"/>
        </p:blipFill>
        <p:spPr>
          <a:xfrm xmlns:a="http://schemas.openxmlformats.org/drawingml/2006/main">
            <a:off x="471263" y="952500"/>
            <a:ext cx="7153723" cy="5381625"/>
          </a:xfrm>
          <a:prstGeom xmlns:a="http://schemas.openxmlformats.org/drawingml/2006/main" prst="rect">
            <a:avLst/>
          </a:prstGeom>
        </p:spPr>
      </p:pic>
      <p:sp>
        <p:nvSpPr>
          <p:cNvPr id="16" name="">
            <a:extLst xmlns:a="http://schemas.openxmlformats.org/drawingml/2006/main">
              <a:ext uri="{FF2B5EF4-FFF2-40B4-BE49-F238E27FC236}">
                <a16:creationId xmlns:a16="http://schemas.microsoft.com/office/drawing/2014/main" id="{5E9C1BDD-27E5-423D-AB61-CD904D921241}"/>
              </a:ext>
            </a:extLst>
          </p:cNvPr>
          <p:cNvSpPr>
            <a:spLocks xmlns:a="http://schemas.openxmlformats.org/drawingml/2006/main" noGrp="1"/>
          </p:cNvSpPr>
          <p:nvPr/>
        </p:nvSpPr>
        <p:spPr>
          <a:xfrm xmlns:a="http://schemas.openxmlformats.org/drawingml/2006/main">
            <a:off x="8096250" y="1190625"/>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75" b="1">
                <a:solidFill>
                  <a:srgbClr val="182D4B"/>
                </a:solidFill>
                <a:latin typeface="Arial"/>
                <a:ea typeface="Arial"/>
                <a:cs typeface="Arial"/>
              </a:defRPr>
            </a:pPr>
            <a:r>
              <a:rPr sz="2175" b="1">
                <a:solidFill>
                  <a:srgbClr val="182D4B"/>
                </a:solidFill>
                <a:latin typeface="Arial"/>
                <a:ea typeface="Arial"/>
                <a:cs typeface="Arial"/>
              </a:rPr>
              <a:t>Cách đọc</a:t>
            </a:r>
          </a:p>
        </p:txBody>
      </p:sp>
      <p:sp>
        <p:nvSpPr>
          <p:cNvPr id="17" name="">
            <a:extLst xmlns:a="http://schemas.openxmlformats.org/drawingml/2006/main">
              <a:ext uri="{FF2B5EF4-FFF2-40B4-BE49-F238E27FC236}">
                <a16:creationId xmlns:a16="http://schemas.microsoft.com/office/drawing/2014/main" id="{ADEE0E5F-A3B5-4D2D-9409-C1F58E894E71}"/>
              </a:ext>
            </a:extLst>
          </p:cNvPr>
          <p:cNvSpPr>
            <a:spLocks xmlns:a="http://schemas.openxmlformats.org/drawingml/2006/main" noGrp="1"/>
          </p:cNvSpPr>
          <p:nvPr/>
        </p:nvSpPr>
        <p:spPr>
          <a:xfrm xmlns:a="http://schemas.openxmlformats.org/drawingml/2006/main">
            <a:off x="8096250" y="1762125"/>
            <a:ext cx="3381375"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Mỗi nút là một SKU.</a:t>
            </a:r>
          </a:p>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Mũi tên chỉ chiều của luật.</a:t>
            </a:r>
          </a:p>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Nhãn cạnh thể hiện lift.</a:t>
            </a:r>
          </a:p>
        </p:txBody>
      </p:sp>
      <p:sp>
        <p:nvSpPr>
          <p:cNvPr id="18" name="">
            <a:extLst xmlns:a="http://schemas.openxmlformats.org/drawingml/2006/main">
              <a:ext uri="{FF2B5EF4-FFF2-40B4-BE49-F238E27FC236}">
                <a16:creationId xmlns:a16="http://schemas.microsoft.com/office/drawing/2014/main" id="{1E4FE30A-BC01-402E-AB46-E459E73A537C}"/>
              </a:ext>
            </a:extLst>
          </p:cNvPr>
          <p:cNvSpPr>
            <a:spLocks xmlns:a="http://schemas.openxmlformats.org/drawingml/2006/main" noGrp="1"/>
          </p:cNvSpPr>
          <p:nvPr/>
        </p:nvSpPr>
        <p:spPr>
          <a:xfrm xmlns:a="http://schemas.openxmlformats.org/drawingml/2006/main">
            <a:off x="8096250" y="3476625"/>
            <a:ext cx="3381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550" b="1">
                <a:solidFill>
                  <a:srgbClr val="F59E42"/>
                </a:solidFill>
                <a:latin typeface="Arial"/>
                <a:ea typeface="Arial"/>
                <a:cs typeface="Arial"/>
              </a:defRPr>
            </a:pPr>
            <a:r>
              <a:rPr sz="2550" b="1">
                <a:solidFill>
                  <a:srgbClr val="F59E42"/>
                </a:solidFill>
                <a:latin typeface="Arial"/>
                <a:ea typeface="Arial"/>
                <a:cs typeface="Arial"/>
              </a:rPr>
              <a:t>Lift ≈ 26,2</a:t>
            </a:r>
          </a:p>
        </p:txBody>
      </p:sp>
      <p:sp>
        <p:nvSpPr>
          <p:cNvPr id="19" name="">
            <a:extLst xmlns:a="http://schemas.openxmlformats.org/drawingml/2006/main">
              <a:ext uri="{FF2B5EF4-FFF2-40B4-BE49-F238E27FC236}">
                <a16:creationId xmlns:a16="http://schemas.microsoft.com/office/drawing/2014/main" id="{4D0EBC76-E744-4A3A-B872-306916A8DF18}"/>
              </a:ext>
            </a:extLst>
          </p:cNvPr>
          <p:cNvSpPr>
            <a:spLocks xmlns:a="http://schemas.openxmlformats.org/drawingml/2006/main" noGrp="1"/>
          </p:cNvSpPr>
          <p:nvPr/>
        </p:nvSpPr>
        <p:spPr>
          <a:xfrm xmlns:a="http://schemas.openxmlformats.org/drawingml/2006/main">
            <a:off x="8096250" y="4095750"/>
            <a:ext cx="3381375"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1F2937"/>
                </a:solidFill>
                <a:latin typeface="Arial"/>
                <a:ea typeface="Arial"/>
                <a:cs typeface="Arial"/>
              </a:defRPr>
            </a:pPr>
            <a:r>
              <a:rPr sz="1725" b="0">
                <a:solidFill>
                  <a:srgbClr val="1F2937"/>
                </a:solidFill>
                <a:latin typeface="Arial"/>
                <a:ea typeface="Arial"/>
                <a:cs typeface="Arial"/>
              </a:rPr>
              <a:t>Hai mẫu bát nhỏ thường xuất hiện cùng giỏ nhiều hơn mức kỳ vọng nếu độc lập.</a:t>
            </a:r>
          </a:p>
        </p:txBody>
      </p:sp>
      <p:sp>
        <p:nvSpPr>
          <p:cNvPr id="20" name="">
            <a:extLst xmlns:a="http://schemas.openxmlformats.org/drawingml/2006/main">
              <a:ext uri="{FF2B5EF4-FFF2-40B4-BE49-F238E27FC236}">
                <a16:creationId xmlns:a16="http://schemas.microsoft.com/office/drawing/2014/main" id="{71B2E895-1B40-40AD-BC14-B4FAA2805C59}"/>
              </a:ext>
            </a:extLst>
          </p:cNvPr>
          <p:cNvSpPr>
            <a:spLocks xmlns:a="http://schemas.openxmlformats.org/drawingml/2006/main" noGrp="1"/>
          </p:cNvSpPr>
          <p:nvPr/>
        </p:nvSpPr>
        <p:spPr>
          <a:xfrm xmlns:a="http://schemas.openxmlformats.org/drawingml/2006/main">
            <a:off x="8096250" y="5476875"/>
            <a:ext cx="338137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00" b="0">
                <a:solidFill>
                  <a:srgbClr val="5E6B7A"/>
                </a:solidFill>
                <a:latin typeface="Arial"/>
                <a:ea typeface="Arial"/>
                <a:cs typeface="Arial"/>
              </a:defRPr>
            </a:pPr>
            <a:r>
              <a:rPr sz="1500" b="0">
                <a:solidFill>
                  <a:srgbClr val="5E6B7A"/>
                </a:solidFill>
                <a:latin typeface="Arial"/>
                <a:ea typeface="Arial"/>
                <a:cs typeface="Arial"/>
              </a:rPr>
              <a:t>Chỉ hiển thị 10 luật đơn mạnh nhất. Liên hệ thống kê không chứng minh nhân quả.</a:t>
            </a:r>
          </a:p>
        </p:txBody>
      </p:sp>
    </p:spTree>
    <p:extLst>
      <p:ext uri="{BB962C8B-B14F-4D97-AF65-F5344CB8AC3E}">
        <p14:creationId xmlns:p14="http://schemas.microsoft.com/office/powerpoint/2010/main" val="161687690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10. Gợi ý sản phẩm từ lịch sử mua của khách</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11</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sp>
        <p:nvSpPr>
          <p:cNvPr id="15" name="">
            <a:extLst xmlns:a="http://schemas.openxmlformats.org/drawingml/2006/main">
              <a:ext uri="{FF2B5EF4-FFF2-40B4-BE49-F238E27FC236}">
                <a16:creationId xmlns:a16="http://schemas.microsoft.com/office/drawing/2014/main" id="{5655F647-85AE-4CCA-9C3A-4A84795BC34C}"/>
              </a:ext>
            </a:extLst>
          </p:cNvPr>
          <p:cNvSpPr>
            <a:spLocks xmlns:a="http://schemas.openxmlformats.org/drawingml/2006/main" noGrp="1"/>
          </p:cNvSpPr>
          <p:nvPr/>
        </p:nvSpPr>
        <p:spPr>
          <a:xfrm xmlns:a="http://schemas.openxmlformats.org/drawingml/2006/main">
            <a:off x="523875" y="1095375"/>
            <a:ext cx="504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696C5"/>
                </a:solidFill>
                <a:latin typeface="Arial"/>
                <a:ea typeface="Arial"/>
                <a:cs typeface="Arial"/>
              </a:defRPr>
            </a:pPr>
            <a:r>
              <a:rPr sz="2250" b="1">
                <a:solidFill>
                  <a:srgbClr val="2696C5"/>
                </a:solidFill>
                <a:latin typeface="Arial"/>
                <a:ea typeface="Arial"/>
                <a:cs typeface="Arial"/>
              </a:rPr>
              <a:t>Đầu vào</a:t>
            </a:r>
          </a:p>
        </p:txBody>
      </p:sp>
      <p:sp>
        <p:nvSpPr>
          <p:cNvPr id="16" name="">
            <a:extLst xmlns:a="http://schemas.openxmlformats.org/drawingml/2006/main">
              <a:ext uri="{FF2B5EF4-FFF2-40B4-BE49-F238E27FC236}">
                <a16:creationId xmlns:a16="http://schemas.microsoft.com/office/drawing/2014/main" id="{132E18DE-CEC2-4506-87BA-89316DA60DB0}"/>
              </a:ext>
            </a:extLst>
          </p:cNvPr>
          <p:cNvSpPr>
            <a:spLocks xmlns:a="http://schemas.openxmlformats.org/drawingml/2006/main" noGrp="1"/>
          </p:cNvSpPr>
          <p:nvPr/>
        </p:nvSpPr>
        <p:spPr>
          <a:xfrm xmlns:a="http://schemas.openxmlformats.org/drawingml/2006/main">
            <a:off x="523875" y="1666875"/>
            <a:ext cx="5143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customer_sales có CustomerID</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Loại mã dịch vụ và phí</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Chỉ giữ khách có ít nhất 2 hóa đơn</a:t>
            </a:r>
          </a:p>
        </p:txBody>
      </p:sp>
      <p:sp>
        <p:nvSpPr>
          <p:cNvPr id="17" name="">
            <a:extLst xmlns:a="http://schemas.openxmlformats.org/drawingml/2006/main">
              <a:ext uri="{FF2B5EF4-FFF2-40B4-BE49-F238E27FC236}">
                <a16:creationId xmlns:a16="http://schemas.microsoft.com/office/drawing/2014/main" id="{9445FA69-211A-4702-BEA9-7D09A48A069A}"/>
              </a:ext>
            </a:extLst>
          </p:cNvPr>
          <p:cNvSpPr>
            <a:spLocks xmlns:a="http://schemas.openxmlformats.org/drawingml/2006/main" noGrp="1"/>
          </p:cNvSpPr>
          <p:nvPr/>
        </p:nvSpPr>
        <p:spPr>
          <a:xfrm xmlns:a="http://schemas.openxmlformats.org/drawingml/2006/main">
            <a:off x="6524625" y="10953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696C5"/>
                </a:solidFill>
                <a:latin typeface="Arial"/>
                <a:ea typeface="Arial"/>
                <a:cs typeface="Arial"/>
              </a:defRPr>
            </a:pPr>
            <a:r>
              <a:rPr sz="2250" b="1">
                <a:solidFill>
                  <a:srgbClr val="2696C5"/>
                </a:solidFill>
                <a:latin typeface="Arial"/>
                <a:ea typeface="Arial"/>
                <a:cs typeface="Arial"/>
              </a:rPr>
              <a:t>Mô hình item-item cosine</a:t>
            </a:r>
          </a:p>
        </p:txBody>
      </p:sp>
      <p:sp>
        <p:nvSpPr>
          <p:cNvPr id="18" name="">
            <a:extLst xmlns:a="http://schemas.openxmlformats.org/drawingml/2006/main">
              <a:ext uri="{FF2B5EF4-FFF2-40B4-BE49-F238E27FC236}">
                <a16:creationId xmlns:a16="http://schemas.microsoft.com/office/drawing/2014/main" id="{3FD2F923-CD86-4DC7-BC80-9E574B3E042C}"/>
              </a:ext>
            </a:extLst>
          </p:cNvPr>
          <p:cNvSpPr>
            <a:spLocks xmlns:a="http://schemas.openxmlformats.org/drawingml/2006/main" noGrp="1"/>
          </p:cNvSpPr>
          <p:nvPr/>
        </p:nvSpPr>
        <p:spPr>
          <a:xfrm xmlns:a="http://schemas.openxmlformats.org/drawingml/2006/main">
            <a:off x="6524625" y="1666875"/>
            <a:ext cx="5095875"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Ma trận khách × sản phẩm dạng 0/1</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Tính tương đồng giữa sản phẩm</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Cộng điểm từ các món khách đã mua</a:t>
            </a:r>
          </a:p>
        </p:txBody>
      </p:sp>
      <p:graphicFrame>
        <p:nvGraphicFramePr>
          <p:cNvPr id="30" name=""/>
          <p:cNvGraphicFramePr/>
          <p:nvPr/>
        </p:nvGraphicFramePr>
        <p:xfrm>
          <a:off xmlns:a="http://schemas.openxmlformats.org/drawingml/2006/main" x="476250" y="3381375"/>
          <a:ext xmlns:a="http://schemas.openxmlformats.org/drawingml/2006/main" cx="11239500" cy="2333625"/>
        </p:xfrm>
        <a:graphic xmlns:a="http://schemas.openxmlformats.org/drawingml/2006/main">
          <a:graphicData uri="http://schemas.openxmlformats.org/drawingml/2006/table">
            <a:tbl>
              <a:tblPr/>
              <a:tblGrid>
                <a:gridCol w="2857500"/>
                <a:gridCol w="8382000"/>
              </a:tblGrid>
              <a:tr h="466725">
                <a:tc>
                  <a:txBody>
                    <a:bodyPr>
                      <a:noAutofit/>
                    </a:bodyPr>
                    <a:lstStyle/>
                    <a:p>
                      <a:r>
                        <a:rPr sz="1725" b="1">
                          <a:solidFill>
                            <a:srgbClr val="FFFFFF"/>
                          </a:solidFill>
                          <a:latin typeface="Arial"/>
                          <a:ea typeface="Arial"/>
                          <a:cs typeface="Arial"/>
                        </a:rPr>
                        <a:t>Bước đánh giá</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Thiết kế trong notebook</a:t>
                      </a:r>
                    </a:p>
                  </a:txBody>
                  <a:tcPr marL="91440" marR="91440" marT="45720" marB="45720">
                    <a:solidFill>
                      <a:srgbClr val="2696C5"/>
                    </a:solidFill>
                  </a:tcPr>
                </a:tc>
              </a:tr>
              <a:tr h="466725">
                <a:tc>
                  <a:txBody>
                    <a:bodyPr>
                      <a:noAutofit/>
                    </a:bodyPr>
                    <a:lstStyle/>
                    <a:p>
                      <a:r>
                        <a:rPr sz="1725" b="0">
                          <a:solidFill>
                            <a:srgbClr val="1F2937"/>
                          </a:solidFill>
                          <a:latin typeface="Arial"/>
                          <a:ea typeface="Arial"/>
                          <a:cs typeface="Arial"/>
                        </a:rPr>
                        <a:t>Tách train / test</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Giữ hóa đơn cuối mỗi khách làm test, lịch sử trước đó làm train</a:t>
                      </a:r>
                    </a:p>
                  </a:txBody>
                  <a:tcPr marL="91440" marR="91440" marT="45720" marB="45720">
                    <a:solidFill>
                      <a:srgbClr val="F4F7FA"/>
                    </a:solidFill>
                  </a:tcPr>
                </a:tc>
              </a:tr>
              <a:tr h="466725">
                <a:tc>
                  <a:txBody>
                    <a:bodyPr>
                      <a:noAutofit/>
                    </a:bodyPr>
                    <a:lstStyle/>
                    <a:p>
                      <a:r>
                        <a:rPr sz="1725" b="0">
                          <a:solidFill>
                            <a:srgbClr val="1F2937"/>
                          </a:solidFill>
                          <a:latin typeface="Arial"/>
                          <a:ea typeface="Arial"/>
                          <a:cs typeface="Arial"/>
                        </a:rPr>
                        <a:t>Danh mục ứng viên</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800 sản phẩm có nhiều khách mua nhất trong train</a:t>
                      </a:r>
                    </a:p>
                  </a:txBody>
                  <a:tcPr marL="91440" marR="91440" marT="45720" marB="45720">
                    <a:solidFill>
                      <a:srgbClr val="FFFFFF"/>
                    </a:solidFill>
                  </a:tcPr>
                </a:tc>
              </a:tr>
              <a:tr h="466725">
                <a:tc>
                  <a:txBody>
                    <a:bodyPr>
                      <a:noAutofit/>
                    </a:bodyPr>
                    <a:lstStyle/>
                    <a:p>
                      <a:r>
                        <a:rPr sz="1725" b="0">
                          <a:solidFill>
                            <a:srgbClr val="1F2937"/>
                          </a:solidFill>
                          <a:latin typeface="Arial"/>
                          <a:ea typeface="Arial"/>
                          <a:cs typeface="Arial"/>
                        </a:rPr>
                        <a:t>Đầu ra</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Top-10 sản phẩm chưa mua, bù bằng độ phổ biến nếu cần</a:t>
                      </a:r>
                    </a:p>
                  </a:txBody>
                  <a:tcPr marL="91440" marR="91440" marT="45720" marB="45720">
                    <a:solidFill>
                      <a:srgbClr val="F4F7FA"/>
                    </a:solidFill>
                  </a:tcPr>
                </a:tc>
              </a:tr>
              <a:tr h="466725">
                <a:tc>
                  <a:txBody>
                    <a:bodyPr>
                      <a:noAutofit/>
                    </a:bodyPr>
                    <a:lstStyle/>
                    <a:p>
                      <a:r>
                        <a:rPr sz="1725" b="0">
                          <a:solidFill>
                            <a:srgbClr val="1F2937"/>
                          </a:solidFill>
                          <a:latin typeface="Arial"/>
                          <a:ea typeface="Arial"/>
                          <a:cs typeface="Arial"/>
                        </a:rPr>
                        <a:t>Đối chứng</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Top-popular trên cùng tập ứng viên và cùng khách đánh giá</a:t>
                      </a:r>
                    </a:p>
                  </a:txBody>
                  <a:tcPr marL="91440" marR="91440" marT="45720" marB="45720">
                    <a:solidFill>
                      <a:srgbClr val="FFFFFF"/>
                    </a:solidFill>
                  </a:tcPr>
                </a:tc>
              </a:tr>
            </a:tbl>
          </a:graphicData>
        </a:graphic>
      </p:graphicFrame>
      <p:sp>
        <p:nvSpPr>
          <p:cNvPr id="20" name="">
            <a:extLst xmlns:a="http://schemas.openxmlformats.org/drawingml/2006/main">
              <a:ext uri="{FF2B5EF4-FFF2-40B4-BE49-F238E27FC236}">
                <a16:creationId xmlns:a16="http://schemas.microsoft.com/office/drawing/2014/main" id="{6DF551C7-B1F1-450E-814B-8D81B008321A}"/>
              </a:ext>
            </a:extLst>
          </p:cNvPr>
          <p:cNvSpPr>
            <a:spLocks xmlns:a="http://schemas.openxmlformats.org/drawingml/2006/main" noGrp="1"/>
          </p:cNvSpPr>
          <p:nvPr/>
        </p:nvSpPr>
        <p:spPr>
          <a:xfrm xmlns:a="http://schemas.openxmlformats.org/drawingml/2006/main">
            <a:off x="523875" y="5953125"/>
            <a:ext cx="11144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2D4B"/>
                </a:solidFill>
                <a:latin typeface="Arial"/>
                <a:ea typeface="Arial"/>
                <a:cs typeface="Arial"/>
              </a:defRPr>
            </a:pPr>
            <a:r>
              <a:rPr sz="1800" b="1">
                <a:solidFill>
                  <a:srgbClr val="182D4B"/>
                </a:solidFill>
                <a:latin typeface="Arial"/>
                <a:ea typeface="Arial"/>
                <a:cs typeface="Arial"/>
              </a:rPr>
              <a:t>2.829 khách đủ điều kiện; 2.703 khách có sản phẩm test thuộc danh mục ứng viên.</a:t>
            </a:r>
          </a:p>
        </p:txBody>
      </p:sp>
    </p:spTree>
    <p:extLst>
      <p:ext uri="{BB962C8B-B14F-4D97-AF65-F5344CB8AC3E}">
        <p14:creationId xmlns:p14="http://schemas.microsoft.com/office/powerpoint/2010/main" val="16168769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11. Item-item cosine vượt baseline trong đánh giá hiện tại</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12</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graphicFrame>
        <p:nvGraphicFramePr>
          <p:cNvPr id="25" name=""/>
          <p:cNvGraphicFramePr/>
          <p:nvPr/>
        </p:nvGraphicFramePr>
        <p:xfrm>
          <a:off xmlns:a="http://schemas.openxmlformats.org/drawingml/2006/main" x="476250" y="1095375"/>
          <a:ext xmlns:a="http://schemas.openxmlformats.org/drawingml/2006/main" cx="11239500" cy="1762125"/>
        </p:xfrm>
        <a:graphic xmlns:a="http://schemas.openxmlformats.org/drawingml/2006/main">
          <a:graphicData uri="http://schemas.openxmlformats.org/drawingml/2006/table">
            <a:tbl>
              <a:tblPr/>
              <a:tblGrid>
                <a:gridCol w="4476750"/>
                <a:gridCol w="2381250"/>
                <a:gridCol w="2381250"/>
                <a:gridCol w="2000250"/>
              </a:tblGrid>
              <a:tr h="587375">
                <a:tc>
                  <a:txBody>
                    <a:bodyPr>
                      <a:noAutofit/>
                    </a:bodyPr>
                    <a:lstStyle/>
                    <a:p>
                      <a:r>
                        <a:rPr sz="1875" b="1">
                          <a:solidFill>
                            <a:srgbClr val="FFFFFF"/>
                          </a:solidFill>
                          <a:latin typeface="Arial"/>
                          <a:ea typeface="Arial"/>
                          <a:cs typeface="Arial"/>
                        </a:rPr>
                        <a:t>Mô hình</a:t>
                      </a:r>
                    </a:p>
                  </a:txBody>
                  <a:tcPr marL="91440" marR="91440" marT="45720" marB="45720">
                    <a:solidFill>
                      <a:srgbClr val="2696C5"/>
                    </a:solidFill>
                  </a:tcPr>
                </a:tc>
                <a:tc>
                  <a:txBody>
                    <a:bodyPr>
                      <a:noAutofit/>
                    </a:bodyPr>
                    <a:lstStyle/>
                    <a:p>
                      <a:r>
                        <a:rPr sz="1875" b="1">
                          <a:solidFill>
                            <a:srgbClr val="FFFFFF"/>
                          </a:solidFill>
                          <a:latin typeface="Arial"/>
                          <a:ea typeface="Arial"/>
                          <a:cs typeface="Arial"/>
                        </a:rPr>
                        <a:t>Precision@10</a:t>
                      </a:r>
                    </a:p>
                  </a:txBody>
                  <a:tcPr marL="91440" marR="91440" marT="45720" marB="45720">
                    <a:solidFill>
                      <a:srgbClr val="2696C5"/>
                    </a:solidFill>
                  </a:tcPr>
                </a:tc>
                <a:tc>
                  <a:txBody>
                    <a:bodyPr>
                      <a:noAutofit/>
                    </a:bodyPr>
                    <a:lstStyle/>
                    <a:p>
                      <a:r>
                        <a:rPr sz="1875" b="1">
                          <a:solidFill>
                            <a:srgbClr val="FFFFFF"/>
                          </a:solidFill>
                          <a:latin typeface="Arial"/>
                          <a:ea typeface="Arial"/>
                          <a:cs typeface="Arial"/>
                        </a:rPr>
                        <a:t>Recall@10</a:t>
                      </a:r>
                    </a:p>
                  </a:txBody>
                  <a:tcPr marL="91440" marR="91440" marT="45720" marB="45720">
                    <a:solidFill>
                      <a:srgbClr val="2696C5"/>
                    </a:solidFill>
                  </a:tcPr>
                </a:tc>
                <a:tc>
                  <a:txBody>
                    <a:bodyPr>
                      <a:noAutofit/>
                    </a:bodyPr>
                    <a:lstStyle/>
                    <a:p>
                      <a:r>
                        <a:rPr sz="1875" b="1">
                          <a:solidFill>
                            <a:srgbClr val="FFFFFF"/>
                          </a:solidFill>
                          <a:latin typeface="Arial"/>
                          <a:ea typeface="Arial"/>
                          <a:cs typeface="Arial"/>
                        </a:rPr>
                        <a:t>Số khách</a:t>
                      </a:r>
                    </a:p>
                  </a:txBody>
                  <a:tcPr marL="91440" marR="91440" marT="45720" marB="45720">
                    <a:solidFill>
                      <a:srgbClr val="2696C5"/>
                    </a:solidFill>
                  </a:tcPr>
                </a:tc>
              </a:tr>
              <a:tr h="587375">
                <a:tc>
                  <a:txBody>
                    <a:bodyPr>
                      <a:noAutofit/>
                    </a:bodyPr>
                    <a:lstStyle/>
                    <a:p>
                      <a:r>
                        <a:rPr sz="1875" b="0">
                          <a:solidFill>
                            <a:srgbClr val="1F2937"/>
                          </a:solidFill>
                          <a:latin typeface="Arial"/>
                          <a:ea typeface="Arial"/>
                          <a:cs typeface="Arial"/>
                        </a:rPr>
                        <a:t>Item-item cosine</a:t>
                      </a:r>
                    </a:p>
                  </a:txBody>
                  <a:tcPr marL="91440" marR="91440" marT="45720" marB="45720">
                    <a:solidFill>
                      <a:srgbClr val="F4F7FA"/>
                    </a:solidFill>
                  </a:tcPr>
                </a:tc>
                <a:tc>
                  <a:txBody>
                    <a:bodyPr>
                      <a:noAutofit/>
                    </a:bodyPr>
                    <a:lstStyle/>
                    <a:p>
                      <a:r>
                        <a:rPr sz="1875" b="0">
                          <a:solidFill>
                            <a:srgbClr val="1F2937"/>
                          </a:solidFill>
                          <a:latin typeface="Arial"/>
                          <a:ea typeface="Arial"/>
                          <a:cs typeface="Arial"/>
                        </a:rPr>
                        <a:t>≈ 4,9%</a:t>
                      </a:r>
                    </a:p>
                  </a:txBody>
                  <a:tcPr marL="91440" marR="91440" marT="45720" marB="45720">
                    <a:solidFill>
                      <a:srgbClr val="F4F7FA"/>
                    </a:solidFill>
                  </a:tcPr>
                </a:tc>
                <a:tc>
                  <a:txBody>
                    <a:bodyPr>
                      <a:noAutofit/>
                    </a:bodyPr>
                    <a:lstStyle/>
                    <a:p>
                      <a:r>
                        <a:rPr sz="1875" b="0">
                          <a:solidFill>
                            <a:srgbClr val="1F2937"/>
                          </a:solidFill>
                          <a:latin typeface="Arial"/>
                          <a:ea typeface="Arial"/>
                          <a:cs typeface="Arial"/>
                        </a:rPr>
                        <a:t>≈ 4,0%</a:t>
                      </a:r>
                    </a:p>
                  </a:txBody>
                  <a:tcPr marL="91440" marR="91440" marT="45720" marB="45720">
                    <a:solidFill>
                      <a:srgbClr val="F4F7FA"/>
                    </a:solidFill>
                  </a:tcPr>
                </a:tc>
                <a:tc>
                  <a:txBody>
                    <a:bodyPr>
                      <a:noAutofit/>
                    </a:bodyPr>
                    <a:lstStyle/>
                    <a:p>
                      <a:r>
                        <a:rPr sz="1875" b="0">
                          <a:solidFill>
                            <a:srgbClr val="1F2937"/>
                          </a:solidFill>
                          <a:latin typeface="Arial"/>
                          <a:ea typeface="Arial"/>
                          <a:cs typeface="Arial"/>
                        </a:rPr>
                        <a:t>2.703</a:t>
                      </a:r>
                    </a:p>
                  </a:txBody>
                  <a:tcPr marL="91440" marR="91440" marT="45720" marB="45720">
                    <a:solidFill>
                      <a:srgbClr val="F4F7FA"/>
                    </a:solidFill>
                  </a:tcPr>
                </a:tc>
              </a:tr>
              <a:tr h="587375">
                <a:tc>
                  <a:txBody>
                    <a:bodyPr>
                      <a:noAutofit/>
                    </a:bodyPr>
                    <a:lstStyle/>
                    <a:p>
                      <a:r>
                        <a:rPr sz="1875" b="0">
                          <a:solidFill>
                            <a:srgbClr val="1F2937"/>
                          </a:solidFill>
                          <a:latin typeface="Arial"/>
                          <a:ea typeface="Arial"/>
                          <a:cs typeface="Arial"/>
                        </a:rPr>
                        <a:t>Top-popular</a:t>
                      </a:r>
                    </a:p>
                  </a:txBody>
                  <a:tcPr marL="91440" marR="91440" marT="45720" marB="45720">
                    <a:solidFill>
                      <a:srgbClr val="FFFFFF"/>
                    </a:solidFill>
                  </a:tcPr>
                </a:tc>
                <a:tc>
                  <a:txBody>
                    <a:bodyPr>
                      <a:noAutofit/>
                    </a:bodyPr>
                    <a:lstStyle/>
                    <a:p>
                      <a:r>
                        <a:rPr sz="1875" b="0">
                          <a:solidFill>
                            <a:srgbClr val="1F2937"/>
                          </a:solidFill>
                          <a:latin typeface="Arial"/>
                          <a:ea typeface="Arial"/>
                          <a:cs typeface="Arial"/>
                        </a:rPr>
                        <a:t>≈ 2,6%</a:t>
                      </a:r>
                    </a:p>
                  </a:txBody>
                  <a:tcPr marL="91440" marR="91440" marT="45720" marB="45720">
                    <a:solidFill>
                      <a:srgbClr val="FFFFFF"/>
                    </a:solidFill>
                  </a:tcPr>
                </a:tc>
                <a:tc>
                  <a:txBody>
                    <a:bodyPr>
                      <a:noAutofit/>
                    </a:bodyPr>
                    <a:lstStyle/>
                    <a:p>
                      <a:r>
                        <a:rPr sz="1875" b="0">
                          <a:solidFill>
                            <a:srgbClr val="1F2937"/>
                          </a:solidFill>
                          <a:latin typeface="Arial"/>
                          <a:ea typeface="Arial"/>
                          <a:cs typeface="Arial"/>
                        </a:rPr>
                        <a:t>≈ 2,1%</a:t>
                      </a:r>
                    </a:p>
                  </a:txBody>
                  <a:tcPr marL="91440" marR="91440" marT="45720" marB="45720">
                    <a:solidFill>
                      <a:srgbClr val="FFFFFF"/>
                    </a:solidFill>
                  </a:tcPr>
                </a:tc>
                <a:tc>
                  <a:txBody>
                    <a:bodyPr>
                      <a:noAutofit/>
                    </a:bodyPr>
                    <a:lstStyle/>
                    <a:p>
                      <a:r>
                        <a:rPr sz="1875" b="0">
                          <a:solidFill>
                            <a:srgbClr val="1F2937"/>
                          </a:solidFill>
                          <a:latin typeface="Arial"/>
                          <a:ea typeface="Arial"/>
                          <a:cs typeface="Arial"/>
                        </a:rPr>
                        <a:t>2.703</a:t>
                      </a:r>
                    </a:p>
                  </a:txBody>
                  <a:tcPr marL="91440" marR="91440" marT="45720" marB="45720">
                    <a:solidFill>
                      <a:srgbClr val="FFFFFF"/>
                    </a:solidFill>
                  </a:tcPr>
                </a:tc>
              </a:tr>
            </a:tbl>
          </a:graphicData>
        </a:graphic>
      </p:graphicFrame>
      <p:sp>
        <p:nvSpPr>
          <p:cNvPr id="16" name="">
            <a:extLst xmlns:a="http://schemas.openxmlformats.org/drawingml/2006/main">
              <a:ext uri="{FF2B5EF4-FFF2-40B4-BE49-F238E27FC236}">
                <a16:creationId xmlns:a16="http://schemas.microsoft.com/office/drawing/2014/main" id="{53340146-36B7-4823-BA26-9EE65118A56E}"/>
              </a:ext>
            </a:extLst>
          </p:cNvPr>
          <p:cNvSpPr>
            <a:spLocks xmlns:a="http://schemas.openxmlformats.org/drawingml/2006/main" noGrp="1"/>
          </p:cNvSpPr>
          <p:nvPr/>
        </p:nvSpPr>
        <p:spPr>
          <a:xfrm xmlns:a="http://schemas.openxmlformats.org/drawingml/2006/main">
            <a:off x="523875" y="3143250"/>
            <a:ext cx="10953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82D4B"/>
                </a:solidFill>
                <a:latin typeface="Arial"/>
                <a:ea typeface="Arial"/>
                <a:cs typeface="Arial"/>
              </a:defRPr>
            </a:pPr>
            <a:r>
              <a:rPr sz="2025" b="1">
                <a:solidFill>
                  <a:srgbClr val="182D4B"/>
                </a:solidFill>
                <a:latin typeface="Arial"/>
                <a:ea typeface="Arial"/>
                <a:cs typeface="Arial"/>
              </a:rPr>
              <a:t>Ví dụ 3 gợi ý đầu cho khách 14646</a:t>
            </a:r>
          </a:p>
        </p:txBody>
      </p:sp>
      <p:graphicFrame>
        <p:nvGraphicFramePr>
          <p:cNvPr id="27" name=""/>
          <p:cNvGraphicFramePr/>
          <p:nvPr/>
        </p:nvGraphicFramePr>
        <p:xfrm>
          <a:off xmlns:a="http://schemas.openxmlformats.org/drawingml/2006/main" x="476250" y="3667125"/>
          <a:ext xmlns:a="http://schemas.openxmlformats.org/drawingml/2006/main" cx="11239500" cy="1905000"/>
        </p:xfrm>
        <a:graphic xmlns:a="http://schemas.openxmlformats.org/drawingml/2006/main">
          <a:graphicData uri="http://schemas.openxmlformats.org/drawingml/2006/table">
            <a:tbl>
              <a:tblPr/>
              <a:tblGrid>
                <a:gridCol w="1333500"/>
                <a:gridCol w="2095500"/>
                <a:gridCol w="7810500"/>
              </a:tblGrid>
              <a:tr h="476250">
                <a:tc>
                  <a:txBody>
                    <a:bodyPr>
                      <a:noAutofit/>
                    </a:bodyPr>
                    <a:lstStyle/>
                    <a:p>
                      <a:r>
                        <a:rPr sz="1800" b="1">
                          <a:solidFill>
                            <a:srgbClr val="FFFFFF"/>
                          </a:solidFill>
                          <a:latin typeface="Arial"/>
                          <a:ea typeface="Arial"/>
                          <a:cs typeface="Arial"/>
                        </a:rPr>
                        <a:t>Hạng</a:t>
                      </a:r>
                    </a:p>
                  </a:txBody>
                  <a:tcPr marL="91440" marR="91440" marT="45720" marB="45720">
                    <a:solidFill>
                      <a:srgbClr val="2696C5"/>
                    </a:solidFill>
                  </a:tcPr>
                </a:tc>
                <a:tc>
                  <a:txBody>
                    <a:bodyPr>
                      <a:noAutofit/>
                    </a:bodyPr>
                    <a:lstStyle/>
                    <a:p>
                      <a:r>
                        <a:rPr sz="1800" b="1">
                          <a:solidFill>
                            <a:srgbClr val="FFFFFF"/>
                          </a:solidFill>
                          <a:latin typeface="Arial"/>
                          <a:ea typeface="Arial"/>
                          <a:cs typeface="Arial"/>
                        </a:rPr>
                        <a:t>SKU</a:t>
                      </a:r>
                    </a:p>
                  </a:txBody>
                  <a:tcPr marL="91440" marR="91440" marT="45720" marB="45720">
                    <a:solidFill>
                      <a:srgbClr val="2696C5"/>
                    </a:solidFill>
                  </a:tcPr>
                </a:tc>
                <a:tc>
                  <a:txBody>
                    <a:bodyPr>
                      <a:noAutofit/>
                    </a:bodyPr>
                    <a:lstStyle/>
                    <a:p>
                      <a:r>
                        <a:rPr sz="1800" b="1">
                          <a:solidFill>
                            <a:srgbClr val="FFFFFF"/>
                          </a:solidFill>
                          <a:latin typeface="Arial"/>
                          <a:ea typeface="Arial"/>
                          <a:cs typeface="Arial"/>
                        </a:rPr>
                        <a:t>Sản phẩm gợi ý</a:t>
                      </a:r>
                    </a:p>
                  </a:txBody>
                  <a:tcPr marL="91440" marR="91440" marT="45720" marB="45720">
                    <a:solidFill>
                      <a:srgbClr val="2696C5"/>
                    </a:solidFill>
                  </a:tcPr>
                </a:tc>
              </a:tr>
              <a:tr h="476250">
                <a:tc>
                  <a:txBody>
                    <a:bodyPr>
                      <a:noAutofit/>
                    </a:bodyPr>
                    <a:lstStyle/>
                    <a:p>
                      <a:r>
                        <a:rPr sz="1800" b="0">
                          <a:solidFill>
                            <a:srgbClr val="1F2937"/>
                          </a:solidFill>
                          <a:latin typeface="Arial"/>
                          <a:ea typeface="Arial"/>
                          <a:cs typeface="Arial"/>
                        </a:rPr>
                        <a:t>1</a:t>
                      </a:r>
                    </a:p>
                  </a:txBody>
                  <a:tcPr marL="91440" marR="91440" marT="45720" marB="45720">
                    <a:solidFill>
                      <a:srgbClr val="F4F7FA"/>
                    </a:solidFill>
                  </a:tcPr>
                </a:tc>
                <a:tc>
                  <a:txBody>
                    <a:bodyPr>
                      <a:noAutofit/>
                    </a:bodyPr>
                    <a:lstStyle/>
                    <a:p>
                      <a:r>
                        <a:rPr sz="1800" b="0">
                          <a:solidFill>
                            <a:srgbClr val="1F2937"/>
                          </a:solidFill>
                          <a:latin typeface="Arial"/>
                          <a:ea typeface="Arial"/>
                          <a:cs typeface="Arial"/>
                        </a:rPr>
                        <a:t>23208</a:t>
                      </a:r>
                    </a:p>
                  </a:txBody>
                  <a:tcPr marL="91440" marR="91440" marT="45720" marB="45720">
                    <a:solidFill>
                      <a:srgbClr val="F4F7FA"/>
                    </a:solidFill>
                  </a:tcPr>
                </a:tc>
                <a:tc>
                  <a:txBody>
                    <a:bodyPr>
                      <a:noAutofit/>
                    </a:bodyPr>
                    <a:lstStyle/>
                    <a:p>
                      <a:r>
                        <a:rPr sz="1800" b="0">
                          <a:solidFill>
                            <a:srgbClr val="1F2937"/>
                          </a:solidFill>
                          <a:latin typeface="Arial"/>
                          <a:ea typeface="Arial"/>
                          <a:cs typeface="Arial"/>
                        </a:rPr>
                        <a:t>Lunch Bag Vintage Leaf Design</a:t>
                      </a:r>
                    </a:p>
                  </a:txBody>
                  <a:tcPr marL="91440" marR="91440" marT="45720" marB="45720">
                    <a:solidFill>
                      <a:srgbClr val="F4F7FA"/>
                    </a:solidFill>
                  </a:tcPr>
                </a:tc>
              </a:tr>
              <a:tr h="476250">
                <a:tc>
                  <a:txBody>
                    <a:bodyPr>
                      <a:noAutofit/>
                    </a:bodyPr>
                    <a:lstStyle/>
                    <a:p>
                      <a:r>
                        <a:rPr sz="1800" b="0">
                          <a:solidFill>
                            <a:srgbClr val="1F2937"/>
                          </a:solidFill>
                          <a:latin typeface="Arial"/>
                          <a:ea typeface="Arial"/>
                          <a:cs typeface="Arial"/>
                        </a:rPr>
                        <a:t>2</a:t>
                      </a:r>
                    </a:p>
                  </a:txBody>
                  <a:tcPr marL="91440" marR="91440" marT="45720" marB="45720">
                    <a:solidFill>
                      <a:srgbClr val="FFFFFF"/>
                    </a:solidFill>
                  </a:tcPr>
                </a:tc>
                <a:tc>
                  <a:txBody>
                    <a:bodyPr>
                      <a:noAutofit/>
                    </a:bodyPr>
                    <a:lstStyle/>
                    <a:p>
                      <a:r>
                        <a:rPr sz="1800" b="0">
                          <a:solidFill>
                            <a:srgbClr val="1F2937"/>
                          </a:solidFill>
                          <a:latin typeface="Arial"/>
                          <a:ea typeface="Arial"/>
                          <a:cs typeface="Arial"/>
                        </a:rPr>
                        <a:t>23202</a:t>
                      </a:r>
                    </a:p>
                  </a:txBody>
                  <a:tcPr marL="91440" marR="91440" marT="45720" marB="45720">
                    <a:solidFill>
                      <a:srgbClr val="FFFFFF"/>
                    </a:solidFill>
                  </a:tcPr>
                </a:tc>
                <a:tc>
                  <a:txBody>
                    <a:bodyPr>
                      <a:noAutofit/>
                    </a:bodyPr>
                    <a:lstStyle/>
                    <a:p>
                      <a:r>
                        <a:rPr sz="1800" b="0">
                          <a:solidFill>
                            <a:srgbClr val="1F2937"/>
                          </a:solidFill>
                          <a:latin typeface="Arial"/>
                          <a:ea typeface="Arial"/>
                          <a:cs typeface="Arial"/>
                        </a:rPr>
                        <a:t>Jumbo Bag Vintage Leaf</a:t>
                      </a:r>
                    </a:p>
                  </a:txBody>
                  <a:tcPr marL="91440" marR="91440" marT="45720" marB="45720">
                    <a:solidFill>
                      <a:srgbClr val="FFFFFF"/>
                    </a:solidFill>
                  </a:tcPr>
                </a:tc>
              </a:tr>
              <a:tr h="476250">
                <a:tc>
                  <a:txBody>
                    <a:bodyPr>
                      <a:noAutofit/>
                    </a:bodyPr>
                    <a:lstStyle/>
                    <a:p>
                      <a:r>
                        <a:rPr sz="1800" b="0">
                          <a:solidFill>
                            <a:srgbClr val="1F2937"/>
                          </a:solidFill>
                          <a:latin typeface="Arial"/>
                          <a:ea typeface="Arial"/>
                          <a:cs typeface="Arial"/>
                        </a:rPr>
                        <a:t>3</a:t>
                      </a:r>
                    </a:p>
                  </a:txBody>
                  <a:tcPr marL="91440" marR="91440" marT="45720" marB="45720">
                    <a:solidFill>
                      <a:srgbClr val="F4F7FA"/>
                    </a:solidFill>
                  </a:tcPr>
                </a:tc>
                <a:tc>
                  <a:txBody>
                    <a:bodyPr>
                      <a:noAutofit/>
                    </a:bodyPr>
                    <a:lstStyle/>
                    <a:p>
                      <a:r>
                        <a:rPr sz="1800" b="0">
                          <a:solidFill>
                            <a:srgbClr val="1F2937"/>
                          </a:solidFill>
                          <a:latin typeface="Arial"/>
                          <a:ea typeface="Arial"/>
                          <a:cs typeface="Arial"/>
                        </a:rPr>
                        <a:t>23308</a:t>
                      </a:r>
                    </a:p>
                  </a:txBody>
                  <a:tcPr marL="91440" marR="91440" marT="45720" marB="45720">
                    <a:solidFill>
                      <a:srgbClr val="F4F7FA"/>
                    </a:solidFill>
                  </a:tcPr>
                </a:tc>
                <a:tc>
                  <a:txBody>
                    <a:bodyPr>
                      <a:noAutofit/>
                    </a:bodyPr>
                    <a:lstStyle/>
                    <a:p>
                      <a:r>
                        <a:rPr sz="1800" b="0">
                          <a:solidFill>
                            <a:srgbClr val="1F2937"/>
                          </a:solidFill>
                          <a:latin typeface="Arial"/>
                          <a:ea typeface="Arial"/>
                          <a:cs typeface="Arial"/>
                        </a:rPr>
                        <a:t>Set of 60 Vintage Leaf Cake Cases</a:t>
                      </a:r>
                    </a:p>
                  </a:txBody>
                  <a:tcPr marL="91440" marR="91440" marT="45720" marB="45720">
                    <a:solidFill>
                      <a:srgbClr val="F4F7FA"/>
                    </a:solidFill>
                  </a:tcPr>
                </a:tc>
              </a:tr>
            </a:tbl>
          </a:graphicData>
        </a:graphic>
      </p:graphicFrame>
      <p:sp>
        <p:nvSpPr>
          <p:cNvPr id="18" name="">
            <a:extLst xmlns:a="http://schemas.openxmlformats.org/drawingml/2006/main">
              <a:ext uri="{FF2B5EF4-FFF2-40B4-BE49-F238E27FC236}">
                <a16:creationId xmlns:a16="http://schemas.microsoft.com/office/drawing/2014/main" id="{AB8E488A-D357-4975-8F91-CCBF257BFE63}"/>
              </a:ext>
            </a:extLst>
          </p:cNvPr>
          <p:cNvSpPr>
            <a:spLocks xmlns:a="http://schemas.openxmlformats.org/drawingml/2006/main" noGrp="1"/>
          </p:cNvSpPr>
          <p:nvPr/>
        </p:nvSpPr>
        <p:spPr>
          <a:xfrm xmlns:a="http://schemas.openxmlformats.org/drawingml/2006/main">
            <a:off x="523875" y="5762625"/>
            <a:ext cx="11144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575" b="0">
                <a:solidFill>
                  <a:srgbClr val="5E6B7A"/>
                </a:solidFill>
                <a:latin typeface="Arial"/>
                <a:ea typeface="Arial"/>
                <a:cs typeface="Arial"/>
              </a:defRPr>
            </a:pPr>
            <a:r>
              <a:rPr sz="1575" b="0">
                <a:solidFill>
                  <a:srgbClr val="5E6B7A"/>
                </a:solidFill>
                <a:latin typeface="Arial"/>
                <a:ea typeface="Arial"/>
                <a:cs typeface="Arial"/>
              </a:rPr>
              <a:t>Precision@10: tỷ lệ gợi ý khớp test. Recall@10: tỷ lệ sản phẩm test được tìm lại.</a:t>
            </a:r>
          </a:p>
          <a:p xmlns:a="http://schemas.openxmlformats.org/drawingml/2006/main">
            <a:pPr>
              <a:buNone/>
              <a:defRPr sz="1575" b="0">
                <a:solidFill>
                  <a:srgbClr val="5E6B7A"/>
                </a:solidFill>
                <a:latin typeface="Arial"/>
                <a:ea typeface="Arial"/>
                <a:cs typeface="Arial"/>
              </a:defRPr>
            </a:pPr>
            <a:r>
              <a:rPr sz="1575" b="0">
                <a:solidFill>
                  <a:srgbClr val="5E6B7A"/>
                </a:solidFill>
                <a:latin typeface="Arial"/>
                <a:ea typeface="Arial"/>
                <a:cs typeface="Arial"/>
              </a:rPr>
              <a:t>Kết quả còn thấp. Test vẫn gồm món đã mua trong khi hệ thống loại món đã thấy.</a:t>
            </a:r>
          </a:p>
        </p:txBody>
      </p:sp>
    </p:spTree>
    <p:extLst>
      <p:ext uri="{BB962C8B-B14F-4D97-AF65-F5344CB8AC3E}">
        <p14:creationId xmlns:p14="http://schemas.microsoft.com/office/powerpoint/2010/main" val="1616876902"/>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12. Xu hướng SKU: so sánh hai cửa sổ 8 tuần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13</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sp>
        <p:nvSpPr>
          <p:cNvPr id="15" name="">
            <a:extLst xmlns:a="http://schemas.openxmlformats.org/drawingml/2006/main">
              <a:ext uri="{FF2B5EF4-FFF2-40B4-BE49-F238E27FC236}">
                <a16:creationId xmlns:a16="http://schemas.microsoft.com/office/drawing/2014/main" id="{A4B132D4-0B19-4D0A-B6EA-8736DB5CE36A}"/>
              </a:ext>
            </a:extLst>
          </p:cNvPr>
          <p:cNvSpPr>
            <a:spLocks xmlns:a="http://schemas.openxmlformats.org/drawingml/2006/main" noGrp="1"/>
          </p:cNvSpPr>
          <p:nvPr/>
        </p:nvSpPr>
        <p:spPr>
          <a:xfrm xmlns:a="http://schemas.openxmlformats.org/drawingml/2006/main">
            <a:off x="523875" y="1047750"/>
            <a:ext cx="5619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75" b="1">
                <a:solidFill>
                  <a:srgbClr val="182D4B"/>
                </a:solidFill>
                <a:latin typeface="Arial"/>
                <a:ea typeface="Arial"/>
                <a:cs typeface="Arial"/>
              </a:defRPr>
            </a:pPr>
            <a:r>
              <a:rPr sz="2475" b="1">
                <a:solidFill>
                  <a:srgbClr val="182D4B"/>
                </a:solidFill>
                <a:latin typeface="Arial"/>
                <a:ea typeface="Arial"/>
                <a:cs typeface="Arial"/>
              </a:rPr>
              <a:t>989 SKU đủ điều kiện</a:t>
            </a:r>
          </a:p>
        </p:txBody>
      </p:sp>
      <p:sp>
        <p:nvSpPr>
          <p:cNvPr id="16" name="">
            <a:extLst xmlns:a="http://schemas.openxmlformats.org/drawingml/2006/main">
              <a:ext uri="{FF2B5EF4-FFF2-40B4-BE49-F238E27FC236}">
                <a16:creationId xmlns:a16="http://schemas.microsoft.com/office/drawing/2014/main" id="{0744A0BC-4987-4DC6-9285-189C76C324E5}"/>
              </a:ext>
            </a:extLst>
          </p:cNvPr>
          <p:cNvSpPr>
            <a:spLocks xmlns:a="http://schemas.openxmlformats.org/drawingml/2006/main" noGrp="1"/>
          </p:cNvSpPr>
          <p:nvPr/>
        </p:nvSpPr>
        <p:spPr>
          <a:xfrm xmlns:a="http://schemas.openxmlformats.org/drawingml/2006/main">
            <a:off x="523875" y="1666875"/>
            <a:ext cx="1119187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E6B7A"/>
                </a:solidFill>
                <a:latin typeface="Arial"/>
                <a:ea typeface="Arial"/>
                <a:cs typeface="Arial"/>
              </a:defRPr>
            </a:pPr>
            <a:r>
              <a:rPr sz="1800" b="0">
                <a:solidFill>
                  <a:srgbClr val="5E6B7A"/>
                </a:solidFill>
                <a:latin typeface="Arial"/>
                <a:ea typeface="Arial"/>
                <a:cs typeface="Arial"/>
              </a:rPr>
              <a:t>Tuần kết thúc: 21/08–09/10/2011 so với 16/10–04/12/2011</a:t>
            </a:r>
          </a:p>
        </p:txBody>
      </p:sp>
      <p:graphicFrame>
        <p:nvGraphicFramePr>
          <p:cNvPr id="27" name=""/>
          <p:cNvGraphicFramePr/>
          <p:nvPr/>
        </p:nvGraphicFramePr>
        <p:xfrm>
          <a:off xmlns:a="http://schemas.openxmlformats.org/drawingml/2006/main" x="476250" y="2333625"/>
          <a:ext xmlns:a="http://schemas.openxmlformats.org/drawingml/2006/main" cx="11239500" cy="2714625"/>
        </p:xfrm>
        <a:graphic xmlns:a="http://schemas.openxmlformats.org/drawingml/2006/main">
          <a:graphicData uri="http://schemas.openxmlformats.org/drawingml/2006/table">
            <a:tbl>
              <a:tblPr/>
              <a:tblGrid>
                <a:gridCol w="5238750"/>
                <a:gridCol w="1952625"/>
                <a:gridCol w="2190750"/>
                <a:gridCol w="1857375"/>
              </a:tblGrid>
              <a:tr h="542925">
                <a:tc>
                  <a:txBody>
                    <a:bodyPr>
                      <a:noAutofit/>
                    </a:bodyPr>
                    <a:lstStyle/>
                    <a:p>
                      <a:r>
                        <a:rPr sz="1725" b="1">
                          <a:solidFill>
                            <a:srgbClr val="FFFFFF"/>
                          </a:solidFill>
                          <a:latin typeface="Arial"/>
                          <a:ea typeface="Arial"/>
                          <a:cs typeface="Arial"/>
                        </a:rPr>
                        <a:t>Sản phẩm / SKU</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8 tuần trước</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8 tuần gần nhất</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Thay đổi</a:t>
                      </a:r>
                    </a:p>
                  </a:txBody>
                  <a:tcPr marL="91440" marR="91440" marT="45720" marB="45720">
                    <a:solidFill>
                      <a:srgbClr val="2696C5"/>
                    </a:solidFill>
                  </a:tcPr>
                </a:tc>
              </a:tr>
              <a:tr h="542925">
                <a:tc>
                  <a:txBody>
                    <a:bodyPr>
                      <a:noAutofit/>
                    </a:bodyPr>
                    <a:lstStyle/>
                    <a:p>
                      <a:r>
                        <a:rPr sz="1725" b="0">
                          <a:solidFill>
                            <a:srgbClr val="1F2937"/>
                          </a:solidFill>
                          <a:latin typeface="Arial"/>
                          <a:ea typeface="Arial"/>
                          <a:cs typeface="Arial"/>
                        </a:rPr>
                        <a:t>Rabbit Night Light / 23084</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2.419</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21.964</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+808,0%</a:t>
                      </a:r>
                    </a:p>
                  </a:txBody>
                  <a:tcPr marL="91440" marR="91440" marT="45720" marB="45720">
                    <a:solidFill>
                      <a:srgbClr val="F4F7FA"/>
                    </a:solidFill>
                  </a:tcPr>
                </a:tc>
              </a:tr>
              <a:tr h="542925">
                <a:tc>
                  <a:txBody>
                    <a:bodyPr>
                      <a:noAutofit/>
                    </a:bodyPr>
                    <a:lstStyle/>
                    <a:p>
                      <a:r>
                        <a:rPr sz="1725" b="0">
                          <a:solidFill>
                            <a:srgbClr val="1F2937"/>
                          </a:solidFill>
                          <a:latin typeface="Arial"/>
                          <a:ea typeface="Arial"/>
                          <a:cs typeface="Arial"/>
                        </a:rPr>
                        <a:t>Disco Ball Christmas / 20668</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831</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7.233</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+770,4%</a:t>
                      </a:r>
                    </a:p>
                  </a:txBody>
                  <a:tcPr marL="91440" marR="91440" marT="45720" marB="45720">
                    <a:solidFill>
                      <a:srgbClr val="FFFFFF"/>
                    </a:solidFill>
                  </a:tcPr>
                </a:tc>
              </a:tr>
              <a:tr h="542925">
                <a:tc>
                  <a:txBody>
                    <a:bodyPr>
                      <a:noAutofit/>
                    </a:bodyPr>
                    <a:lstStyle/>
                    <a:p>
                      <a:r>
                        <a:rPr sz="1725" b="0">
                          <a:solidFill>
                            <a:srgbClr val="1F2937"/>
                          </a:solidFill>
                          <a:latin typeface="Arial"/>
                          <a:ea typeface="Arial"/>
                          <a:cs typeface="Arial"/>
                        </a:rPr>
                        <a:t>Assorted Creepy Crawlies / 21830</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409</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6</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−98,5%</a:t>
                      </a:r>
                    </a:p>
                  </a:txBody>
                  <a:tcPr marL="91440" marR="91440" marT="45720" marB="45720">
                    <a:solidFill>
                      <a:srgbClr val="F4F7FA"/>
                    </a:solidFill>
                  </a:tcPr>
                </a:tc>
              </a:tr>
              <a:tr h="542925">
                <a:tc>
                  <a:txBody>
                    <a:bodyPr>
                      <a:noAutofit/>
                    </a:bodyPr>
                    <a:lstStyle/>
                    <a:p>
                      <a:r>
                        <a:rPr sz="1725" b="0">
                          <a:solidFill>
                            <a:srgbClr val="1F2937"/>
                          </a:solidFill>
                          <a:latin typeface="Arial"/>
                          <a:ea typeface="Arial"/>
                          <a:cs typeface="Arial"/>
                        </a:rPr>
                        <a:t>Doormat Peace on Earth / 22688</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650</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15</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−97,7%</a:t>
                      </a:r>
                    </a:p>
                  </a:txBody>
                  <a:tcPr marL="91440" marR="91440" marT="45720" marB="45720">
                    <a:solidFill>
                      <a:srgbClr val="FFFFFF"/>
                    </a:solidFill>
                  </a:tcPr>
                </a:tc>
              </a:tr>
            </a:tbl>
          </a:graphicData>
        </a:graphic>
      </p:graphicFrame>
      <p:sp>
        <p:nvSpPr>
          <p:cNvPr id="18" name="">
            <a:extLst xmlns:a="http://schemas.openxmlformats.org/drawingml/2006/main">
              <a:ext uri="{FF2B5EF4-FFF2-40B4-BE49-F238E27FC236}">
                <a16:creationId xmlns:a16="http://schemas.microsoft.com/office/drawing/2014/main" id="{E02616A7-103B-4D3C-A838-B3F8FBEB8A17}"/>
              </a:ext>
            </a:extLst>
          </p:cNvPr>
          <p:cNvSpPr>
            <a:spLocks xmlns:a="http://schemas.openxmlformats.org/drawingml/2006/main" noGrp="1"/>
          </p:cNvSpPr>
          <p:nvPr/>
        </p:nvSpPr>
        <p:spPr>
          <a:xfrm xmlns:a="http://schemas.openxmlformats.org/drawingml/2006/main">
            <a:off x="523875" y="5219700"/>
            <a:ext cx="11144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1">
                <a:solidFill>
                  <a:srgbClr val="2696C5"/>
                </a:solidFill>
                <a:latin typeface="Arial"/>
                <a:ea typeface="Arial"/>
                <a:cs typeface="Arial"/>
              </a:defRPr>
            </a:pPr>
            <a:r>
              <a:rPr sz="1725" b="1">
                <a:solidFill>
                  <a:srgbClr val="2696C5"/>
                </a:solidFill>
                <a:latin typeface="Arial"/>
                <a:ea typeface="Arial"/>
                <a:cs typeface="Arial"/>
              </a:rPr>
              <a:t>Đơn vị: số lượng bán. Hai SKU tăng mạnh có tháng đỉnh là 11/2011.</a:t>
            </a:r>
          </a:p>
        </p:txBody>
      </p:sp>
      <p:sp>
        <p:nvSpPr>
          <p:cNvPr id="19" name="">
            <a:extLst xmlns:a="http://schemas.openxmlformats.org/drawingml/2006/main">
              <a:ext uri="{FF2B5EF4-FFF2-40B4-BE49-F238E27FC236}">
                <a16:creationId xmlns:a16="http://schemas.microsoft.com/office/drawing/2014/main" id="{B0FC7C41-B223-44C4-B41A-950ECB0AE88B}"/>
              </a:ext>
            </a:extLst>
          </p:cNvPr>
          <p:cNvSpPr>
            <a:spLocks xmlns:a="http://schemas.openxmlformats.org/drawingml/2006/main" noGrp="1"/>
          </p:cNvSpPr>
          <p:nvPr/>
        </p:nvSpPr>
        <p:spPr>
          <a:xfrm xmlns:a="http://schemas.openxmlformats.org/drawingml/2006/main">
            <a:off x="523875" y="5810250"/>
            <a:ext cx="111442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1F2937"/>
                </a:solidFill>
                <a:latin typeface="Arial"/>
                <a:ea typeface="Arial"/>
                <a:cs typeface="Arial"/>
              </a:defRPr>
            </a:pPr>
            <a:r>
              <a:rPr sz="1650" b="0">
                <a:solidFill>
                  <a:srgbClr val="1F2937"/>
                </a:solidFill>
                <a:latin typeface="Arial"/>
                <a:ea typeface="Arial"/>
                <a:cs typeface="Arial"/>
              </a:rPr>
              <a:t>Kỳ trước ≥ 200 sản phẩm, có bán ≥ 4 tuần ở mỗi kỳ. Top tăng/giảm cần chênh lệch tuyệt đối ≥ 200. Loại tuần cuối chưa đầy đủ, kết thúc ngày 11/12/2011.</a:t>
            </a:r>
          </a:p>
        </p:txBody>
      </p:sp>
    </p:spTree>
    <p:extLst>
      <p:ext uri="{BB962C8B-B14F-4D97-AF65-F5344CB8AC3E}">
        <p14:creationId xmlns:p14="http://schemas.microsoft.com/office/powerpoint/2010/main" val="161687690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13. PrefixSpan-style: mẫu mua giữa các hóa đơn</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14</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sp>
        <p:nvSpPr>
          <p:cNvPr id="15" name="">
            <a:extLst xmlns:a="http://schemas.openxmlformats.org/drawingml/2006/main">
              <a:ext uri="{FF2B5EF4-FFF2-40B4-BE49-F238E27FC236}">
                <a16:creationId xmlns:a16="http://schemas.microsoft.com/office/drawing/2014/main" id="{D36216D6-58D6-4AEA-8620-F57E850FA62B}"/>
              </a:ext>
            </a:extLst>
          </p:cNvPr>
          <p:cNvSpPr>
            <a:spLocks xmlns:a="http://schemas.openxmlformats.org/drawingml/2006/main" noGrp="1"/>
          </p:cNvSpPr>
          <p:nvPr/>
        </p:nvSpPr>
        <p:spPr>
          <a:xfrm xmlns:a="http://schemas.openxmlformats.org/drawingml/2006/main">
            <a:off x="523875" y="1095375"/>
            <a:ext cx="34290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182D4B"/>
                </a:solidFill>
                <a:latin typeface="Arial"/>
                <a:ea typeface="Arial"/>
                <a:cs typeface="Arial"/>
              </a:defRPr>
            </a:pPr>
            <a:r>
              <a:rPr sz="2700" b="1">
                <a:solidFill>
                  <a:srgbClr val="182D4B"/>
                </a:solidFill>
                <a:latin typeface="Arial"/>
                <a:ea typeface="Arial"/>
                <a:cs typeface="Arial"/>
              </a:rPr>
              <a:t>2.212 khách</a:t>
            </a:r>
          </a:p>
        </p:txBody>
      </p:sp>
      <p:sp>
        <p:nvSpPr>
          <p:cNvPr id="16" name="">
            <a:extLst xmlns:a="http://schemas.openxmlformats.org/drawingml/2006/main">
              <a:ext uri="{FF2B5EF4-FFF2-40B4-BE49-F238E27FC236}">
                <a16:creationId xmlns:a16="http://schemas.microsoft.com/office/drawing/2014/main" id="{954B11FA-0F76-4E14-BC0A-7169A38DA4AF}"/>
              </a:ext>
            </a:extLst>
          </p:cNvPr>
          <p:cNvSpPr>
            <a:spLocks xmlns:a="http://schemas.openxmlformats.org/drawingml/2006/main" noGrp="1"/>
          </p:cNvSpPr>
          <p:nvPr/>
        </p:nvSpPr>
        <p:spPr>
          <a:xfrm xmlns:a="http://schemas.openxmlformats.org/drawingml/2006/main">
            <a:off x="523875" y="1666875"/>
            <a:ext cx="371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E6B7A"/>
                </a:solidFill>
                <a:latin typeface="Arial"/>
                <a:ea typeface="Arial"/>
                <a:cs typeface="Arial"/>
              </a:defRPr>
            </a:pPr>
            <a:r>
              <a:rPr sz="1650" b="0">
                <a:solidFill>
                  <a:srgbClr val="5E6B7A"/>
                </a:solidFill>
                <a:latin typeface="Arial"/>
                <a:ea typeface="Arial"/>
                <a:cs typeface="Arial"/>
              </a:rPr>
              <a:t>có ≥ 2 phiên trong tập 40 SKU</a:t>
            </a:r>
          </a:p>
        </p:txBody>
      </p:sp>
      <p:sp>
        <p:nvSpPr>
          <p:cNvPr id="17" name="">
            <a:extLst xmlns:a="http://schemas.openxmlformats.org/drawingml/2006/main">
              <a:ext uri="{FF2B5EF4-FFF2-40B4-BE49-F238E27FC236}">
                <a16:creationId xmlns:a16="http://schemas.microsoft.com/office/drawing/2014/main" id="{CDE209CE-6F42-4A38-B27A-7F626BF2D356}"/>
              </a:ext>
            </a:extLst>
          </p:cNvPr>
          <p:cNvSpPr>
            <a:spLocks xmlns:a="http://schemas.openxmlformats.org/drawingml/2006/main" noGrp="1"/>
          </p:cNvSpPr>
          <p:nvPr/>
        </p:nvSpPr>
        <p:spPr>
          <a:xfrm xmlns:a="http://schemas.openxmlformats.org/drawingml/2006/main">
            <a:off x="4572000" y="1095375"/>
            <a:ext cx="33813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2696C5"/>
                </a:solidFill>
                <a:latin typeface="Arial"/>
                <a:ea typeface="Arial"/>
                <a:cs typeface="Arial"/>
              </a:defRPr>
            </a:pPr>
            <a:r>
              <a:rPr sz="2700" b="1">
                <a:solidFill>
                  <a:srgbClr val="2696C5"/>
                </a:solidFill>
                <a:latin typeface="Arial"/>
                <a:ea typeface="Arial"/>
                <a:cs typeface="Arial"/>
              </a:rPr>
              <a:t>1.651 mẫu</a:t>
            </a:r>
          </a:p>
        </p:txBody>
      </p:sp>
      <p:sp>
        <p:nvSpPr>
          <p:cNvPr id="18" name="">
            <a:extLst xmlns:a="http://schemas.openxmlformats.org/drawingml/2006/main">
              <a:ext uri="{FF2B5EF4-FFF2-40B4-BE49-F238E27FC236}">
                <a16:creationId xmlns:a16="http://schemas.microsoft.com/office/drawing/2014/main" id="{2A0F4EBF-9CBC-4F72-9776-9DA69B4B7AD8}"/>
              </a:ext>
            </a:extLst>
          </p:cNvPr>
          <p:cNvSpPr>
            <a:spLocks xmlns:a="http://schemas.openxmlformats.org/drawingml/2006/main" noGrp="1"/>
          </p:cNvSpPr>
          <p:nvPr/>
        </p:nvSpPr>
        <p:spPr>
          <a:xfrm xmlns:a="http://schemas.openxmlformats.org/drawingml/2006/main">
            <a:off x="4572000" y="1666875"/>
            <a:ext cx="33813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E6B7A"/>
                </a:solidFill>
                <a:latin typeface="Arial"/>
                <a:ea typeface="Arial"/>
                <a:cs typeface="Arial"/>
              </a:defRPr>
            </a:pPr>
            <a:r>
              <a:rPr sz="1650" b="0">
                <a:solidFill>
                  <a:srgbClr val="5E6B7A"/>
                </a:solidFill>
                <a:latin typeface="Arial"/>
                <a:ea typeface="Arial"/>
                <a:cs typeface="Arial"/>
              </a:rPr>
              <a:t>chuỗi dài 2–3 đạt ngưỡng</a:t>
            </a:r>
          </a:p>
        </p:txBody>
      </p:sp>
      <p:sp>
        <p:nvSpPr>
          <p:cNvPr id="19" name="">
            <a:extLst xmlns:a="http://schemas.openxmlformats.org/drawingml/2006/main">
              <a:ext uri="{FF2B5EF4-FFF2-40B4-BE49-F238E27FC236}">
                <a16:creationId xmlns:a16="http://schemas.microsoft.com/office/drawing/2014/main" id="{648E0F8D-F5D7-4737-A109-EFC88EADF7F5}"/>
              </a:ext>
            </a:extLst>
          </p:cNvPr>
          <p:cNvSpPr>
            <a:spLocks xmlns:a="http://schemas.openxmlformats.org/drawingml/2006/main" noGrp="1"/>
          </p:cNvSpPr>
          <p:nvPr/>
        </p:nvSpPr>
        <p:spPr>
          <a:xfrm xmlns:a="http://schemas.openxmlformats.org/drawingml/2006/main">
            <a:off x="8572500" y="1095375"/>
            <a:ext cx="3238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700" b="1">
                <a:solidFill>
                  <a:srgbClr val="F59E42"/>
                </a:solidFill>
                <a:latin typeface="Arial"/>
                <a:ea typeface="Arial"/>
                <a:cs typeface="Arial"/>
              </a:defRPr>
            </a:pPr>
            <a:r>
              <a:rPr sz="2700" b="1">
                <a:solidFill>
                  <a:srgbClr val="F59E42"/>
                </a:solidFill>
                <a:latin typeface="Arial"/>
                <a:ea typeface="Arial"/>
                <a:cs typeface="Arial"/>
              </a:rPr>
              <a:t>3% support</a:t>
            </a:r>
          </a:p>
        </p:txBody>
      </p:sp>
      <p:sp>
        <p:nvSpPr>
          <p:cNvPr id="20" name="">
            <a:extLst xmlns:a="http://schemas.openxmlformats.org/drawingml/2006/main">
              <a:ext uri="{FF2B5EF4-FFF2-40B4-BE49-F238E27FC236}">
                <a16:creationId xmlns:a16="http://schemas.microsoft.com/office/drawing/2014/main" id="{3EF206D5-BA93-44D7-921E-F1E6AFDD6456}"/>
              </a:ext>
            </a:extLst>
          </p:cNvPr>
          <p:cNvSpPr>
            <a:spLocks xmlns:a="http://schemas.openxmlformats.org/drawingml/2006/main" noGrp="1"/>
          </p:cNvSpPr>
          <p:nvPr/>
        </p:nvSpPr>
        <p:spPr>
          <a:xfrm xmlns:a="http://schemas.openxmlformats.org/drawingml/2006/main">
            <a:off x="8572500" y="1666875"/>
            <a:ext cx="323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650" b="0">
                <a:solidFill>
                  <a:srgbClr val="5E6B7A"/>
                </a:solidFill>
                <a:latin typeface="Arial"/>
                <a:ea typeface="Arial"/>
                <a:cs typeface="Arial"/>
              </a:defRPr>
            </a:pPr>
            <a:r>
              <a:rPr sz="1650" b="0">
                <a:solidFill>
                  <a:srgbClr val="5E6B7A"/>
                </a:solidFill>
                <a:latin typeface="Arial"/>
                <a:ea typeface="Arial"/>
                <a:cs typeface="Arial"/>
              </a:rPr>
              <a:t>tương đương ít nhất 67 khách</a:t>
            </a:r>
          </a:p>
        </p:txBody>
      </p:sp>
      <p:graphicFrame>
        <p:nvGraphicFramePr>
          <p:cNvPr id="34" name=""/>
          <p:cNvGraphicFramePr/>
          <p:nvPr/>
        </p:nvGraphicFramePr>
        <p:xfrm>
          <a:off xmlns:a="http://schemas.openxmlformats.org/drawingml/2006/main" x="476250" y="2714625"/>
          <a:ext xmlns:a="http://schemas.openxmlformats.org/drawingml/2006/main" cx="11239500" cy="2428875"/>
        </p:xfrm>
        <a:graphic xmlns:a="http://schemas.openxmlformats.org/drawingml/2006/main">
          <a:graphicData uri="http://schemas.openxmlformats.org/drawingml/2006/table">
            <a:tbl>
              <a:tblPr/>
              <a:tblGrid>
                <a:gridCol w="2952750"/>
                <a:gridCol w="3476625"/>
                <a:gridCol w="1381125"/>
                <a:gridCol w="1619250"/>
                <a:gridCol w="1809750"/>
              </a:tblGrid>
              <a:tr h="607219">
                <a:tc>
                  <a:txBody>
                    <a:bodyPr>
                      <a:noAutofit/>
                    </a:bodyPr>
                    <a:lstStyle/>
                    <a:p>
                      <a:r>
                        <a:rPr sz="1725" b="1">
                          <a:solidFill>
                            <a:srgbClr val="FFFFFF"/>
                          </a:solidFill>
                          <a:latin typeface="Arial"/>
                          <a:ea typeface="Arial"/>
                          <a:cs typeface="Arial"/>
                        </a:rPr>
                        <a:t>Mua ở lần trước</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Mua ở lần sau</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Số khách</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Support</a:t>
                      </a:r>
                    </a:p>
                  </a:txBody>
                  <a:tcPr marL="91440" marR="91440" marT="45720" marB="45720">
                    <a:solidFill>
                      <a:srgbClr val="2696C5"/>
                    </a:solidFill>
                  </a:tcPr>
                </a:tc>
                <a:tc>
                  <a:txBody>
                    <a:bodyPr>
                      <a:noAutofit/>
                    </a:bodyPr>
                    <a:lstStyle/>
                    <a:p>
                      <a:r>
                        <a:rPr sz="1725" b="1">
                          <a:solidFill>
                            <a:srgbClr val="FFFFFF"/>
                          </a:solidFill>
                          <a:latin typeface="Arial"/>
                          <a:ea typeface="Arial"/>
                          <a:cs typeface="Arial"/>
                        </a:rPr>
                        <a:t>Seq. conf.</a:t>
                      </a:r>
                    </a:p>
                  </a:txBody>
                  <a:tcPr marL="91440" marR="91440" marT="45720" marB="45720">
                    <a:solidFill>
                      <a:srgbClr val="2696C5"/>
                    </a:solidFill>
                  </a:tcPr>
                </a:tc>
              </a:tr>
              <a:tr h="607219">
                <a:tc>
                  <a:txBody>
                    <a:bodyPr>
                      <a:noAutofit/>
                    </a:bodyPr>
                    <a:lstStyle/>
                    <a:p>
                      <a:r>
                        <a:rPr sz="1725" b="0">
                          <a:solidFill>
                            <a:srgbClr val="1F2937"/>
                          </a:solidFill>
                          <a:latin typeface="Arial"/>
                          <a:ea typeface="Arial"/>
                          <a:cs typeface="Arial"/>
                        </a:rPr>
                        <a:t>Jumbo Bag Red</a:t>
                      </a:r>
                    </a:p>
                    <a:p>
                      <a:r>
                        <a:rPr sz="1725" b="0">
                          <a:solidFill>
                            <a:srgbClr val="1F2937"/>
                          </a:solidFill>
                          <a:latin typeface="Arial"/>
                          <a:ea typeface="Arial"/>
                          <a:cs typeface="Arial"/>
                        </a:rPr>
                        <a:t>85099B</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Jumbo Bag Vintage Doily</a:t>
                      </a:r>
                    </a:p>
                    <a:p>
                      <a:r>
                        <a:rPr sz="1725" b="0">
                          <a:solidFill>
                            <a:srgbClr val="1F2937"/>
                          </a:solidFill>
                          <a:latin typeface="Arial"/>
                          <a:ea typeface="Arial"/>
                          <a:cs typeface="Arial"/>
                        </a:rPr>
                        <a:t>23203</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236</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10,7%</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44,6%</a:t>
                      </a:r>
                    </a:p>
                  </a:txBody>
                  <a:tcPr marL="91440" marR="91440" marT="45720" marB="45720">
                    <a:solidFill>
                      <a:srgbClr val="F4F7FA"/>
                    </a:solidFill>
                  </a:tcPr>
                </a:tc>
              </a:tr>
              <a:tr h="607219">
                <a:tc>
                  <a:txBody>
                    <a:bodyPr>
                      <a:noAutofit/>
                    </a:bodyPr>
                    <a:lstStyle/>
                    <a:p>
                      <a:r>
                        <a:rPr sz="1725" b="0">
                          <a:solidFill>
                            <a:srgbClr val="1F2937"/>
                          </a:solidFill>
                          <a:latin typeface="Arial"/>
                          <a:ea typeface="Arial"/>
                          <a:cs typeface="Arial"/>
                        </a:rPr>
                        <a:t>Lunch Bag Red</a:t>
                      </a:r>
                    </a:p>
                    <a:p>
                      <a:r>
                        <a:rPr sz="1725" b="0">
                          <a:solidFill>
                            <a:srgbClr val="1F2937"/>
                          </a:solidFill>
                          <a:latin typeface="Arial"/>
                          <a:ea typeface="Arial"/>
                          <a:cs typeface="Arial"/>
                        </a:rPr>
                        <a:t>20725</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Lunch Bag Black Skull</a:t>
                      </a:r>
                    </a:p>
                    <a:p>
                      <a:r>
                        <a:rPr sz="1725" b="0">
                          <a:solidFill>
                            <a:srgbClr val="1F2937"/>
                          </a:solidFill>
                          <a:latin typeface="Arial"/>
                          <a:ea typeface="Arial"/>
                          <a:cs typeface="Arial"/>
                        </a:rPr>
                        <a:t>20727</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212</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9,6%</a:t>
                      </a:r>
                    </a:p>
                  </a:txBody>
                  <a:tcPr marL="91440" marR="91440" marT="45720" marB="45720">
                    <a:solidFill>
                      <a:srgbClr val="FFFFFF"/>
                    </a:solidFill>
                  </a:tcPr>
                </a:tc>
                <a:tc>
                  <a:txBody>
                    <a:bodyPr>
                      <a:noAutofit/>
                    </a:bodyPr>
                    <a:lstStyle/>
                    <a:p>
                      <a:r>
                        <a:rPr sz="1725" b="0">
                          <a:solidFill>
                            <a:srgbClr val="1F2937"/>
                          </a:solidFill>
                          <a:latin typeface="Arial"/>
                          <a:ea typeface="Arial"/>
                          <a:cs typeface="Arial"/>
                        </a:rPr>
                        <a:t>44,5%</a:t>
                      </a:r>
                    </a:p>
                  </a:txBody>
                  <a:tcPr marL="91440" marR="91440" marT="45720" marB="45720">
                    <a:solidFill>
                      <a:srgbClr val="FFFFFF"/>
                    </a:solidFill>
                  </a:tcPr>
                </a:tc>
              </a:tr>
              <a:tr h="607219">
                <a:tc>
                  <a:txBody>
                    <a:bodyPr>
                      <a:noAutofit/>
                    </a:bodyPr>
                    <a:lstStyle/>
                    <a:p>
                      <a:r>
                        <a:rPr sz="1725" b="0">
                          <a:solidFill>
                            <a:srgbClr val="1F2937"/>
                          </a:solidFill>
                          <a:latin typeface="Arial"/>
                          <a:ea typeface="Arial"/>
                          <a:cs typeface="Arial"/>
                        </a:rPr>
                        <a:t>Lunch Bag Cars Blue</a:t>
                      </a:r>
                    </a:p>
                    <a:p>
                      <a:r>
                        <a:rPr sz="1725" b="0">
                          <a:solidFill>
                            <a:srgbClr val="1F2937"/>
                          </a:solidFill>
                          <a:latin typeface="Arial"/>
                          <a:ea typeface="Arial"/>
                          <a:cs typeface="Arial"/>
                        </a:rPr>
                        <a:t>20728</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Lunch Bag Red</a:t>
                      </a:r>
                    </a:p>
                    <a:p>
                      <a:r>
                        <a:rPr sz="1725" b="0">
                          <a:solidFill>
                            <a:srgbClr val="1F2937"/>
                          </a:solidFill>
                          <a:latin typeface="Arial"/>
                          <a:ea typeface="Arial"/>
                          <a:cs typeface="Arial"/>
                        </a:rPr>
                        <a:t>20725</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209</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9,4%</a:t>
                      </a:r>
                    </a:p>
                  </a:txBody>
                  <a:tcPr marL="91440" marR="91440" marT="45720" marB="45720">
                    <a:solidFill>
                      <a:srgbClr val="F4F7FA"/>
                    </a:solidFill>
                  </a:tcPr>
                </a:tc>
                <a:tc>
                  <a:txBody>
                    <a:bodyPr>
                      <a:noAutofit/>
                    </a:bodyPr>
                    <a:lstStyle/>
                    <a:p>
                      <a:r>
                        <a:rPr sz="1725" b="0">
                          <a:solidFill>
                            <a:srgbClr val="1F2937"/>
                          </a:solidFill>
                          <a:latin typeface="Arial"/>
                          <a:ea typeface="Arial"/>
                          <a:cs typeface="Arial"/>
                        </a:rPr>
                        <a:t>50,2%</a:t>
                      </a:r>
                    </a:p>
                  </a:txBody>
                  <a:tcPr marL="91440" marR="91440" marT="45720" marB="45720">
                    <a:solidFill>
                      <a:srgbClr val="F4F7FA"/>
                    </a:solidFill>
                  </a:tcPr>
                </a:tc>
              </a:tr>
            </a:tbl>
          </a:graphicData>
        </a:graphic>
      </p:graphicFrame>
      <p:sp>
        <p:nvSpPr>
          <p:cNvPr id="22" name="">
            <a:extLst xmlns:a="http://schemas.openxmlformats.org/drawingml/2006/main">
              <a:ext uri="{FF2B5EF4-FFF2-40B4-BE49-F238E27FC236}">
                <a16:creationId xmlns:a16="http://schemas.microsoft.com/office/drawing/2014/main" id="{E00B64D6-E596-46B1-886D-A3D7BEEBAB80}"/>
              </a:ext>
            </a:extLst>
          </p:cNvPr>
          <p:cNvSpPr>
            <a:spLocks xmlns:a="http://schemas.openxmlformats.org/drawingml/2006/main" noGrp="1"/>
          </p:cNvSpPr>
          <p:nvPr/>
        </p:nvSpPr>
        <p:spPr>
          <a:xfrm xmlns:a="http://schemas.openxmlformats.org/drawingml/2006/main">
            <a:off x="523875" y="5572125"/>
            <a:ext cx="11144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1">
                <a:solidFill>
                  <a:srgbClr val="182D4B"/>
                </a:solidFill>
                <a:latin typeface="Arial"/>
                <a:ea typeface="Arial"/>
                <a:cs typeface="Arial"/>
              </a:defRPr>
            </a:pPr>
            <a:r>
              <a:rPr sz="1800" b="1">
                <a:solidFill>
                  <a:srgbClr val="182D4B"/>
                </a:solidFill>
                <a:latin typeface="Arial"/>
                <a:ea typeface="Arial"/>
                <a:cs typeface="Arial"/>
              </a:rPr>
              <a:t>Mỗi hóa đơn là một phiên. Sắp phiên theo thời gian của từng khách.</a:t>
            </a:r>
          </a:p>
          <a:p xmlns:a="http://schemas.openxmlformats.org/drawingml/2006/main">
            <a:pPr>
              <a:buNone/>
              <a:defRPr sz="1800" b="1">
                <a:solidFill>
                  <a:srgbClr val="182D4B"/>
                </a:solidFill>
                <a:latin typeface="Arial"/>
                <a:ea typeface="Arial"/>
                <a:cs typeface="Arial"/>
              </a:defRPr>
            </a:pPr>
            <a:r>
              <a:rPr sz="1800" b="1">
                <a:solidFill>
                  <a:srgbClr val="182D4B"/>
                </a:solidFill>
                <a:latin typeface="Arial"/>
                <a:ea typeface="Arial"/>
                <a:cs typeface="Arial"/>
              </a:rPr>
              <a:t>Mẫu sau phải nằm ở hóa đơn muộn hơn; thứ tự dòng trong cùng hóa đơn không có ý nghĩa.</a:t>
            </a:r>
          </a:p>
        </p:txBody>
      </p:sp>
    </p:spTree>
    <p:extLst>
      <p:ext uri="{BB962C8B-B14F-4D97-AF65-F5344CB8AC3E}">
        <p14:creationId xmlns:p14="http://schemas.microsoft.com/office/powerpoint/2010/main" val="161687690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14. Mỗi phương pháp trả lời một câu hỏi kinh doanh</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15</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graphicFrame>
        <p:nvGraphicFramePr>
          <p:cNvPr id="22" name=""/>
          <p:cNvGraphicFramePr/>
          <p:nvPr/>
        </p:nvGraphicFramePr>
        <p:xfrm>
          <a:off xmlns:a="http://schemas.openxmlformats.org/drawingml/2006/main" x="476250" y="1285875"/>
          <a:ext xmlns:a="http://schemas.openxmlformats.org/drawingml/2006/main" cx="11239500" cy="3905250"/>
        </p:xfrm>
        <a:graphic xmlns:a="http://schemas.openxmlformats.org/drawingml/2006/main">
          <a:graphicData uri="http://schemas.openxmlformats.org/drawingml/2006/table">
            <a:tbl>
              <a:tblPr/>
              <a:tblGrid>
                <a:gridCol w="2524125"/>
                <a:gridCol w="4143375"/>
                <a:gridCol w="4572000"/>
              </a:tblGrid>
              <a:tr h="650875">
                <a:tc>
                  <a:txBody>
                    <a:bodyPr>
                      <a:noAutofit/>
                    </a:bodyPr>
                    <a:lstStyle/>
                    <a:p>
                      <a:r>
                        <a:rPr sz="1650" b="1">
                          <a:solidFill>
                            <a:srgbClr val="FFFFFF"/>
                          </a:solidFill>
                          <a:latin typeface="Arial"/>
                          <a:ea typeface="Arial"/>
                          <a:cs typeface="Arial"/>
                        </a:rPr>
                        <a:t>Phương pháp</a:t>
                      </a:r>
                    </a:p>
                  </a:txBody>
                  <a:tcPr marL="91440" marR="91440" marT="45720" marB="45720">
                    <a:solidFill>
                      <a:srgbClr val="2696C5"/>
                    </a:solidFill>
                  </a:tcPr>
                </a:tc>
                <a:tc>
                  <a:txBody>
                    <a:bodyPr>
                      <a:noAutofit/>
                    </a:bodyPr>
                    <a:lstStyle/>
                    <a:p>
                      <a:r>
                        <a:rPr sz="1650" b="1">
                          <a:solidFill>
                            <a:srgbClr val="FFFFFF"/>
                          </a:solidFill>
                          <a:latin typeface="Arial"/>
                          <a:ea typeface="Arial"/>
                          <a:cs typeface="Arial"/>
                        </a:rPr>
                        <a:t>Câu hỏi</a:t>
                      </a:r>
                    </a:p>
                  </a:txBody>
                  <a:tcPr marL="91440" marR="91440" marT="45720" marB="45720">
                    <a:solidFill>
                      <a:srgbClr val="2696C5"/>
                    </a:solidFill>
                  </a:tcPr>
                </a:tc>
                <a:tc>
                  <a:txBody>
                    <a:bodyPr>
                      <a:noAutofit/>
                    </a:bodyPr>
                    <a:lstStyle/>
                    <a:p>
                      <a:r>
                        <a:rPr sz="1650" b="1">
                          <a:solidFill>
                            <a:srgbClr val="FFFFFF"/>
                          </a:solidFill>
                          <a:latin typeface="Arial"/>
                          <a:ea typeface="Arial"/>
                          <a:cs typeface="Arial"/>
                        </a:rPr>
                        <a:t>Đầu ra trong notebook</a:t>
                      </a:r>
                    </a:p>
                  </a:txBody>
                  <a:tcPr marL="91440" marR="91440" marT="45720" marB="45720">
                    <a:solidFill>
                      <a:srgbClr val="2696C5"/>
                    </a:solidFill>
                  </a:tcPr>
                </a:tc>
              </a:tr>
              <a:tr h="650875">
                <a:tc>
                  <a:txBody>
                    <a:bodyPr>
                      <a:noAutofit/>
                    </a:bodyPr>
                    <a:lstStyle/>
                    <a:p>
                      <a:r>
                        <a:rPr sz="1650" b="0">
                          <a:solidFill>
                            <a:srgbClr val="1F2937"/>
                          </a:solidFill>
                          <a:latin typeface="Arial"/>
                          <a:ea typeface="Arial"/>
                          <a:cs typeface="Arial"/>
                        </a:rPr>
                        <a:t>RFM + K-Means</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Nhóm khách nào cần chăm sóc?</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4 phân khúc khách hàng</a:t>
                      </a:r>
                    </a:p>
                  </a:txBody>
                  <a:tcPr marL="91440" marR="91440" marT="45720" marB="45720">
                    <a:solidFill>
                      <a:srgbClr val="F4F7FA"/>
                    </a:solidFill>
                  </a:tcPr>
                </a:tc>
              </a:tr>
              <a:tr h="650875">
                <a:tc>
                  <a:txBody>
                    <a:bodyPr>
                      <a:noAutofit/>
                    </a:bodyPr>
                    <a:lstStyle/>
                    <a:p>
                      <a:r>
                        <a:rPr sz="1650" b="0">
                          <a:solidFill>
                            <a:srgbClr val="1F2937"/>
                          </a:solidFill>
                          <a:latin typeface="Arial"/>
                          <a:ea typeface="Arial"/>
                          <a:cs typeface="Arial"/>
                        </a:rPr>
                        <a:t>Apriori</a:t>
                      </a:r>
                    </a:p>
                  </a:txBody>
                  <a:tcPr marL="91440" marR="91440" marT="45720" marB="45720">
                    <a:solidFill>
                      <a:srgbClr val="FFFFFF"/>
                    </a:solidFill>
                  </a:tcPr>
                </a:tc>
                <a:tc>
                  <a:txBody>
                    <a:bodyPr>
                      <a:noAutofit/>
                    </a:bodyPr>
                    <a:lstStyle/>
                    <a:p>
                      <a:r>
                        <a:rPr sz="1650" b="0">
                          <a:solidFill>
                            <a:srgbClr val="1F2937"/>
                          </a:solidFill>
                          <a:latin typeface="Arial"/>
                          <a:ea typeface="Arial"/>
                          <a:cs typeface="Arial"/>
                        </a:rPr>
                        <a:t>Sản phẩm nào thường mua cùng giỏ?</a:t>
                      </a:r>
                    </a:p>
                  </a:txBody>
                  <a:tcPr marL="91440" marR="91440" marT="45720" marB="45720">
                    <a:solidFill>
                      <a:srgbClr val="FFFFFF"/>
                    </a:solidFill>
                  </a:tcPr>
                </a:tc>
                <a:tc>
                  <a:txBody>
                    <a:bodyPr>
                      <a:noAutofit/>
                    </a:bodyPr>
                    <a:lstStyle/>
                    <a:p>
                      <a:r>
                        <a:rPr sz="1650" b="0">
                          <a:solidFill>
                            <a:srgbClr val="1F2937"/>
                          </a:solidFill>
                          <a:latin typeface="Arial"/>
                          <a:ea typeface="Arial"/>
                          <a:cs typeface="Arial"/>
                        </a:rPr>
                        <a:t>muc4_apriori_rules.csv</a:t>
                      </a:r>
                    </a:p>
                  </a:txBody>
                  <a:tcPr marL="91440" marR="91440" marT="45720" marB="45720">
                    <a:solidFill>
                      <a:srgbClr val="FFFFFF"/>
                    </a:solidFill>
                  </a:tcPr>
                </a:tc>
              </a:tr>
              <a:tr h="650875">
                <a:tc>
                  <a:txBody>
                    <a:bodyPr>
                      <a:noAutofit/>
                    </a:bodyPr>
                    <a:lstStyle/>
                    <a:p>
                      <a:r>
                        <a:rPr sz="1650" b="0">
                          <a:solidFill>
                            <a:srgbClr val="1F2937"/>
                          </a:solidFill>
                          <a:latin typeface="Arial"/>
                          <a:ea typeface="Arial"/>
                          <a:cs typeface="Arial"/>
                        </a:rPr>
                        <a:t>Item-item cosine</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Nên gợi ý món nào cho từng khách?</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muc6_recommender_evaluation.csv</a:t>
                      </a:r>
                    </a:p>
                    <a:p>
                      <a:r>
                        <a:rPr sz="1650" b="0">
                          <a:solidFill>
                            <a:srgbClr val="1F2937"/>
                          </a:solidFill>
                          <a:latin typeface="Arial"/>
                          <a:ea typeface="Arial"/>
                          <a:cs typeface="Arial"/>
                        </a:rPr>
                        <a:t>muc6_recommendations_sample.csv</a:t>
                      </a:r>
                    </a:p>
                  </a:txBody>
                  <a:tcPr marL="91440" marR="91440" marT="45720" marB="45720">
                    <a:solidFill>
                      <a:srgbClr val="F4F7FA"/>
                    </a:solidFill>
                  </a:tcPr>
                </a:tc>
              </a:tr>
              <a:tr h="650875">
                <a:tc>
                  <a:txBody>
                    <a:bodyPr>
                      <a:noAutofit/>
                    </a:bodyPr>
                    <a:lstStyle/>
                    <a:p>
                      <a:r>
                        <a:rPr sz="1650" b="0">
                          <a:solidFill>
                            <a:srgbClr val="1F2937"/>
                          </a:solidFill>
                          <a:latin typeface="Arial"/>
                          <a:ea typeface="Arial"/>
                          <a:cs typeface="Arial"/>
                        </a:rPr>
                        <a:t>Xu hướng SKU</a:t>
                      </a:r>
                    </a:p>
                  </a:txBody>
                  <a:tcPr marL="91440" marR="91440" marT="45720" marB="45720">
                    <a:solidFill>
                      <a:srgbClr val="FFFFFF"/>
                    </a:solidFill>
                  </a:tcPr>
                </a:tc>
                <a:tc>
                  <a:txBody>
                    <a:bodyPr>
                      <a:noAutofit/>
                    </a:bodyPr>
                    <a:lstStyle/>
                    <a:p>
                      <a:r>
                        <a:rPr sz="1650" b="0">
                          <a:solidFill>
                            <a:srgbClr val="1F2937"/>
                          </a:solidFill>
                          <a:latin typeface="Arial"/>
                          <a:ea typeface="Arial"/>
                          <a:cs typeface="Arial"/>
                        </a:rPr>
                        <a:t>Sản phẩm nào tăng / giảm lượng bán?</a:t>
                      </a:r>
                    </a:p>
                  </a:txBody>
                  <a:tcPr marL="91440" marR="91440" marT="45720" marB="45720">
                    <a:solidFill>
                      <a:srgbClr val="FFFFFF"/>
                    </a:solidFill>
                  </a:tcPr>
                </a:tc>
                <a:tc>
                  <a:txBody>
                    <a:bodyPr>
                      <a:noAutofit/>
                    </a:bodyPr>
                    <a:lstStyle/>
                    <a:p>
                      <a:r>
                        <a:rPr sz="1650" b="0">
                          <a:solidFill>
                            <a:srgbClr val="1F2937"/>
                          </a:solidFill>
                          <a:latin typeface="Arial"/>
                          <a:ea typeface="Arial"/>
                          <a:cs typeface="Arial"/>
                        </a:rPr>
                        <a:t>muc12_product_trends.csv</a:t>
                      </a:r>
                    </a:p>
                  </a:txBody>
                  <a:tcPr marL="91440" marR="91440" marT="45720" marB="45720">
                    <a:solidFill>
                      <a:srgbClr val="FFFFFF"/>
                    </a:solidFill>
                  </a:tcPr>
                </a:tc>
              </a:tr>
              <a:tr h="650875">
                <a:tc>
                  <a:txBody>
                    <a:bodyPr>
                      <a:noAutofit/>
                    </a:bodyPr>
                    <a:lstStyle/>
                    <a:p>
                      <a:r>
                        <a:rPr sz="1650" b="0">
                          <a:solidFill>
                            <a:srgbClr val="1F2937"/>
                          </a:solidFill>
                          <a:latin typeface="Arial"/>
                          <a:ea typeface="Arial"/>
                          <a:cs typeface="Arial"/>
                        </a:rPr>
                        <a:t>PrefixSpan-style</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Khách thường mua gì ở lần sau?</a:t>
                      </a:r>
                    </a:p>
                  </a:txBody>
                  <a:tcPr marL="91440" marR="91440" marT="45720" marB="45720">
                    <a:solidFill>
                      <a:srgbClr val="F4F7FA"/>
                    </a:solidFill>
                  </a:tcPr>
                </a:tc>
                <a:tc>
                  <a:txBody>
                    <a:bodyPr>
                      <a:noAutofit/>
                    </a:bodyPr>
                    <a:lstStyle/>
                    <a:p>
                      <a:r>
                        <a:rPr sz="1650" b="0">
                          <a:solidFill>
                            <a:srgbClr val="1F2937"/>
                          </a:solidFill>
                          <a:latin typeface="Arial"/>
                          <a:ea typeface="Arial"/>
                          <a:cs typeface="Arial"/>
                        </a:rPr>
                        <a:t>muc13_sequential_patterns.csv</a:t>
                      </a:r>
                    </a:p>
                  </a:txBody>
                  <a:tcPr marL="91440" marR="91440" marT="45720" marB="45720">
                    <a:solidFill>
                      <a:srgbClr val="F4F7FA"/>
                    </a:solidFill>
                  </a:tcPr>
                </a:tc>
              </a:tr>
            </a:tbl>
          </a:graphicData>
        </a:graphic>
      </p:graphicFrame>
      <p:sp>
        <p:nvSpPr>
          <p:cNvPr id="16" name="">
            <a:extLst xmlns:a="http://schemas.openxmlformats.org/drawingml/2006/main">
              <a:ext uri="{FF2B5EF4-FFF2-40B4-BE49-F238E27FC236}">
                <a16:creationId xmlns:a16="http://schemas.microsoft.com/office/drawing/2014/main" id="{BDC99823-F38F-4A28-8010-F87F8BB5D702}"/>
              </a:ext>
            </a:extLst>
          </p:cNvPr>
          <p:cNvSpPr>
            <a:spLocks xmlns:a="http://schemas.openxmlformats.org/drawingml/2006/main" noGrp="1"/>
          </p:cNvSpPr>
          <p:nvPr/>
        </p:nvSpPr>
        <p:spPr>
          <a:xfrm xmlns:a="http://schemas.openxmlformats.org/drawingml/2006/main">
            <a:off x="523875" y="5667375"/>
            <a:ext cx="11144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1">
                <a:solidFill>
                  <a:srgbClr val="182D4B"/>
                </a:solidFill>
                <a:latin typeface="Arial"/>
                <a:ea typeface="Arial"/>
                <a:cs typeface="Arial"/>
              </a:defRPr>
            </a:pPr>
            <a:r>
              <a:rPr sz="1875" b="1">
                <a:solidFill>
                  <a:srgbClr val="182D4B"/>
                </a:solidFill>
                <a:latin typeface="Arial"/>
                <a:ea typeface="Arial"/>
                <a:cs typeface="Arial"/>
              </a:rPr>
              <a:t>Demo: xem các bảng kết quả, ví dụ gợi ý và mạng luật, sau đó xuất 5 CSV.</a:t>
            </a:r>
          </a:p>
          <a:p xmlns:a="http://schemas.openxmlformats.org/drawingml/2006/main">
            <a:pPr>
              <a:buNone/>
              <a:defRPr sz="1875" b="1">
                <a:solidFill>
                  <a:srgbClr val="182D4B"/>
                </a:solidFill>
                <a:latin typeface="Arial"/>
                <a:ea typeface="Arial"/>
                <a:cs typeface="Arial"/>
              </a:defRPr>
            </a:pPr>
            <a:r>
              <a:rPr sz="1875" b="1">
                <a:solidFill>
                  <a:srgbClr val="182D4B"/>
                </a:solidFill>
                <a:latin typeface="Arial"/>
                <a:ea typeface="Arial"/>
                <a:cs typeface="Arial"/>
              </a:rPr>
              <a:t>Thư mục xuất: online_retail_outputs</a:t>
            </a:r>
          </a:p>
        </p:txBody>
      </p:sp>
    </p:spTree>
    <p:extLst>
      <p:ext uri="{BB962C8B-B14F-4D97-AF65-F5344CB8AC3E}">
        <p14:creationId xmlns:p14="http://schemas.microsoft.com/office/powerpoint/2010/main" val="1616876902"/>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Rectangle 13">
            <a:extLst xmlns:a="http://schemas.openxmlformats.org/drawingml/2006/main">
              <a:ext uri="{FF2B5EF4-FFF2-40B4-BE49-F238E27FC236}">
                <a16:creationId xmlns:a16="http://schemas.microsoft.com/office/drawing/2014/main" id="{757DB850-1F8A-4350-B824-BAD33F775EDA}"/>
              </a:ext>
            </a:extLst>
          </p:cNvPr>
          <p:cNvSpPr>
            <a:spLocks xmlns:a="http://schemas.openxmlformats.org/drawingml/2006/main" noGrp="1"/>
          </p:cNvSpPr>
          <p:nvPr/>
        </p:nvSpPr>
        <p:spPr>
          <a:xfrm xmlns:a="http://schemas.openxmlformats.org/drawingml/2006/main">
            <a:off x="0" y="0"/>
            <a:ext cx="12192000" cy="647700"/>
          </a:xfrm>
          <a:prstGeom xmlns:a="http://schemas.openxmlformats.org/drawingml/2006/main" prst="rect">
            <a:avLst/>
          </a:prstGeom>
          <a:solidFill xmlns:a="http://schemas.openxmlformats.org/drawingml/2006/main">
            <a:srgbClr val="182D4B"/>
          </a:solidFill>
          <a:ln xmlns:a="http://schemas.openxmlformats.org/drawingml/2006/main" w="0">
            <a:solidFill>
              <a:srgbClr val="182D4B"/>
            </a:solidFill>
          </a:ln>
        </p:spPr>
      </p:sp>
      <p:sp>
        <p:nvSpPr>
          <p:cNvPr id="2" name="Rectangle 1">
            <a:extLst xmlns:a="http://schemas.openxmlformats.org/drawingml/2006/main">
              <a:ext uri="{FF2B5EF4-FFF2-40B4-BE49-F238E27FC236}">
                <a16:creationId xmlns:a16="http://schemas.microsoft.com/office/drawing/2014/main" id="{A49EAE1B-6097-4623-B9F4-06B59BBC92E3}"/>
              </a:ext>
            </a:extLst>
          </p:cNvPr>
          <p:cNvSpPr>
            <a:spLocks xmlns:a="http://schemas.openxmlformats.org/drawingml/2006/main" noGrp="1"/>
          </p:cNvSpPr>
          <p:nvPr/>
        </p:nvSpPr>
        <p:spPr>
          <a:xfrm xmlns:a="http://schemas.openxmlformats.org/drawingml/2006/main">
            <a:off x="323850" y="762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buNone/>
              <a:defRPr sz="2175" b="1">
                <a:solidFill>
                  <a:srgbClr val="FFFFFF"/>
                </a:solidFill>
                <a:latin typeface="Arial"/>
                <a:ea typeface="Arial"/>
                <a:cs typeface="Arial"/>
              </a:defRPr>
            </a:pPr>
            <a:r>
              <a:rPr sz="2175" b="1">
                <a:solidFill>
                  <a:srgbClr val="FFFFFF"/>
                </a:solidFill>
                <a:latin typeface="Arial"/>
                <a:ea typeface="Arial"/>
                <a:cs typeface="Arial"/>
              </a:rPr>
              <a:t>15. Kết luận và giới hạn của bản cập nhật</a:t>
            </a:r>
          </a:p>
        </p:txBody>
      </p:sp>
      <p:sp>
        <p:nvSpPr>
          <p:cNvPr id="3" name="Rectangle 2">
            <a:extLst xmlns:a="http://schemas.openxmlformats.org/drawingml/2006/main">
              <a:ext uri="{FF2B5EF4-FFF2-40B4-BE49-F238E27FC236}">
                <a16:creationId xmlns:a16="http://schemas.microsoft.com/office/drawing/2014/main" id="{04FB5E6A-DD6C-4593-AA1C-40014D839FDC}"/>
              </a:ext>
            </a:extLst>
          </p:cNvPr>
          <p:cNvSpPr>
            <a:spLocks xmlns:a="http://schemas.openxmlformats.org/drawingml/2006/main" noGrp="1"/>
          </p:cNvSpPr>
          <p:nvPr/>
        </p:nvSpPr>
        <p:spPr>
          <a:xfrm xmlns:a="http://schemas.openxmlformats.org/drawingml/2006/main">
            <a:off x="11334750" y="95250"/>
            <a:ext cx="533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buNone/>
              <a:defRPr sz="1350" b="1">
                <a:solidFill>
                  <a:srgbClr val="F59E42"/>
                </a:solidFill>
                <a:latin typeface="Arial"/>
                <a:ea typeface="Arial"/>
                <a:cs typeface="Arial"/>
              </a:defRPr>
            </a:pPr>
            <a:r>
              <a:rPr sz="1350" b="1">
                <a:solidFill>
                  <a:srgbClr val="F59E42"/>
                </a:solidFill>
                <a:latin typeface="Arial"/>
                <a:ea typeface="Arial"/>
                <a:cs typeface="Arial"/>
              </a:rPr>
              <a:t>16</a:t>
            </a:r>
          </a:p>
        </p:txBody>
      </p:sp>
      <p:sp>
        <p:nvSpPr>
          <p:cNvPr id="13" name="Rectangle 12">
            <a:extLst xmlns:a="http://schemas.openxmlformats.org/drawingml/2006/main">
              <a:ext uri="{FF2B5EF4-FFF2-40B4-BE49-F238E27FC236}">
                <a16:creationId xmlns:a16="http://schemas.microsoft.com/office/drawing/2014/main" id="{7E7404A1-2D11-49F6-B015-0030DFBF5F67}"/>
              </a:ext>
            </a:extLst>
          </p:cNvPr>
          <p:cNvSpPr>
            <a:spLocks xmlns:a="http://schemas.openxmlformats.org/drawingml/2006/main" noGrp="1"/>
          </p:cNvSpPr>
          <p:nvPr/>
        </p:nvSpPr>
        <p:spPr>
          <a:xfrm xmlns:a="http://schemas.openxmlformats.org/drawingml/2006/main">
            <a:off x="361950" y="6572250"/>
            <a:ext cx="113157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Autofit/>
          </a:bodyPr>
          <a:lstStyle xmlns:a="http://schemas.openxmlformats.org/drawingml/2006/main"/>
          <a:p xmlns:a="http://schemas.openxmlformats.org/drawingml/2006/main">
            <a:pPr algn="l">
              <a:buNone/>
              <a:defRPr sz="825" b="0">
                <a:solidFill>
                  <a:srgbClr val="7B8794"/>
                </a:solidFill>
                <a:latin typeface="Arial"/>
                <a:ea typeface="Arial"/>
                <a:cs typeface="Arial"/>
              </a:defRPr>
            </a:pPr>
            <a:r>
              <a:rPr sz="825" b="0">
                <a:solidFill>
                  <a:srgbClr val="7B8794"/>
                </a:solidFill>
                <a:latin typeface="Arial"/>
                <a:ea typeface="Arial"/>
                <a:cs typeface="Arial"/>
              </a:rPr>
              <a:t>Nguồn: output notebook BT2 Online Retail, bản bổ sung mục 4, 6, 12, 13</a:t>
            </a:r>
          </a:p>
        </p:txBody>
      </p:sp>
      <p:sp>
        <p:nvSpPr>
          <p:cNvPr id="15" name="">
            <a:extLst xmlns:a="http://schemas.openxmlformats.org/drawingml/2006/main">
              <a:ext uri="{FF2B5EF4-FFF2-40B4-BE49-F238E27FC236}">
                <a16:creationId xmlns:a16="http://schemas.microsoft.com/office/drawing/2014/main" id="{60C0FA07-EC20-47C1-A720-454E8D1DDDE5}"/>
              </a:ext>
            </a:extLst>
          </p:cNvPr>
          <p:cNvSpPr>
            <a:spLocks xmlns:a="http://schemas.openxmlformats.org/drawingml/2006/main" noGrp="1"/>
          </p:cNvSpPr>
          <p:nvPr/>
        </p:nvSpPr>
        <p:spPr>
          <a:xfrm xmlns:a="http://schemas.openxmlformats.org/drawingml/2006/main">
            <a:off x="523875" y="1095375"/>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696C5"/>
                </a:solidFill>
                <a:latin typeface="Arial"/>
                <a:ea typeface="Arial"/>
                <a:cs typeface="Arial"/>
              </a:defRPr>
            </a:pPr>
            <a:r>
              <a:rPr sz="2250" b="1">
                <a:solidFill>
                  <a:srgbClr val="2696C5"/>
                </a:solidFill>
                <a:latin typeface="Arial"/>
                <a:ea typeface="Arial"/>
                <a:cs typeface="Arial"/>
              </a:rPr>
              <a:t>Kết quả đã có</a:t>
            </a:r>
          </a:p>
        </p:txBody>
      </p:sp>
      <p:sp>
        <p:nvSpPr>
          <p:cNvPr id="16" name="">
            <a:extLst xmlns:a="http://schemas.openxmlformats.org/drawingml/2006/main">
              <a:ext uri="{FF2B5EF4-FFF2-40B4-BE49-F238E27FC236}">
                <a16:creationId xmlns:a16="http://schemas.microsoft.com/office/drawing/2014/main" id="{206EBFEA-823C-4AB9-BE3A-AB04B5DEFB7F}"/>
              </a:ext>
            </a:extLst>
          </p:cNvPr>
          <p:cNvSpPr>
            <a:spLocks xmlns:a="http://schemas.openxmlformats.org/drawingml/2006/main" noGrp="1"/>
          </p:cNvSpPr>
          <p:nvPr/>
        </p:nvSpPr>
        <p:spPr>
          <a:xfrm xmlns:a="http://schemas.openxmlformats.org/drawingml/2006/main">
            <a:off x="523875" y="1762125"/>
            <a:ext cx="5476875" cy="3000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524.878 dòng bán hợp lệ</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4.338 khách cho RFM</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180 luật Apriori</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Precision@10 ≈ 4,9%, hơn baseline</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989 SKU đủ điều kiện phân tích xu hướng</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1.651 mẫu chuỗi mua dài 2–3</a:t>
            </a:r>
          </a:p>
        </p:txBody>
      </p:sp>
      <p:sp>
        <p:nvSpPr>
          <p:cNvPr id="17" name="">
            <a:extLst xmlns:a="http://schemas.openxmlformats.org/drawingml/2006/main">
              <a:ext uri="{FF2B5EF4-FFF2-40B4-BE49-F238E27FC236}">
                <a16:creationId xmlns:a16="http://schemas.microsoft.com/office/drawing/2014/main" id="{ED6119CD-3B31-424F-8C05-943ED8C6E5D1}"/>
              </a:ext>
            </a:extLst>
          </p:cNvPr>
          <p:cNvSpPr>
            <a:spLocks xmlns:a="http://schemas.openxmlformats.org/drawingml/2006/main" noGrp="1"/>
          </p:cNvSpPr>
          <p:nvPr/>
        </p:nvSpPr>
        <p:spPr>
          <a:xfrm xmlns:a="http://schemas.openxmlformats.org/drawingml/2006/main">
            <a:off x="6810375" y="1095375"/>
            <a:ext cx="476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1">
                <a:solidFill>
                  <a:srgbClr val="2696C5"/>
                </a:solidFill>
                <a:latin typeface="Arial"/>
                <a:ea typeface="Arial"/>
                <a:cs typeface="Arial"/>
              </a:defRPr>
            </a:pPr>
            <a:r>
              <a:rPr sz="2250" b="1">
                <a:solidFill>
                  <a:srgbClr val="2696C5"/>
                </a:solidFill>
                <a:latin typeface="Arial"/>
                <a:ea typeface="Arial"/>
                <a:cs typeface="Arial"/>
              </a:rPr>
              <a:t>Hướng sử dụng</a:t>
            </a:r>
          </a:p>
        </p:txBody>
      </p:sp>
      <p:sp>
        <p:nvSpPr>
          <p:cNvPr id="18" name="">
            <a:extLst xmlns:a="http://schemas.openxmlformats.org/drawingml/2006/main">
              <a:ext uri="{FF2B5EF4-FFF2-40B4-BE49-F238E27FC236}">
                <a16:creationId xmlns:a16="http://schemas.microsoft.com/office/drawing/2014/main" id="{DAD32883-FA2C-458F-8D68-E2E952F45E77}"/>
              </a:ext>
            </a:extLst>
          </p:cNvPr>
          <p:cNvSpPr>
            <a:spLocks xmlns:a="http://schemas.openxmlformats.org/drawingml/2006/main" noGrp="1"/>
          </p:cNvSpPr>
          <p:nvPr/>
        </p:nvSpPr>
        <p:spPr>
          <a:xfrm xmlns:a="http://schemas.openxmlformats.org/drawingml/2006/main">
            <a:off x="6810375" y="1762125"/>
            <a:ext cx="4667250" cy="285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Giữ chân khách giá trị cao</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Thử combo từ các luật mua kèm</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Cá nhân hóa danh sách sản phẩm</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Theo dõi tồn kho theo xu hướng</a:t>
            </a:r>
          </a:p>
          <a:p xmlns:a="http://schemas.openxmlformats.org/drawingml/2006/main">
            <a:pPr>
              <a:buNone/>
              <a:defRPr sz="1950" b="0">
                <a:solidFill>
                  <a:srgbClr val="1F2937"/>
                </a:solidFill>
                <a:latin typeface="Arial"/>
                <a:ea typeface="Arial"/>
                <a:cs typeface="Arial"/>
              </a:defRPr>
            </a:pPr>
            <a:r>
              <a:rPr sz="1950" b="0">
                <a:solidFill>
                  <a:srgbClr val="1F2937"/>
                </a:solidFill>
                <a:latin typeface="Arial"/>
                <a:ea typeface="Arial"/>
                <a:cs typeface="Arial"/>
              </a:rPr>
              <a:t>Nhắc mua tiếp theo chuỗi hành vi</a:t>
            </a:r>
          </a:p>
        </p:txBody>
      </p:sp>
      <p:sp>
        <p:nvSpPr>
          <p:cNvPr id="19" name="">
            <a:extLst xmlns:a="http://schemas.openxmlformats.org/drawingml/2006/main">
              <a:ext uri="{FF2B5EF4-FFF2-40B4-BE49-F238E27FC236}">
                <a16:creationId xmlns:a16="http://schemas.microsoft.com/office/drawing/2014/main" id="{A2840FD4-3471-4AB0-A733-22D84D25069E}"/>
              </a:ext>
            </a:extLst>
          </p:cNvPr>
          <p:cNvSpPr>
            <a:spLocks xmlns:a="http://schemas.openxmlformats.org/drawingml/2006/main" noGrp="1"/>
          </p:cNvSpPr>
          <p:nvPr/>
        </p:nvSpPr>
        <p:spPr>
          <a:xfrm xmlns:a="http://schemas.openxmlformats.org/drawingml/2006/main">
            <a:off x="523875" y="5095875"/>
            <a:ext cx="10858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025" b="1">
                <a:solidFill>
                  <a:srgbClr val="182D4B"/>
                </a:solidFill>
                <a:latin typeface="Arial"/>
                <a:ea typeface="Arial"/>
                <a:cs typeface="Arial"/>
              </a:defRPr>
            </a:pPr>
            <a:r>
              <a:rPr sz="2025" b="1">
                <a:solidFill>
                  <a:srgbClr val="182D4B"/>
                </a:solidFill>
                <a:latin typeface="Arial"/>
                <a:ea typeface="Arial"/>
                <a:cs typeface="Arial"/>
              </a:rPr>
              <a:t>Giới hạn cần trình bày</a:t>
            </a:r>
          </a:p>
        </p:txBody>
      </p:sp>
      <p:sp>
        <p:nvSpPr>
          <p:cNvPr id="20" name="">
            <a:extLst xmlns:a="http://schemas.openxmlformats.org/drawingml/2006/main">
              <a:ext uri="{FF2B5EF4-FFF2-40B4-BE49-F238E27FC236}">
                <a16:creationId xmlns:a16="http://schemas.microsoft.com/office/drawing/2014/main" id="{BD3FB096-FF9B-45E6-9625-715C427F0CBC}"/>
              </a:ext>
            </a:extLst>
          </p:cNvPr>
          <p:cNvSpPr>
            <a:spLocks xmlns:a="http://schemas.openxmlformats.org/drawingml/2006/main" noGrp="1"/>
          </p:cNvSpPr>
          <p:nvPr/>
        </p:nvSpPr>
        <p:spPr>
          <a:xfrm xmlns:a="http://schemas.openxmlformats.org/drawingml/2006/main">
            <a:off x="523875" y="5619750"/>
            <a:ext cx="111442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725" b="0">
                <a:solidFill>
                  <a:srgbClr val="5E6B7A"/>
                </a:solidFill>
                <a:latin typeface="Arial"/>
                <a:ea typeface="Arial"/>
                <a:cs typeface="Arial"/>
              </a:defRPr>
            </a:pPr>
            <a:r>
              <a:rPr sz="1725" b="0">
                <a:solidFill>
                  <a:srgbClr val="5E6B7A"/>
                </a:solidFill>
                <a:latin typeface="Arial"/>
                <a:ea typeface="Arial"/>
                <a:cs typeface="Arial"/>
              </a:rPr>
              <a:t>Thiếu CustomerID 24,9%. Dữ liệu khoảng một năm và tập trung tại UK.</a:t>
            </a:r>
          </a:p>
          <a:p xmlns:a="http://schemas.openxmlformats.org/drawingml/2006/main">
            <a:pPr>
              <a:buNone/>
              <a:defRPr sz="1725" b="0">
                <a:solidFill>
                  <a:srgbClr val="5E6B7A"/>
                </a:solidFill>
                <a:latin typeface="Arial"/>
                <a:ea typeface="Arial"/>
                <a:cs typeface="Arial"/>
              </a:defRPr>
            </a:pPr>
            <a:r>
              <a:rPr sz="1725" b="0">
                <a:solidFill>
                  <a:srgbClr val="5E6B7A"/>
                </a:solidFill>
                <a:latin typeface="Arial"/>
                <a:ea typeface="Arial"/>
                <a:cs typeface="Arial"/>
              </a:rPr>
              <a:t>Gợi ý giới hạn 800 SKU; chuỗi giới hạn 40 SKU. Các liên hệ chưa chứng minh nhân quả.</a:t>
            </a:r>
          </a:p>
          <a:p xmlns:a="http://schemas.openxmlformats.org/drawingml/2006/main">
            <a:pPr>
              <a:buNone/>
              <a:defRPr sz="1725" b="0">
                <a:solidFill>
                  <a:srgbClr val="5E6B7A"/>
                </a:solidFill>
                <a:latin typeface="Arial"/>
                <a:ea typeface="Arial"/>
                <a:cs typeface="Arial"/>
              </a:defRPr>
            </a:pPr>
            <a:r>
              <a:rPr sz="1725" b="0">
                <a:solidFill>
                  <a:srgbClr val="5E6B7A"/>
                </a:solidFill>
                <a:latin typeface="Arial"/>
                <a:ea typeface="Arial"/>
                <a:cs typeface="Arial"/>
              </a:rPr>
              <a:t>Cần kiểm tra trên giai đoạn mới và thử nghiệm kinh doanh trước khi triển khai.</a:t>
            </a:r>
          </a:p>
        </p:txBody>
      </p:sp>
    </p:spTree>
    <p:extLst>
      <p:ext uri="{BB962C8B-B14F-4D97-AF65-F5344CB8AC3E}">
        <p14:creationId xmlns:p14="http://schemas.microsoft.com/office/powerpoint/2010/main" val="161687690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2026-10-05T15:37:02.4550000Z</dcterms:created>
  <dcterms:modified xsi:type="dcterms:W3CDTF">2026-10-05T15:37:02.4550000Z</dcterms:modified>
</coreProperties>
</file>