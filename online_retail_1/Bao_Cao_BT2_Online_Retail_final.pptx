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Nghìn dòng</c:v>
          </c:tx>
          <c:spPr>
            <a:solidFill>
              <a:srgbClr val="2696C5"/>
            </a:solidFill>
          </c:spPr>
          <c:invertIfNegative val="1"/>
          <c:dLbls>
            <c:spPr>
              <a:noFill/>
              <a:ln>
                <a:noFill/>
              </a:ln>
              <a:effectLst/>
            </c:spPr>
            <c:txPr>
              <a:bodyPr anchorCtr="1"/>
              <a:lstStyle/>
              <a:p>
                <a:pPr>
                  <a:defRPr sz="975" b="1">
                    <a:solidFill>
                      <a:srgbClr val="182D4B"/>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Thiếu CustomerID</c:v>
              </c:pt>
              <c:pt idx="1">
                <c:v>Dòng hủy</c:v>
              </c:pt>
              <c:pt idx="2">
                <c:v>Trùng hoàn toàn</c:v>
              </c:pt>
              <c:pt idx="3">
                <c:v>Giá ≤ 0</c:v>
              </c:pt>
              <c:pt idx="4">
                <c:v>Thiếu mô tả</c:v>
              </c:pt>
            </c:strLit>
          </c:cat>
          <c:val>
            <c:numLit>
              <c:formatCode>General</c:formatCode>
              <c:ptCount val="5"/>
              <c:pt idx="0">
                <c:v>135.08000000000001</c:v>
              </c:pt>
              <c:pt idx="1">
                <c:v>9.2880000000000003</c:v>
              </c:pt>
              <c:pt idx="2">
                <c:v>5.2679999999999998</c:v>
              </c:pt>
              <c:pt idx="3">
                <c:v>2.5169999999999999</c:v>
              </c:pt>
              <c:pt idx="4">
                <c:v>1.454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AB4-4844-B5EB-1C1A3AA16F9D}"/>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8EDF2"/>
              </a:solidFill>
              <a:prstDash val="solid"/>
            </a:ln>
          </c:spPr>
        </c:majorGridlines>
        <c:title>
          <c:tx>
            <c:rich>
              <a:bodyPr/>
              <a:lstStyle/>
              <a:p>
                <a:r>
                  <a:rPr lang="vi-VN">
                    <a:latin typeface="Arial"/>
                    <a:ea typeface="Arial"/>
                    <a:cs typeface="Arial"/>
                  </a:rPr>
                  <a:t>Nghìn dòng bị ảnh hưởng</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E6B7A"/>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7E0E8"/>
            </a:solidFill>
          </a:ln>
        </c:spPr>
        <c:txPr>
          <a:bodyPr anchorCtr="1"/>
          <a:lstStyle/>
          <a:p>
            <a:pPr>
              <a:defRPr sz="1050">
                <a:solidFill>
                  <a:srgbClr val="1F2937"/>
                </a:solidFill>
                <a:latin typeface="Arial"/>
                <a:ea typeface="Arial"/>
                <a:cs typeface="Arial"/>
              </a:defRPr>
            </a:pPr>
            <a:endParaRPr lang="en-US"/>
          </a:p>
        </c:txPr>
        <c:crossAx val="48650112"/>
        <c:crosses val="autoZero"/>
        <c:crossBetween val="between"/>
      </c:valAx>
    </c:plotArea>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Doanh thu</c:v>
          </c:tx>
          <c:spPr>
            <a:ln w="28575">
              <a:solidFill>
                <a:srgbClr val="2696C5"/>
              </a:solidFill>
              <a:prstDash val="solid"/>
            </a:ln>
          </c:spPr>
          <c:marker>
            <c:symbol val="circle"/>
            <c:size val="7"/>
            <c:spPr>
              <a:solidFill>
                <a:srgbClr val="2696C5"/>
              </a:solidFill>
            </c:spPr>
          </c:marker>
          <c:cat>
            <c:strLit>
              <c:ptCount val="13"/>
              <c:pt idx="0">
                <c:v>10/12</c:v>
              </c:pt>
              <c:pt idx="1">
                <c:v>11/01</c:v>
              </c:pt>
              <c:pt idx="2">
                <c:v>11/02</c:v>
              </c:pt>
              <c:pt idx="3">
                <c:v>11/03</c:v>
              </c:pt>
              <c:pt idx="4">
                <c:v>11/04</c:v>
              </c:pt>
              <c:pt idx="5">
                <c:v>11/05</c:v>
              </c:pt>
              <c:pt idx="6">
                <c:v>11/06</c:v>
              </c:pt>
              <c:pt idx="7">
                <c:v>11/07</c:v>
              </c:pt>
              <c:pt idx="8">
                <c:v>11/08</c:v>
              </c:pt>
              <c:pt idx="9">
                <c:v>11/09</c:v>
              </c:pt>
              <c:pt idx="10">
                <c:v>11/10</c:v>
              </c:pt>
              <c:pt idx="11">
                <c:v>11/11</c:v>
              </c:pt>
              <c:pt idx="12">
                <c:v>11/12</c:v>
              </c:pt>
            </c:strLit>
          </c:cat>
          <c:val>
            <c:numLit>
              <c:formatCode>0.0</c:formatCode>
              <c:ptCount val="13"/>
              <c:pt idx="0">
                <c:v>0.82145272999999996</c:v>
              </c:pt>
              <c:pt idx="1">
                <c:v>0.68981161000000002</c:v>
              </c:pt>
              <c:pt idx="2">
                <c:v>0.52254555999999996</c:v>
              </c:pt>
              <c:pt idx="3">
                <c:v>0.71621526000000002</c:v>
              </c:pt>
              <c:pt idx="4">
                <c:v>0.53696849099999999</c:v>
              </c:pt>
              <c:pt idx="5">
                <c:v>0.76929660999999994</c:v>
              </c:pt>
              <c:pt idx="6">
                <c:v>0.76054701000000002</c:v>
              </c:pt>
              <c:pt idx="7">
                <c:v>0.71807612100000007</c:v>
              </c:pt>
              <c:pt idx="8">
                <c:v>0.75784138000000001</c:v>
              </c:pt>
              <c:pt idx="9">
                <c:v>1.0564351920000001</c:v>
              </c:pt>
              <c:pt idx="10">
                <c:v>1.1512637299999999</c:v>
              </c:pt>
              <c:pt idx="11">
                <c:v>1.5038667800000001</c:v>
              </c:pt>
              <c:pt idx="12">
                <c:v>0.63779032999999996</c:v>
              </c:pt>
            </c:numLit>
          </c:val>
          <c:smooth val="1"/>
          <c:extLst>
            <c:ext xmlns:c16="http://schemas.microsoft.com/office/drawing/2014/chart" uri="{C3380CC4-5D6E-409C-BE32-E72D297353CC}">
              <c16:uniqueId val="{00000000-F0FD-4EF6-A71B-BFF9291D83B0}"/>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7E0E8"/>
            </a:solidFill>
          </a:ln>
        </c:spPr>
        <c:txPr>
          <a:bodyPr anchorCtr="1"/>
          <a:lstStyle/>
          <a:p>
            <a:pPr>
              <a:defRPr sz="900">
                <a:solidFill>
                  <a:srgbClr val="5E6B7A"/>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7"/>
          <c:min val="0"/>
        </c:scaling>
        <c:delete val="0"/>
        <c:axPos val="l"/>
        <c:majorGridlines>
          <c:spPr>
            <a:ln w="9525">
              <a:solidFill>
                <a:srgbClr val="E8EDF2"/>
              </a:solidFill>
              <a:prstDash val="solid"/>
            </a:ln>
          </c:spPr>
        </c:majorGridlines>
        <c:title>
          <c:tx>
            <c:rich>
              <a:bodyPr/>
              <a:lstStyle/>
              <a:p>
                <a:r>
                  <a:rPr lang="en-US">
                    <a:latin typeface="Arial"/>
                    <a:ea typeface="Arial"/>
                    <a:cs typeface="Arial"/>
                  </a:rPr>
                  <a:t>Triệu bảng (£)</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900">
                <a:solidFill>
                  <a:srgbClr val="5E6B7A"/>
                </a:solidFill>
                <a:latin typeface="Arial"/>
                <a:ea typeface="Arial"/>
                <a:cs typeface="Arial"/>
              </a:defRPr>
            </a:pPr>
            <a:endParaRPr lang="en-US"/>
          </a:p>
        </c:txPr>
        <c:crossAx val="48650112"/>
        <c:crosses val="autoZero"/>
        <c:crossBetween val="between"/>
        <c:majorUnit val="0.5"/>
      </c:valAx>
    </c:plotArea>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Số hóa đơn</c:v>
          </c:tx>
          <c:spPr>
            <a:solidFill>
              <a:srgbClr val="26A69A"/>
            </a:solidFill>
          </c:spPr>
          <c:invertIfNegative val="1"/>
          <c:dLbls>
            <c:spPr>
              <a:noFill/>
              <a:ln>
                <a:noFill/>
              </a:ln>
              <a:effectLst/>
            </c:spPr>
            <c:txPr>
              <a:bodyPr anchorCtr="1"/>
              <a:lstStyle/>
              <a:p>
                <a:pPr>
                  <a:defRPr sz="975" b="1">
                    <a:solidFill>
                      <a:srgbClr val="182D4B"/>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Heart T-light holder</c:v>
              </c:pt>
              <c:pt idx="1">
                <c:v>Jumbo bag red</c:v>
              </c:pt>
              <c:pt idx="2">
                <c:v>Regency cakestand</c:v>
              </c:pt>
              <c:pt idx="3">
                <c:v>Party bunting</c:v>
              </c:pt>
              <c:pt idx="4">
                <c:v>Lunch bag red</c:v>
              </c:pt>
              <c:pt idx="5">
                <c:v>Bird ornament</c:v>
              </c:pt>
            </c:strLit>
          </c:cat>
          <c:val>
            <c:numLit>
              <c:formatCode>General</c:formatCode>
              <c:ptCount val="6"/>
              <c:pt idx="0">
                <c:v>2189</c:v>
              </c:pt>
              <c:pt idx="1">
                <c:v>2089</c:v>
              </c:pt>
              <c:pt idx="2">
                <c:v>1988</c:v>
              </c:pt>
              <c:pt idx="3">
                <c:v>1685</c:v>
              </c:pt>
              <c:pt idx="4">
                <c:v>1564</c:v>
              </c:pt>
              <c:pt idx="5">
                <c:v>1455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B5E-4668-8923-4762C8737AFF}"/>
            </c:ext>
          </c:extLst>
        </c:ser>
        <c:dLbls>
          <c:dLblPos val="outEnd"/>
          <c:showLegendKey val="0"/>
          <c:showVal val="1"/>
          <c:showCatName val="0"/>
          <c:showSerName val="0"/>
          <c:showPercent val="0"/>
          <c:showBubbleSize val="0"/>
        </c:dLbls>
        <c:gapWidth val="34"/>
        <c:axId val="48650112"/>
        <c:axId val="48672768"/>
      </c:barChart>
      <c:catAx>
        <c:axId val="48650112"/>
        <c:scaling>
          <c:orientation val="minMax"/>
        </c:scaling>
        <c:delete val="0"/>
        <c:axPos val="l"/>
        <c:majorGridlines>
          <c:spPr>
            <a:ln w="9525">
              <a:solidFill>
                <a:srgbClr val="E8EDF2"/>
              </a:solidFill>
              <a:prstDash val="solid"/>
            </a:ln>
          </c:spPr>
        </c:majorGridlines>
        <c:title>
          <c:tx>
            <c:rich>
              <a:bodyPr/>
              <a:lstStyle/>
              <a:p>
                <a:r>
                  <a:rPr lang="vi-VN">
                    <a:latin typeface="Arial"/>
                    <a:ea typeface="Arial"/>
                    <a:cs typeface="Arial"/>
                  </a:rPr>
                  <a:t>Số hóa đơn có sản phẩm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00">
                <a:solidFill>
                  <a:srgbClr val="5E6B7A"/>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7E0E8"/>
            </a:solidFill>
          </a:ln>
        </c:spPr>
        <c:txPr>
          <a:bodyPr anchorCtr="1"/>
          <a:lstStyle/>
          <a:p>
            <a:pPr>
              <a:defRPr sz="1050">
                <a:solidFill>
                  <a:srgbClr val="1F2937"/>
                </a:solidFill>
                <a:latin typeface="Arial"/>
                <a:ea typeface="Arial"/>
                <a:cs typeface="Arial"/>
              </a:defRPr>
            </a:pPr>
            <a:endParaRPr lang="en-US"/>
          </a:p>
        </c:txPr>
        <c:crossAx val="48650112"/>
        <c:crosses val="autoZero"/>
        <c:crossBetween val="between"/>
      </c:valAx>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Silhouette</c:v>
          </c:tx>
          <c:spPr>
            <a:ln w="28575">
              <a:solidFill>
                <a:srgbClr val="2696C5"/>
              </a:solidFill>
              <a:prstDash val="solid"/>
            </a:ln>
          </c:spPr>
          <c:marker>
            <c:symbol val="circle"/>
            <c:size val="9"/>
            <c:spPr>
              <a:solidFill>
                <a:srgbClr val="2696C5"/>
              </a:solidFill>
            </c:spPr>
          </c:marker>
          <c:dLbls>
            <c:spPr>
              <a:noFill/>
              <a:ln>
                <a:noFill/>
              </a:ln>
              <a:effectLst/>
            </c:spPr>
            <c:txPr>
              <a:bodyPr anchorCtr="1"/>
              <a:lstStyle/>
              <a:p>
                <a:pPr>
                  <a:defRPr sz="900" b="1">
                    <a:solidFill>
                      <a:srgbClr val="182D4B"/>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Lit>
              <c:formatCode>General</c:formatCode>
              <c:ptCount val="5"/>
              <c:pt idx="0">
                <c:v>2</c:v>
              </c:pt>
              <c:pt idx="1">
                <c:v>3</c:v>
              </c:pt>
              <c:pt idx="2">
                <c:v>4</c:v>
              </c:pt>
              <c:pt idx="3">
                <c:v>5</c:v>
              </c:pt>
              <c:pt idx="4">
                <c:v>6</c:v>
              </c:pt>
            </c:numLit>
          </c:cat>
          <c:val>
            <c:numLit>
              <c:formatCode>0.00</c:formatCode>
              <c:ptCount val="5"/>
              <c:pt idx="0">
                <c:v>0.43465304388480641</c:v>
              </c:pt>
              <c:pt idx="1">
                <c:v>0.33696023487338123</c:v>
              </c:pt>
              <c:pt idx="2">
                <c:v>0.33543020927067169</c:v>
              </c:pt>
              <c:pt idx="3">
                <c:v>0.31679204999112842</c:v>
              </c:pt>
              <c:pt idx="4">
                <c:v>0.31377236565332112</c:v>
              </c:pt>
            </c:numLit>
          </c:val>
          <c:smooth val="1"/>
          <c:extLst>
            <c:ext xmlns:c16="http://schemas.microsoft.com/office/drawing/2014/chart" uri="{C3380CC4-5D6E-409C-BE32-E72D297353CC}">
              <c16:uniqueId val="{00000000-94F7-4DDD-AB7E-F3614D90DC3D}"/>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US">
                    <a:latin typeface="Arial"/>
                    <a:ea typeface="Arial"/>
                    <a:cs typeface="Arial"/>
                  </a:rPr>
                  <a:t>Số cụm k</a:t>
                </a:r>
              </a:p>
            </c:rich>
          </c:tx>
          <c:overlay val="0"/>
        </c:title>
        <c:numFmt formatCode="General" sourceLinked="1"/>
        <c:majorTickMark val="none"/>
        <c:minorTickMark val="none"/>
        <c:tickLblPos val="nextTo"/>
        <c:spPr>
          <a:ln w="9525">
            <a:solidFill>
              <a:srgbClr val="D7E0E8"/>
            </a:solidFill>
          </a:ln>
        </c:spPr>
        <c:txPr>
          <a:bodyPr anchorCtr="1"/>
          <a:lstStyle/>
          <a:p>
            <a:pPr>
              <a:defRPr sz="1050">
                <a:solidFill>
                  <a:srgbClr val="5E6B7A"/>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46"/>
          <c:min val="0.25"/>
        </c:scaling>
        <c:delete val="0"/>
        <c:axPos val="l"/>
        <c:majorGridlines>
          <c:spPr>
            <a:ln w="9525">
              <a:solidFill>
                <a:srgbClr val="E8EDF2"/>
              </a:solidFill>
              <a:prstDash val="solid"/>
            </a:ln>
          </c:spPr>
        </c:majorGridlines>
        <c:title>
          <c:tx>
            <c:rich>
              <a:bodyPr/>
              <a:lstStyle/>
              <a:p>
                <a:r>
                  <a:rPr lang="en-US">
                    <a:latin typeface="Arial"/>
                    <a:ea typeface="Arial"/>
                    <a:cs typeface="Arial"/>
                  </a:rPr>
                  <a:t>Silhouette score</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975">
                <a:solidFill>
                  <a:srgbClr val="5E6B7A"/>
                </a:solidFill>
                <a:latin typeface="Arial"/>
                <a:ea typeface="Arial"/>
                <a:cs typeface="Arial"/>
              </a:defRPr>
            </a:pPr>
            <a:endParaRPr lang="en-US"/>
          </a:p>
        </c:txPr>
        <c:crossAx val="48650112"/>
        <c:crosses val="autoZero"/>
        <c:crossBetween val="between"/>
        <c:majorUnit val="0.05"/>
      </c:valAx>
    </c:plotArea>
    <c:plotVisOnly val="1"/>
    <c:dispBlanksAs val="zero"/>
    <c:showDLblsOverMax val="1"/>
  </c:char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Tỷ trọng khách</c:v>
          </c:tx>
          <c:spPr>
            <a:solidFill>
              <a:srgbClr val="2696C5"/>
            </a:solidFill>
          </c:spPr>
          <c:invertIfNegative val="1"/>
          <c:dLbls>
            <c:spPr>
              <a:noFill/>
              <a:ln>
                <a:noFill/>
              </a:ln>
              <a:effectLst/>
            </c:spPr>
            <c:txPr>
              <a:bodyPr anchorCtr="1"/>
              <a:lstStyle/>
              <a:p>
                <a:pPr>
                  <a:defRPr sz="900" b="1">
                    <a:solidFill>
                      <a:srgbClr val="182D4B"/>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Ngủ quên</c:v>
              </c:pt>
              <c:pt idx="1">
                <c:v>Giá trị cao</c:v>
              </c:pt>
              <c:pt idx="2">
                <c:v>Mới/ít mua</c:v>
              </c:pt>
              <c:pt idx="3">
                <c:v>Khách cốt lõi</c:v>
              </c:pt>
            </c:strLit>
          </c:cat>
          <c:val>
            <c:numLit>
              <c:formatCode>0%</c:formatCode>
              <c:ptCount val="4"/>
              <c:pt idx="0">
                <c:v>0.34301521438450899</c:v>
              </c:pt>
              <c:pt idx="1">
                <c:v>0.17657906869525128</c:v>
              </c:pt>
              <c:pt idx="2">
                <c:v>0.20355002305209774</c:v>
              </c:pt>
              <c:pt idx="3">
                <c:v>0.27685569386814202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B33-4ED2-8D2B-76D5478FD53E}"/>
            </c:ext>
          </c:extLst>
        </c:ser>
        <c:ser>
          <c:idx val="1"/>
          <c:order val="1"/>
          <c:tx>
            <c:v>Tỷ trọng doanh thu</c:v>
          </c:tx>
          <c:spPr>
            <a:solidFill>
              <a:srgbClr val="F59E42"/>
            </a:solidFill>
          </c:spPr>
          <c:invertIfNegative val="1"/>
          <c:dLbls>
            <c:spPr>
              <a:noFill/>
              <a:ln>
                <a:noFill/>
              </a:ln>
              <a:effectLst/>
            </c:spPr>
            <c:txPr>
              <a:bodyPr anchorCtr="1"/>
              <a:lstStyle/>
              <a:p>
                <a:pPr>
                  <a:defRPr sz="900" b="1">
                    <a:solidFill>
                      <a:srgbClr val="182D4B"/>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Ngủ quên</c:v>
              </c:pt>
              <c:pt idx="1">
                <c:v>Giá trị cao</c:v>
              </c:pt>
              <c:pt idx="2">
                <c:v>Mới/ít mua</c:v>
              </c:pt>
              <c:pt idx="3">
                <c:v>Khách cốt lõi</c:v>
              </c:pt>
            </c:strLit>
          </c:cat>
          <c:val>
            <c:numLit>
              <c:formatCode>0%</c:formatCode>
              <c:ptCount val="4"/>
              <c:pt idx="0">
                <c:v>5.6523171334381381E-2</c:v>
              </c:pt>
              <c:pt idx="1">
                <c:v>0.65966317883649384</c:v>
              </c:pt>
              <c:pt idx="2">
                <c:v>4.7263163835788644E-2</c:v>
              </c:pt>
              <c:pt idx="3">
                <c:v>0.23655048599333625</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BB33-4ED2-8D2B-76D5478FD53E}"/>
            </c:ext>
          </c:extLst>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7E0E8"/>
            </a:solidFill>
          </a:ln>
        </c:spPr>
        <c:txPr>
          <a:bodyPr anchorCtr="1"/>
          <a:lstStyle/>
          <a:p>
            <a:pPr>
              <a:defRPr sz="975">
                <a:solidFill>
                  <a:srgbClr val="1F2937"/>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75"/>
          <c:min val="0"/>
        </c:scaling>
        <c:delete val="0"/>
        <c:axPos val="l"/>
        <c:majorGridlines>
          <c:spPr>
            <a:ln w="9525">
              <a:solidFill>
                <a:srgbClr val="E8EDF2"/>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900">
                <a:solidFill>
                  <a:srgbClr val="5E6B7A"/>
                </a:solidFill>
                <a:latin typeface="Arial"/>
                <a:ea typeface="Arial"/>
                <a:cs typeface="Arial"/>
              </a:defRPr>
            </a:pPr>
            <a:endParaRPr lang="en-US"/>
          </a:p>
        </c:txPr>
        <c:crossAx val="48650112"/>
        <c:crosses val="autoZero"/>
        <c:crossBetween val="between"/>
        <c:majorUnit val="0.15"/>
      </c:valAx>
    </c:plotArea>
    <c:legend>
      <c:legendPos val="b"/>
      <c:overlay val="0"/>
      <c:txPr>
        <a:bodyPr anchorCtr="1"/>
        <a:lstStyle/>
        <a:p>
          <a:pPr>
            <a:defRPr sz="975">
              <a:solidFill>
                <a:srgbClr val="1F2937"/>
              </a:solidFill>
              <a:latin typeface="Arial"/>
              <a:ea typeface="Arial"/>
              <a:cs typeface="Arial"/>
            </a:defRPr>
          </a:pPr>
          <a:endParaRPr lang="en-US"/>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https://archive.ics.uci.edu/dataset/352/online+retail</a:t>
            </a:r>
          </a:p>
          <a:p>
            <a:r>
              <a:t>UCI DOI: https://doi.org/10.24432/C5BW33</a:t>
            </a:r>
          </a:p>
          <a:p>
            <a:r>
              <a:t>Phân tích thực hiện trên file Online Retail.xlsx do người dùng cung cấp.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mô tả dữ liệu: https://archive.ics.uci.edu/dataset/352/online+retail</a:t>
            </a:r>
          </a:p>
          <a:p>
            <a:r>
              <a:t>Số dòng, hóa đơn, khách hàng và quốc gia được tính trực tiếp từ file đính kèm.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UCI metadata: https://archive.ics.uci.edu/dataset/352/online+retail</a:t>
            </a:r>
          </a:p>
          <a:p>
            <a:r>
              <a:t>Kiểm tra trực tiếp file Online Retail.xlsx cho thấy missing CustomerID và Description dù metadata ghi Has Missing Values? No.</a:t>
            </a:r>
          </a:p>
          <a:p>
            <a:r>
              <a:t>Các nhóm lỗi có thể chồng lấn; biểu đồ thể hiện số dòng bị ảnh hưởng theo từng tiêu chí, không phải các nhóm loại trừ nhau.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bước được thực hiện bằng pandas trên file đính kèm.</a:t>
            </a:r>
          </a:p>
          <a:p>
            <a:r>
              <a:t>Không điền CustomerID giả vì việc gán sai khách hàng sẽ làm sai Recency, Frequency và Monetary.</a:t>
            </a:r>
          </a:p>
          <a:p>
            <a:r>
              <a:t>Các giao dịch thiếu CustomerID vẫn được giữ trong phân tích doanh thu tổng thể nhưng loại khỏi RFM.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Doanh thu được tính trên giao dịch bán hợp lệ sau khi loại trùng, hóa đơn hủy, Quantity &lt;= 0 và UnitPrice &lt;= 0.</a:t>
            </a:r>
          </a:p>
          <a:p>
            <a:r>
              <a:t>Tháng 12/2011 là giai đoạn chưa đầy đủ, chỉ có dữ liệu đến 09/12/2011.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Bảng xếp hạng loại các mã dịch vụ/điều chỉnh như POST, DOT, M, BANK CHARGES và AMAZONFEE.</a:t>
            </a:r>
          </a:p>
          <a:p>
            <a:r>
              <a:t>Tần suất hóa đơn phản ánh độ phủ sản phẩm tốt hơn tổng Quantity hoặc Revenue khi dữ liệu có giao dịch bán buôn cực lớn.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RFM được xây từ 4.338 khách hàng có CustomerID và doanh thu dương.</a:t>
            </a:r>
          </a:p>
          <a:p>
            <a:r>
              <a:t>Các biến được winsorize tại percentile 99, log1p và StandardScaler trước K-Means.</a:t>
            </a:r>
          </a:p>
          <a:p>
            <a:r>
              <a:t>ARI đo mức nhất quán của phân cụm qua 10 random seeds; giá trị gần 1 cho thấy cụm ổn định.</a:t>
            </a:r>
          </a:p>
          <a:p>
            <a:r>
              <a:t>Chọn k=4 là quyết định cân bằng giữa chỉ số thống kê và khả năng hành động, không tuyên bố đây là k tối ưu tuyệt đối.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Tên phân khúc do nhóm phân tích đặt dựa trên trung vị RFM; K-Means chỉ sinh nhãn cụm 0-3.</a:t>
            </a:r>
          </a:p>
          <a:p>
            <a:r>
              <a:t>Tỷ trọng doanh thu dùng Monetary gốc, không dùng dữ liệu đã log hoặc winsorize.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Luật kết hợp tính trên giao dịch UK hợp lệ, loại mã dịch vụ và điều chỉnh.</a:t>
            </a:r>
          </a:p>
          <a:p>
            <a:r>
              <a:t>Ngưỡng: item support &gt;= 1%, pair support &gt;= 1%, confidence &gt;= 25%, lift &gt;= 1.2.</a:t>
            </a:r>
          </a:p>
          <a:p>
            <a:r>
              <a:t>Support là tỷ lệ giỏ hàng chứa cả hai sản phẩm. Confidence là P(B|A). Lift &gt; 1 cho thấy cặp xuất hiện cùng nhau nhiều hơn kỳ vọng độc lập.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luận dựa trên phân tích mô tả, K-Means RFM và luật kết hợp từ file đính kèm.</a:t>
            </a:r>
          </a:p>
          <a:p>
            <a:r>
              <a:t>Đề xuất A/B test để đánh giá tác động thực tế; association không chứng minh nguyên nhân.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B"/>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55C3C-ECA4-401F-AADB-646A3E73D1FA}"/>
              </a:ext>
            </a:extLst>
          </p:cNvPr>
          <p:cNvSpPr>
            <a:spLocks noGrp="1"/>
          </p:cNvSpPr>
          <p:nvPr/>
        </p:nvSpPr>
        <p:spPr>
          <a:xfrm>
            <a:off x="723900" y="1143000"/>
            <a:ext cx="76200" cy="2857500"/>
          </a:xfrm>
          <a:prstGeom prst="rect">
            <a:avLst/>
          </a:prstGeom>
          <a:solidFill>
            <a:srgbClr val="F59E42"/>
          </a:solidFill>
          <a:ln w="0">
            <a:solidFill>
              <a:srgbClr val="F59E42"/>
            </a:solidFill>
          </a:ln>
        </p:spPr>
      </p:sp>
      <p:sp>
        <p:nvSpPr>
          <p:cNvPr id="2" name="Rectangle 1">
            <a:extLst>
              <a:ext uri="{FF2B5EF4-FFF2-40B4-BE49-F238E27FC236}">
                <a16:creationId xmlns:a16="http://schemas.microsoft.com/office/drawing/2014/main" id="{C1ED89D8-F648-40F8-9766-FD1704394590}"/>
              </a:ext>
            </a:extLst>
          </p:cNvPr>
          <p:cNvSpPr>
            <a:spLocks noGrp="1"/>
          </p:cNvSpPr>
          <p:nvPr/>
        </p:nvSpPr>
        <p:spPr>
          <a:xfrm>
            <a:off x="1066800" y="1200150"/>
            <a:ext cx="8858250" cy="1466850"/>
          </a:xfrm>
          <a:prstGeom prst="rect">
            <a:avLst/>
          </a:prstGeom>
          <a:noFill/>
          <a:ln w="0">
            <a:noFill/>
          </a:ln>
        </p:spPr>
        <p:txBody>
          <a:bodyPr anchor="t">
            <a:noAutofit/>
          </a:bodyPr>
          <a:lstStyle/>
          <a:p>
            <a:pPr algn="l">
              <a:defRPr sz="3150" b="1">
                <a:solidFill>
                  <a:srgbClr val="FFFFFF"/>
                </a:solidFill>
                <a:latin typeface="Arial"/>
                <a:ea typeface="Arial"/>
                <a:cs typeface="Arial"/>
              </a:defRPr>
            </a:pPr>
            <a:r>
              <a:rPr sz="3150" b="1" dirty="0">
                <a:solidFill>
                  <a:srgbClr val="FFFFFF"/>
                </a:solidFill>
                <a:latin typeface="Arial"/>
                <a:ea typeface="Arial"/>
                <a:cs typeface="Arial"/>
              </a:rPr>
              <a:t>BÁO CÁO PHÂN TÍCH DỮ LIỆU</a:t>
            </a:r>
          </a:p>
          <a:p>
            <a:pPr algn="l">
              <a:defRPr sz="3150" b="1">
                <a:solidFill>
                  <a:srgbClr val="FFFFFF"/>
                </a:solidFill>
                <a:latin typeface="Arial"/>
                <a:ea typeface="Arial"/>
                <a:cs typeface="Arial"/>
              </a:defRPr>
            </a:pPr>
            <a:r>
              <a:rPr sz="3150" b="1" dirty="0">
                <a:solidFill>
                  <a:srgbClr val="FFFFFF"/>
                </a:solidFill>
                <a:latin typeface="Arial"/>
                <a:ea typeface="Arial"/>
                <a:cs typeface="Arial"/>
              </a:rPr>
              <a:t>ONLINE RETAIL</a:t>
            </a:r>
          </a:p>
        </p:txBody>
      </p:sp>
      <p:sp>
        <p:nvSpPr>
          <p:cNvPr id="3" name="Rectangle 2">
            <a:extLst>
              <a:ext uri="{FF2B5EF4-FFF2-40B4-BE49-F238E27FC236}">
                <a16:creationId xmlns:a16="http://schemas.microsoft.com/office/drawing/2014/main" id="{5D61A526-6AE0-47A1-898F-D3DA4612A476}"/>
              </a:ext>
            </a:extLst>
          </p:cNvPr>
          <p:cNvSpPr>
            <a:spLocks noGrp="1"/>
          </p:cNvSpPr>
          <p:nvPr/>
        </p:nvSpPr>
        <p:spPr>
          <a:xfrm>
            <a:off x="1085850" y="2838450"/>
            <a:ext cx="9334500" cy="419100"/>
          </a:xfrm>
          <a:prstGeom prst="rect">
            <a:avLst/>
          </a:prstGeom>
          <a:noFill/>
          <a:ln w="0">
            <a:noFill/>
          </a:ln>
        </p:spPr>
        <p:txBody>
          <a:bodyPr anchor="ctr">
            <a:noAutofit/>
          </a:bodyPr>
          <a:lstStyle/>
          <a:p>
            <a:pPr algn="l">
              <a:defRPr sz="1725" b="0">
                <a:solidFill>
                  <a:srgbClr val="D8E5F3"/>
                </a:solidFill>
                <a:latin typeface="Arial"/>
                <a:ea typeface="Arial"/>
                <a:cs typeface="Arial"/>
              </a:defRPr>
            </a:pPr>
            <a:r>
              <a:rPr sz="1725" b="0">
                <a:solidFill>
                  <a:srgbClr val="D8E5F3"/>
                </a:solidFill>
                <a:latin typeface="Arial"/>
                <a:ea typeface="Arial"/>
                <a:cs typeface="Arial"/>
              </a:rPr>
              <a:t>Bài tập 2 · Phân khúc khách hàng và phân tích giỏ hàng</a:t>
            </a:r>
          </a:p>
        </p:txBody>
      </p:sp>
      <p:sp>
        <p:nvSpPr>
          <p:cNvPr id="4" name="Rectangle 3">
            <a:extLst>
              <a:ext uri="{FF2B5EF4-FFF2-40B4-BE49-F238E27FC236}">
                <a16:creationId xmlns:a16="http://schemas.microsoft.com/office/drawing/2014/main" id="{B5ECD8DE-F76C-4491-BE37-3DACC50B7EBA}"/>
              </a:ext>
            </a:extLst>
          </p:cNvPr>
          <p:cNvSpPr>
            <a:spLocks noGrp="1"/>
          </p:cNvSpPr>
          <p:nvPr/>
        </p:nvSpPr>
        <p:spPr>
          <a:xfrm>
            <a:off x="1085850" y="3638550"/>
            <a:ext cx="1428750" cy="266700"/>
          </a:xfrm>
          <a:prstGeom prst="rect">
            <a:avLst/>
          </a:prstGeom>
          <a:noFill/>
          <a:ln w="0">
            <a:noFill/>
          </a:ln>
        </p:spPr>
        <p:txBody>
          <a:bodyPr anchor="ctr">
            <a:noAutofit/>
          </a:bodyPr>
          <a:lstStyle/>
          <a:p>
            <a:pPr algn="l">
              <a:defRPr sz="1275" b="1">
                <a:solidFill>
                  <a:srgbClr val="F59E42"/>
                </a:solidFill>
                <a:latin typeface="Arial"/>
                <a:ea typeface="Arial"/>
                <a:cs typeface="Arial"/>
              </a:defRPr>
            </a:pPr>
            <a:r>
              <a:rPr sz="1275" b="1">
                <a:solidFill>
                  <a:srgbClr val="F59E42"/>
                </a:solidFill>
                <a:latin typeface="Arial"/>
                <a:ea typeface="Arial"/>
                <a:cs typeface="Arial"/>
              </a:rPr>
              <a:t>Quy trình</a:t>
            </a:r>
          </a:p>
        </p:txBody>
      </p:sp>
      <p:sp>
        <p:nvSpPr>
          <p:cNvPr id="5" name="Rectangle 4">
            <a:extLst>
              <a:ext uri="{FF2B5EF4-FFF2-40B4-BE49-F238E27FC236}">
                <a16:creationId xmlns:a16="http://schemas.microsoft.com/office/drawing/2014/main" id="{EE793F9D-5A37-40A9-8F41-5AFA157107EE}"/>
              </a:ext>
            </a:extLst>
          </p:cNvPr>
          <p:cNvSpPr>
            <a:spLocks noGrp="1"/>
          </p:cNvSpPr>
          <p:nvPr/>
        </p:nvSpPr>
        <p:spPr>
          <a:xfrm>
            <a:off x="1085850" y="3981450"/>
            <a:ext cx="9906000" cy="552450"/>
          </a:xfrm>
          <a:prstGeom prst="rect">
            <a:avLst/>
          </a:prstGeom>
          <a:noFill/>
          <a:ln w="0">
            <a:noFill/>
          </a:ln>
        </p:spPr>
        <p:txBody>
          <a:bodyPr anchor="t">
            <a:noAutofit/>
          </a:bodyPr>
          <a:lstStyle/>
          <a:p>
            <a:pPr algn="l">
              <a:defRPr sz="1575" b="0">
                <a:solidFill>
                  <a:srgbClr val="FFFFFF"/>
                </a:solidFill>
                <a:latin typeface="Arial"/>
                <a:ea typeface="Arial"/>
                <a:cs typeface="Arial"/>
              </a:defRPr>
            </a:pPr>
            <a:r>
              <a:rPr sz="1575" b="0">
                <a:solidFill>
                  <a:srgbClr val="FFFFFF"/>
                </a:solidFill>
                <a:latin typeface="Arial"/>
                <a:ea typeface="Arial"/>
                <a:cs typeface="Arial"/>
              </a:rPr>
              <a:t>Kiểm tra dữ liệu   ·   Làm sạch giao dịch   ·   RFM &amp; K-Means   ·   Luật kết hợp   ·   Kiểm chứng</a:t>
            </a:r>
          </a:p>
        </p:txBody>
      </p:sp>
      <p:sp>
        <p:nvSpPr>
          <p:cNvPr id="6" name="Rectangle 5">
            <a:extLst>
              <a:ext uri="{FF2B5EF4-FFF2-40B4-BE49-F238E27FC236}">
                <a16:creationId xmlns:a16="http://schemas.microsoft.com/office/drawing/2014/main" id="{2B523FB0-984A-4380-ABDA-FD8B0C24151C}"/>
              </a:ext>
            </a:extLst>
          </p:cNvPr>
          <p:cNvSpPr>
            <a:spLocks noGrp="1"/>
          </p:cNvSpPr>
          <p:nvPr/>
        </p:nvSpPr>
        <p:spPr>
          <a:xfrm>
            <a:off x="1085850" y="5905500"/>
            <a:ext cx="6858000" cy="247650"/>
          </a:xfrm>
          <a:prstGeom prst="rect">
            <a:avLst/>
          </a:prstGeom>
          <a:noFill/>
          <a:ln w="0">
            <a:noFill/>
          </a:ln>
        </p:spPr>
        <p:txBody>
          <a:bodyPr anchor="ctr">
            <a:noAutofit/>
          </a:bodyPr>
          <a:lstStyle/>
          <a:p>
            <a:pPr algn="l">
              <a:defRPr sz="1125" b="0">
                <a:solidFill>
                  <a:srgbClr val="AFC2D8"/>
                </a:solidFill>
                <a:latin typeface="Arial"/>
                <a:ea typeface="Arial"/>
                <a:cs typeface="Arial"/>
              </a:defRPr>
            </a:pPr>
            <a:r>
              <a:rPr sz="1125" b="0">
                <a:solidFill>
                  <a:srgbClr val="AFC2D8"/>
                </a:solidFill>
                <a:latin typeface="Arial"/>
                <a:ea typeface="Arial"/>
                <a:cs typeface="Arial"/>
              </a:rPr>
              <a:t>Nguồn dữ liệu: UCI Machine Learning Repository</a:t>
            </a:r>
          </a:p>
        </p:txBody>
      </p:sp>
    </p:spTree>
    <p:extLst>
      <p:ext uri="{BB962C8B-B14F-4D97-AF65-F5344CB8AC3E}">
        <p14:creationId xmlns:p14="http://schemas.microsoft.com/office/powerpoint/2010/main" val="585191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C7B46A8-1904-42A7-97F7-F668331B43DE}"/>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B5CB83D9-EE2B-46FE-A295-436A428214D2}"/>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1. Tổng quan dữ liệu và mục tiêu khai phá</a:t>
            </a:r>
          </a:p>
        </p:txBody>
      </p:sp>
      <p:sp>
        <p:nvSpPr>
          <p:cNvPr id="3" name="Rectangle 2">
            <a:extLst>
              <a:ext uri="{FF2B5EF4-FFF2-40B4-BE49-F238E27FC236}">
                <a16:creationId xmlns:a16="http://schemas.microsoft.com/office/drawing/2014/main" id="{866F0E8D-7ADD-4985-8E99-E410527DC3CB}"/>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02</a:t>
            </a:r>
          </a:p>
        </p:txBody>
      </p:sp>
      <p:sp>
        <p:nvSpPr>
          <p:cNvPr id="4" name="Rectangle: Rounded Corners 3">
            <a:extLst>
              <a:ext uri="{FF2B5EF4-FFF2-40B4-BE49-F238E27FC236}">
                <a16:creationId xmlns:a16="http://schemas.microsoft.com/office/drawing/2014/main" id="{5E5500AD-B563-4FED-BC32-6782B734F3D9}"/>
              </a:ext>
            </a:extLst>
          </p:cNvPr>
          <p:cNvSpPr>
            <a:spLocks noGrp="1"/>
          </p:cNvSpPr>
          <p:nvPr/>
        </p:nvSpPr>
        <p:spPr>
          <a:xfrm>
            <a:off x="419100" y="895350"/>
            <a:ext cx="2571750" cy="971550"/>
          </a:xfrm>
          <a:prstGeom prst="roundRect">
            <a:avLst>
              <a:gd name="adj" fmla="val 9804"/>
            </a:avLst>
          </a:prstGeom>
          <a:solidFill>
            <a:srgbClr val="F4F7FA"/>
          </a:solidFill>
          <a:ln w="9525">
            <a:solidFill>
              <a:srgbClr val="D7E0E8"/>
            </a:solidFill>
          </a:ln>
        </p:spPr>
      </p:sp>
      <p:sp>
        <p:nvSpPr>
          <p:cNvPr id="5" name="Rectangle 4">
            <a:extLst>
              <a:ext uri="{FF2B5EF4-FFF2-40B4-BE49-F238E27FC236}">
                <a16:creationId xmlns:a16="http://schemas.microsoft.com/office/drawing/2014/main" id="{86E2E012-BD81-4EB0-8247-008BCD73DFDB}"/>
              </a:ext>
            </a:extLst>
          </p:cNvPr>
          <p:cNvSpPr>
            <a:spLocks noGrp="1"/>
          </p:cNvSpPr>
          <p:nvPr/>
        </p:nvSpPr>
        <p:spPr>
          <a:xfrm>
            <a:off x="419100" y="895350"/>
            <a:ext cx="66675" cy="971550"/>
          </a:xfrm>
          <a:prstGeom prst="rect">
            <a:avLst/>
          </a:prstGeom>
          <a:solidFill>
            <a:srgbClr val="F59E42"/>
          </a:solidFill>
          <a:ln w="0">
            <a:solidFill>
              <a:srgbClr val="F59E42"/>
            </a:solidFill>
          </a:ln>
        </p:spPr>
      </p:sp>
      <p:sp>
        <p:nvSpPr>
          <p:cNvPr id="6" name="Rectangle 5">
            <a:extLst>
              <a:ext uri="{FF2B5EF4-FFF2-40B4-BE49-F238E27FC236}">
                <a16:creationId xmlns:a16="http://schemas.microsoft.com/office/drawing/2014/main" id="{ED9A2B8B-8DB8-4794-A529-043777037F35}"/>
              </a:ext>
            </a:extLst>
          </p:cNvPr>
          <p:cNvSpPr>
            <a:spLocks noGrp="1"/>
          </p:cNvSpPr>
          <p:nvPr/>
        </p:nvSpPr>
        <p:spPr>
          <a:xfrm>
            <a:off x="628650" y="1009650"/>
            <a:ext cx="224790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541.909</a:t>
            </a:r>
          </a:p>
        </p:txBody>
      </p:sp>
      <p:sp>
        <p:nvSpPr>
          <p:cNvPr id="7" name="Rectangle 6">
            <a:extLst>
              <a:ext uri="{FF2B5EF4-FFF2-40B4-BE49-F238E27FC236}">
                <a16:creationId xmlns:a16="http://schemas.microsoft.com/office/drawing/2014/main" id="{DBCCBD1A-9275-44A8-B636-6B327F0B9683}"/>
              </a:ext>
            </a:extLst>
          </p:cNvPr>
          <p:cNvSpPr>
            <a:spLocks noGrp="1"/>
          </p:cNvSpPr>
          <p:nvPr/>
        </p:nvSpPr>
        <p:spPr>
          <a:xfrm>
            <a:off x="628650" y="1428750"/>
            <a:ext cx="224790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dòng giao dịch</a:t>
            </a:r>
          </a:p>
        </p:txBody>
      </p:sp>
      <p:sp>
        <p:nvSpPr>
          <p:cNvPr id="8" name="Rectangle: Rounded Corners 7">
            <a:extLst>
              <a:ext uri="{FF2B5EF4-FFF2-40B4-BE49-F238E27FC236}">
                <a16:creationId xmlns:a16="http://schemas.microsoft.com/office/drawing/2014/main" id="{708A71D0-6448-4D21-9741-16199DC0E3B6}"/>
              </a:ext>
            </a:extLst>
          </p:cNvPr>
          <p:cNvSpPr>
            <a:spLocks noGrp="1"/>
          </p:cNvSpPr>
          <p:nvPr/>
        </p:nvSpPr>
        <p:spPr>
          <a:xfrm>
            <a:off x="3143250" y="895350"/>
            <a:ext cx="2571750" cy="971550"/>
          </a:xfrm>
          <a:prstGeom prst="roundRect">
            <a:avLst>
              <a:gd name="adj" fmla="val 9804"/>
            </a:avLst>
          </a:prstGeom>
          <a:solidFill>
            <a:srgbClr val="F4F7FA"/>
          </a:solidFill>
          <a:ln w="9525">
            <a:solidFill>
              <a:srgbClr val="D7E0E8"/>
            </a:solidFill>
          </a:ln>
        </p:spPr>
      </p:sp>
      <p:sp>
        <p:nvSpPr>
          <p:cNvPr id="9" name="Rectangle 8">
            <a:extLst>
              <a:ext uri="{FF2B5EF4-FFF2-40B4-BE49-F238E27FC236}">
                <a16:creationId xmlns:a16="http://schemas.microsoft.com/office/drawing/2014/main" id="{58A97447-324F-45C1-8D8E-3CDDAA315E1C}"/>
              </a:ext>
            </a:extLst>
          </p:cNvPr>
          <p:cNvSpPr>
            <a:spLocks noGrp="1"/>
          </p:cNvSpPr>
          <p:nvPr/>
        </p:nvSpPr>
        <p:spPr>
          <a:xfrm>
            <a:off x="3143250" y="895350"/>
            <a:ext cx="66675" cy="971550"/>
          </a:xfrm>
          <a:prstGeom prst="rect">
            <a:avLst/>
          </a:prstGeom>
          <a:solidFill>
            <a:srgbClr val="2696C5"/>
          </a:solidFill>
          <a:ln w="0">
            <a:solidFill>
              <a:srgbClr val="2696C5"/>
            </a:solidFill>
          </a:ln>
        </p:spPr>
      </p:sp>
      <p:sp>
        <p:nvSpPr>
          <p:cNvPr id="10" name="Rectangle 9">
            <a:extLst>
              <a:ext uri="{FF2B5EF4-FFF2-40B4-BE49-F238E27FC236}">
                <a16:creationId xmlns:a16="http://schemas.microsoft.com/office/drawing/2014/main" id="{26044D9D-5B5C-4D49-9B3E-EACC7FEC58A3}"/>
              </a:ext>
            </a:extLst>
          </p:cNvPr>
          <p:cNvSpPr>
            <a:spLocks noGrp="1"/>
          </p:cNvSpPr>
          <p:nvPr/>
        </p:nvSpPr>
        <p:spPr>
          <a:xfrm>
            <a:off x="3352800" y="1009650"/>
            <a:ext cx="224790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25.900</a:t>
            </a:r>
          </a:p>
        </p:txBody>
      </p:sp>
      <p:sp>
        <p:nvSpPr>
          <p:cNvPr id="11" name="Rectangle 10">
            <a:extLst>
              <a:ext uri="{FF2B5EF4-FFF2-40B4-BE49-F238E27FC236}">
                <a16:creationId xmlns:a16="http://schemas.microsoft.com/office/drawing/2014/main" id="{8988F756-7779-4425-BA89-353038908E18}"/>
              </a:ext>
            </a:extLst>
          </p:cNvPr>
          <p:cNvSpPr>
            <a:spLocks noGrp="1"/>
          </p:cNvSpPr>
          <p:nvPr/>
        </p:nvSpPr>
        <p:spPr>
          <a:xfrm>
            <a:off x="3352800" y="1428750"/>
            <a:ext cx="224790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mã hóa đơn trong dữ liệu thô</a:t>
            </a:r>
          </a:p>
        </p:txBody>
      </p:sp>
      <p:sp>
        <p:nvSpPr>
          <p:cNvPr id="12" name="Rectangle: Rounded Corners 11">
            <a:extLst>
              <a:ext uri="{FF2B5EF4-FFF2-40B4-BE49-F238E27FC236}">
                <a16:creationId xmlns:a16="http://schemas.microsoft.com/office/drawing/2014/main" id="{E4C6F9F8-10B6-47E0-9CCD-AD2EBBD92FCC}"/>
              </a:ext>
            </a:extLst>
          </p:cNvPr>
          <p:cNvSpPr>
            <a:spLocks noGrp="1"/>
          </p:cNvSpPr>
          <p:nvPr/>
        </p:nvSpPr>
        <p:spPr>
          <a:xfrm>
            <a:off x="5867400" y="895350"/>
            <a:ext cx="2571750" cy="971550"/>
          </a:xfrm>
          <a:prstGeom prst="roundRect">
            <a:avLst>
              <a:gd name="adj" fmla="val 9804"/>
            </a:avLst>
          </a:prstGeom>
          <a:solidFill>
            <a:srgbClr val="F4F7FA"/>
          </a:solidFill>
          <a:ln w="9525">
            <a:solidFill>
              <a:srgbClr val="D7E0E8"/>
            </a:solidFill>
          </a:ln>
        </p:spPr>
      </p:sp>
      <p:sp>
        <p:nvSpPr>
          <p:cNvPr id="13" name="Rectangle 12">
            <a:extLst>
              <a:ext uri="{FF2B5EF4-FFF2-40B4-BE49-F238E27FC236}">
                <a16:creationId xmlns:a16="http://schemas.microsoft.com/office/drawing/2014/main" id="{B338AEFD-00C5-4ADC-BED7-2B60B203F85E}"/>
              </a:ext>
            </a:extLst>
          </p:cNvPr>
          <p:cNvSpPr>
            <a:spLocks noGrp="1"/>
          </p:cNvSpPr>
          <p:nvPr/>
        </p:nvSpPr>
        <p:spPr>
          <a:xfrm>
            <a:off x="5867400" y="895350"/>
            <a:ext cx="66675" cy="971550"/>
          </a:xfrm>
          <a:prstGeom prst="rect">
            <a:avLst/>
          </a:prstGeom>
          <a:solidFill>
            <a:srgbClr val="26A69A"/>
          </a:solidFill>
          <a:ln w="0">
            <a:solidFill>
              <a:srgbClr val="26A69A"/>
            </a:solidFill>
          </a:ln>
        </p:spPr>
      </p:sp>
      <p:sp>
        <p:nvSpPr>
          <p:cNvPr id="14" name="Rectangle 13">
            <a:extLst>
              <a:ext uri="{FF2B5EF4-FFF2-40B4-BE49-F238E27FC236}">
                <a16:creationId xmlns:a16="http://schemas.microsoft.com/office/drawing/2014/main" id="{E653EC83-664A-4DAD-A505-8D21E7DD33F0}"/>
              </a:ext>
            </a:extLst>
          </p:cNvPr>
          <p:cNvSpPr>
            <a:spLocks noGrp="1"/>
          </p:cNvSpPr>
          <p:nvPr/>
        </p:nvSpPr>
        <p:spPr>
          <a:xfrm>
            <a:off x="6076950" y="1009650"/>
            <a:ext cx="224790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4.372</a:t>
            </a:r>
          </a:p>
        </p:txBody>
      </p:sp>
      <p:sp>
        <p:nvSpPr>
          <p:cNvPr id="15" name="Rectangle 14">
            <a:extLst>
              <a:ext uri="{FF2B5EF4-FFF2-40B4-BE49-F238E27FC236}">
                <a16:creationId xmlns:a16="http://schemas.microsoft.com/office/drawing/2014/main" id="{C3B87DE4-250E-4122-8773-13C3EFC2423F}"/>
              </a:ext>
            </a:extLst>
          </p:cNvPr>
          <p:cNvSpPr>
            <a:spLocks noGrp="1"/>
          </p:cNvSpPr>
          <p:nvPr/>
        </p:nvSpPr>
        <p:spPr>
          <a:xfrm>
            <a:off x="6076950" y="1428750"/>
            <a:ext cx="224790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khách hàng có mã định danh</a:t>
            </a:r>
          </a:p>
        </p:txBody>
      </p:sp>
      <p:sp>
        <p:nvSpPr>
          <p:cNvPr id="16" name="Rectangle: Rounded Corners 15">
            <a:extLst>
              <a:ext uri="{FF2B5EF4-FFF2-40B4-BE49-F238E27FC236}">
                <a16:creationId xmlns:a16="http://schemas.microsoft.com/office/drawing/2014/main" id="{676738DD-1B24-45D1-8046-B37D24BB26BD}"/>
              </a:ext>
            </a:extLst>
          </p:cNvPr>
          <p:cNvSpPr>
            <a:spLocks noGrp="1"/>
          </p:cNvSpPr>
          <p:nvPr/>
        </p:nvSpPr>
        <p:spPr>
          <a:xfrm>
            <a:off x="8591550" y="895350"/>
            <a:ext cx="2571750" cy="971550"/>
          </a:xfrm>
          <a:prstGeom prst="roundRect">
            <a:avLst>
              <a:gd name="adj" fmla="val 9804"/>
            </a:avLst>
          </a:prstGeom>
          <a:solidFill>
            <a:srgbClr val="F4F7FA"/>
          </a:solidFill>
          <a:ln w="9525">
            <a:solidFill>
              <a:srgbClr val="D7E0E8"/>
            </a:solidFill>
          </a:ln>
        </p:spPr>
      </p:sp>
      <p:sp>
        <p:nvSpPr>
          <p:cNvPr id="17" name="Rectangle 16">
            <a:extLst>
              <a:ext uri="{FF2B5EF4-FFF2-40B4-BE49-F238E27FC236}">
                <a16:creationId xmlns:a16="http://schemas.microsoft.com/office/drawing/2014/main" id="{62FFE3A1-D352-49B2-8BD4-B611C4E37FE2}"/>
              </a:ext>
            </a:extLst>
          </p:cNvPr>
          <p:cNvSpPr>
            <a:spLocks noGrp="1"/>
          </p:cNvSpPr>
          <p:nvPr/>
        </p:nvSpPr>
        <p:spPr>
          <a:xfrm>
            <a:off x="8591550" y="895350"/>
            <a:ext cx="66675" cy="971550"/>
          </a:xfrm>
          <a:prstGeom prst="rect">
            <a:avLst/>
          </a:prstGeom>
          <a:solidFill>
            <a:srgbClr val="28A745"/>
          </a:solidFill>
          <a:ln w="0">
            <a:solidFill>
              <a:srgbClr val="28A745"/>
            </a:solidFill>
          </a:ln>
        </p:spPr>
      </p:sp>
      <p:sp>
        <p:nvSpPr>
          <p:cNvPr id="18" name="Rectangle 17">
            <a:extLst>
              <a:ext uri="{FF2B5EF4-FFF2-40B4-BE49-F238E27FC236}">
                <a16:creationId xmlns:a16="http://schemas.microsoft.com/office/drawing/2014/main" id="{567E0485-FFCC-48C1-9B16-EA0C670A5F74}"/>
              </a:ext>
            </a:extLst>
          </p:cNvPr>
          <p:cNvSpPr>
            <a:spLocks noGrp="1"/>
          </p:cNvSpPr>
          <p:nvPr/>
        </p:nvSpPr>
        <p:spPr>
          <a:xfrm>
            <a:off x="8801100" y="1009650"/>
            <a:ext cx="224790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38</a:t>
            </a:r>
          </a:p>
        </p:txBody>
      </p:sp>
      <p:sp>
        <p:nvSpPr>
          <p:cNvPr id="19" name="Rectangle 18">
            <a:extLst>
              <a:ext uri="{FF2B5EF4-FFF2-40B4-BE49-F238E27FC236}">
                <a16:creationId xmlns:a16="http://schemas.microsoft.com/office/drawing/2014/main" id="{8B329FE4-8A0D-47F0-BFDA-CDFBD921CD1E}"/>
              </a:ext>
            </a:extLst>
          </p:cNvPr>
          <p:cNvSpPr>
            <a:spLocks noGrp="1"/>
          </p:cNvSpPr>
          <p:nvPr/>
        </p:nvSpPr>
        <p:spPr>
          <a:xfrm>
            <a:off x="8801100" y="1428750"/>
            <a:ext cx="224790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quốc gia và vùng lãnh thổ</a:t>
            </a:r>
          </a:p>
        </p:txBody>
      </p:sp>
      <p:sp>
        <p:nvSpPr>
          <p:cNvPr id="20" name="Rectangle 19">
            <a:extLst>
              <a:ext uri="{FF2B5EF4-FFF2-40B4-BE49-F238E27FC236}">
                <a16:creationId xmlns:a16="http://schemas.microsoft.com/office/drawing/2014/main" id="{3443456B-7FC4-4935-9F11-8339D0766AAD}"/>
              </a:ext>
            </a:extLst>
          </p:cNvPr>
          <p:cNvSpPr>
            <a:spLocks noGrp="1"/>
          </p:cNvSpPr>
          <p:nvPr/>
        </p:nvSpPr>
        <p:spPr>
          <a:xfrm>
            <a:off x="419100" y="2152650"/>
            <a:ext cx="5257800" cy="323850"/>
          </a:xfrm>
          <a:prstGeom prst="rect">
            <a:avLst/>
          </a:prstGeom>
          <a:solidFill>
            <a:srgbClr val="2696C5"/>
          </a:solidFill>
          <a:ln w="0">
            <a:solidFill>
              <a:srgbClr val="2696C5"/>
            </a:solidFill>
          </a:ln>
        </p:spPr>
      </p:sp>
      <p:sp>
        <p:nvSpPr>
          <p:cNvPr id="21" name="Rectangle 20">
            <a:extLst>
              <a:ext uri="{FF2B5EF4-FFF2-40B4-BE49-F238E27FC236}">
                <a16:creationId xmlns:a16="http://schemas.microsoft.com/office/drawing/2014/main" id="{93DC17A5-6F5E-41C5-91CA-60B6FFCB8FAC}"/>
              </a:ext>
            </a:extLst>
          </p:cNvPr>
          <p:cNvSpPr>
            <a:spLocks noGrp="1"/>
          </p:cNvSpPr>
          <p:nvPr/>
        </p:nvSpPr>
        <p:spPr>
          <a:xfrm>
            <a:off x="514350" y="2171700"/>
            <a:ext cx="5067300" cy="285750"/>
          </a:xfrm>
          <a:prstGeom prst="rect">
            <a:avLst/>
          </a:prstGeom>
          <a:noFill/>
          <a:ln w="0">
            <a:noFill/>
          </a:ln>
        </p:spPr>
        <p:txBody>
          <a:bodyPr anchor="ctr">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CẤU TRÚC GIAO DỊCH</a:t>
            </a:r>
          </a:p>
        </p:txBody>
      </p:sp>
      <p:graphicFrame>
        <p:nvGraphicFramePr>
          <p:cNvPr id="54" name="Table 53"/>
          <p:cNvGraphicFramePr/>
          <p:nvPr/>
        </p:nvGraphicFramePr>
        <p:xfrm>
          <a:off x="419100" y="2552700"/>
          <a:ext cx="5257800" cy="3181350"/>
        </p:xfrm>
        <a:graphic>
          <a:graphicData uri="http://schemas.openxmlformats.org/drawingml/2006/table">
            <a:tbl>
              <a:tblPr/>
              <a:tblGrid>
                <a:gridCol w="1666875">
                  <a:extLst>
                    <a:ext uri="{9D8B030D-6E8A-4147-A177-3AD203B41FA5}">
                      <a16:colId xmlns:a16="http://schemas.microsoft.com/office/drawing/2014/main" val="20000"/>
                    </a:ext>
                  </a:extLst>
                </a:gridCol>
                <a:gridCol w="3590925">
                  <a:extLst>
                    <a:ext uri="{9D8B030D-6E8A-4147-A177-3AD203B41FA5}">
                      <a16:colId xmlns:a16="http://schemas.microsoft.com/office/drawing/2014/main" val="20001"/>
                    </a:ext>
                  </a:extLst>
                </a:gridCol>
              </a:tblGrid>
              <a:tr h="621030">
                <a:tc>
                  <a:txBody>
                    <a:bodyPr/>
                    <a:lstStyle/>
                    <a:p>
                      <a:r>
                        <a:t>Nhóm cột</a:t>
                      </a:r>
                    </a:p>
                  </a:txBody>
                  <a:tcPr/>
                </a:tc>
                <a:tc>
                  <a:txBody>
                    <a:bodyPr/>
                    <a:lstStyle/>
                    <a:p>
                      <a:r>
                        <a:t>Vai trò</a:t>
                      </a:r>
                    </a:p>
                  </a:txBody>
                  <a:tcPr/>
                </a:tc>
                <a:extLst>
                  <a:ext uri="{0D108BD9-81ED-4DB2-BD59-A6C34878D82A}">
                    <a16:rowId xmlns:a16="http://schemas.microsoft.com/office/drawing/2014/main" val="10000"/>
                  </a:ext>
                </a:extLst>
              </a:tr>
              <a:tr h="621030">
                <a:tc>
                  <a:txBody>
                    <a:bodyPr/>
                    <a:lstStyle/>
                    <a:p>
                      <a:r>
                        <a:t>InvoiceNo, InvoiceDate</a:t>
                      </a:r>
                    </a:p>
                  </a:txBody>
                  <a:tcPr/>
                </a:tc>
                <a:tc>
                  <a:txBody>
                    <a:bodyPr/>
                    <a:lstStyle/>
                    <a:p>
                      <a:r>
                        <a:t>Nhận diện giao dịch và thời điểm phát sinh</a:t>
                      </a:r>
                    </a:p>
                  </a:txBody>
                  <a:tcPr/>
                </a:tc>
                <a:extLst>
                  <a:ext uri="{0D108BD9-81ED-4DB2-BD59-A6C34878D82A}">
                    <a16:rowId xmlns:a16="http://schemas.microsoft.com/office/drawing/2014/main" val="10001"/>
                  </a:ext>
                </a:extLst>
              </a:tr>
              <a:tr h="621030">
                <a:tc>
                  <a:txBody>
                    <a:bodyPr/>
                    <a:lstStyle/>
                    <a:p>
                      <a:r>
                        <a:t>StockCode, Description</a:t>
                      </a:r>
                    </a:p>
                  </a:txBody>
                  <a:tcPr/>
                </a:tc>
                <a:tc>
                  <a:txBody>
                    <a:bodyPr/>
                    <a:lstStyle/>
                    <a:p>
                      <a:r>
                        <a:t>Nhận diện và mô tả sản phẩm</a:t>
                      </a:r>
                    </a:p>
                  </a:txBody>
                  <a:tcPr/>
                </a:tc>
                <a:extLst>
                  <a:ext uri="{0D108BD9-81ED-4DB2-BD59-A6C34878D82A}">
                    <a16:rowId xmlns:a16="http://schemas.microsoft.com/office/drawing/2014/main" val="10002"/>
                  </a:ext>
                </a:extLst>
              </a:tr>
              <a:tr h="621030">
                <a:tc>
                  <a:txBody>
                    <a:bodyPr/>
                    <a:lstStyle/>
                    <a:p>
                      <a:r>
                        <a:t>Quantity, UnitPrice</a:t>
                      </a:r>
                    </a:p>
                  </a:txBody>
                  <a:tcPr/>
                </a:tc>
                <a:tc>
                  <a:txBody>
                    <a:bodyPr/>
                    <a:lstStyle/>
                    <a:p>
                      <a:r>
                        <a:t>Số lượng, đơn giá và doanh thu dòng hàng</a:t>
                      </a:r>
                    </a:p>
                  </a:txBody>
                  <a:tcPr/>
                </a:tc>
                <a:extLst>
                  <a:ext uri="{0D108BD9-81ED-4DB2-BD59-A6C34878D82A}">
                    <a16:rowId xmlns:a16="http://schemas.microsoft.com/office/drawing/2014/main" val="10003"/>
                  </a:ext>
                </a:extLst>
              </a:tr>
              <a:tr h="621030">
                <a:tc>
                  <a:txBody>
                    <a:bodyPr/>
                    <a:lstStyle/>
                    <a:p>
                      <a:r>
                        <a:t>CustomerID, Country</a:t>
                      </a:r>
                    </a:p>
                  </a:txBody>
                  <a:tcPr/>
                </a:tc>
                <a:tc>
                  <a:txBody>
                    <a:bodyPr/>
                    <a:lstStyle/>
                    <a:p>
                      <a:r>
                        <a:t>Khách hàng và thị trường</a:t>
                      </a:r>
                    </a:p>
                  </a:txBody>
                  <a:tcPr/>
                </a:tc>
                <a:extLst>
                  <a:ext uri="{0D108BD9-81ED-4DB2-BD59-A6C34878D82A}">
                    <a16:rowId xmlns:a16="http://schemas.microsoft.com/office/drawing/2014/main" val="10004"/>
                  </a:ext>
                </a:extLst>
              </a:tr>
            </a:tbl>
          </a:graphicData>
        </a:graphic>
      </p:graphicFrame>
      <p:sp>
        <p:nvSpPr>
          <p:cNvPr id="23" name="Rectangle 22">
            <a:extLst>
              <a:ext uri="{FF2B5EF4-FFF2-40B4-BE49-F238E27FC236}">
                <a16:creationId xmlns:a16="http://schemas.microsoft.com/office/drawing/2014/main" id="{F860D3DA-C106-4D05-853F-15966F4AEBD1}"/>
              </a:ext>
            </a:extLst>
          </p:cNvPr>
          <p:cNvSpPr>
            <a:spLocks noGrp="1"/>
          </p:cNvSpPr>
          <p:nvPr/>
        </p:nvSpPr>
        <p:spPr>
          <a:xfrm>
            <a:off x="6000750" y="2152650"/>
            <a:ext cx="5162550" cy="323850"/>
          </a:xfrm>
          <a:prstGeom prst="rect">
            <a:avLst/>
          </a:prstGeom>
          <a:solidFill>
            <a:srgbClr val="2696C5"/>
          </a:solidFill>
          <a:ln w="0">
            <a:solidFill>
              <a:srgbClr val="2696C5"/>
            </a:solidFill>
          </a:ln>
        </p:spPr>
      </p:sp>
      <p:sp>
        <p:nvSpPr>
          <p:cNvPr id="24" name="Rectangle 23">
            <a:extLst>
              <a:ext uri="{FF2B5EF4-FFF2-40B4-BE49-F238E27FC236}">
                <a16:creationId xmlns:a16="http://schemas.microsoft.com/office/drawing/2014/main" id="{F901025B-B8D6-46D8-ADEF-F33C7DFE469A}"/>
              </a:ext>
            </a:extLst>
          </p:cNvPr>
          <p:cNvSpPr>
            <a:spLocks noGrp="1"/>
          </p:cNvSpPr>
          <p:nvPr/>
        </p:nvSpPr>
        <p:spPr>
          <a:xfrm>
            <a:off x="6096000" y="2171700"/>
            <a:ext cx="4972050" cy="285750"/>
          </a:xfrm>
          <a:prstGeom prst="rect">
            <a:avLst/>
          </a:prstGeom>
          <a:noFill/>
          <a:ln w="0">
            <a:noFill/>
          </a:ln>
        </p:spPr>
        <p:txBody>
          <a:bodyPr anchor="ctr">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HAI BÀI TOÁN KHAI PHÁ</a:t>
            </a:r>
          </a:p>
        </p:txBody>
      </p:sp>
      <p:sp>
        <p:nvSpPr>
          <p:cNvPr id="25" name="Rectangle: Rounded Corners 24">
            <a:extLst>
              <a:ext uri="{FF2B5EF4-FFF2-40B4-BE49-F238E27FC236}">
                <a16:creationId xmlns:a16="http://schemas.microsoft.com/office/drawing/2014/main" id="{E6EE78D3-8F80-4824-8CC2-9C0D5AE70979}"/>
              </a:ext>
            </a:extLst>
          </p:cNvPr>
          <p:cNvSpPr>
            <a:spLocks noGrp="1"/>
          </p:cNvSpPr>
          <p:nvPr/>
        </p:nvSpPr>
        <p:spPr>
          <a:xfrm>
            <a:off x="6000750" y="2552700"/>
            <a:ext cx="5162550" cy="1352550"/>
          </a:xfrm>
          <a:prstGeom prst="roundRect">
            <a:avLst>
              <a:gd name="adj" fmla="val 7042"/>
            </a:avLst>
          </a:prstGeom>
          <a:solidFill>
            <a:srgbClr val="EDF7FB"/>
          </a:solidFill>
          <a:ln w="14288">
            <a:solidFill>
              <a:srgbClr val="2696C5"/>
            </a:solidFill>
          </a:ln>
        </p:spPr>
      </p:sp>
      <p:sp>
        <p:nvSpPr>
          <p:cNvPr id="26" name="Rectangle 25">
            <a:extLst>
              <a:ext uri="{FF2B5EF4-FFF2-40B4-BE49-F238E27FC236}">
                <a16:creationId xmlns:a16="http://schemas.microsoft.com/office/drawing/2014/main" id="{2747BC84-8B4B-46ED-8CCA-E552A49F09A7}"/>
              </a:ext>
            </a:extLst>
          </p:cNvPr>
          <p:cNvSpPr>
            <a:spLocks noGrp="1"/>
          </p:cNvSpPr>
          <p:nvPr/>
        </p:nvSpPr>
        <p:spPr>
          <a:xfrm>
            <a:off x="6210300" y="2686050"/>
            <a:ext cx="2095500" cy="323850"/>
          </a:xfrm>
          <a:prstGeom prst="rect">
            <a:avLst/>
          </a:prstGeom>
          <a:noFill/>
          <a:ln w="0">
            <a:noFill/>
          </a:ln>
        </p:spPr>
        <p:txBody>
          <a:bodyPr anchor="ctr">
            <a:noAutofit/>
          </a:bodyPr>
          <a:lstStyle/>
          <a:p>
            <a:pPr algn="l">
              <a:defRPr sz="1800" b="1">
                <a:solidFill>
                  <a:srgbClr val="182D4B"/>
                </a:solidFill>
                <a:latin typeface="Arial"/>
                <a:ea typeface="Arial"/>
                <a:cs typeface="Arial"/>
              </a:defRPr>
            </a:pPr>
            <a:r>
              <a:rPr sz="1800" b="1">
                <a:solidFill>
                  <a:srgbClr val="182D4B"/>
                </a:solidFill>
                <a:latin typeface="Arial"/>
                <a:ea typeface="Arial"/>
                <a:cs typeface="Arial"/>
              </a:rPr>
              <a:t>RFM + K-Means</a:t>
            </a:r>
          </a:p>
        </p:txBody>
      </p:sp>
      <p:sp>
        <p:nvSpPr>
          <p:cNvPr id="27" name="Rectangle 26">
            <a:extLst>
              <a:ext uri="{FF2B5EF4-FFF2-40B4-BE49-F238E27FC236}">
                <a16:creationId xmlns:a16="http://schemas.microsoft.com/office/drawing/2014/main" id="{D7E7E572-F617-4B80-80C5-D5EE05BD3A39}"/>
              </a:ext>
            </a:extLst>
          </p:cNvPr>
          <p:cNvSpPr>
            <a:spLocks noGrp="1"/>
          </p:cNvSpPr>
          <p:nvPr/>
        </p:nvSpPr>
        <p:spPr>
          <a:xfrm>
            <a:off x="6210300" y="3086100"/>
            <a:ext cx="4667250" cy="64770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Chia khách hàng theo độ gần đây, tần suất mua và tổng chi tiêu để xây dựng chiến lược chăm sóc.</a:t>
            </a:r>
          </a:p>
        </p:txBody>
      </p:sp>
      <p:sp>
        <p:nvSpPr>
          <p:cNvPr id="28" name="Rectangle: Rounded Corners 27">
            <a:extLst>
              <a:ext uri="{FF2B5EF4-FFF2-40B4-BE49-F238E27FC236}">
                <a16:creationId xmlns:a16="http://schemas.microsoft.com/office/drawing/2014/main" id="{9219006E-A0D8-4B4C-9C6D-430A22B8355B}"/>
              </a:ext>
            </a:extLst>
          </p:cNvPr>
          <p:cNvSpPr>
            <a:spLocks noGrp="1"/>
          </p:cNvSpPr>
          <p:nvPr/>
        </p:nvSpPr>
        <p:spPr>
          <a:xfrm>
            <a:off x="6000750" y="4095750"/>
            <a:ext cx="5162550" cy="1352550"/>
          </a:xfrm>
          <a:prstGeom prst="roundRect">
            <a:avLst>
              <a:gd name="adj" fmla="val 7042"/>
            </a:avLst>
          </a:prstGeom>
          <a:solidFill>
            <a:srgbClr val="FFF6EA"/>
          </a:solidFill>
          <a:ln w="14288">
            <a:solidFill>
              <a:srgbClr val="F59E42"/>
            </a:solidFill>
          </a:ln>
        </p:spPr>
      </p:sp>
      <p:sp>
        <p:nvSpPr>
          <p:cNvPr id="29" name="Rectangle 28">
            <a:extLst>
              <a:ext uri="{FF2B5EF4-FFF2-40B4-BE49-F238E27FC236}">
                <a16:creationId xmlns:a16="http://schemas.microsoft.com/office/drawing/2014/main" id="{265AA564-7D29-40D2-B7DE-5BEB0FC3CD0F}"/>
              </a:ext>
            </a:extLst>
          </p:cNvPr>
          <p:cNvSpPr>
            <a:spLocks noGrp="1"/>
          </p:cNvSpPr>
          <p:nvPr/>
        </p:nvSpPr>
        <p:spPr>
          <a:xfrm>
            <a:off x="6210300" y="4229100"/>
            <a:ext cx="2095500" cy="323850"/>
          </a:xfrm>
          <a:prstGeom prst="rect">
            <a:avLst/>
          </a:prstGeom>
          <a:noFill/>
          <a:ln w="0">
            <a:noFill/>
          </a:ln>
        </p:spPr>
        <p:txBody>
          <a:bodyPr anchor="ctr">
            <a:noAutofit/>
          </a:bodyPr>
          <a:lstStyle/>
          <a:p>
            <a:pPr algn="l">
              <a:defRPr sz="1800" b="1">
                <a:solidFill>
                  <a:srgbClr val="182D4B"/>
                </a:solidFill>
                <a:latin typeface="Arial"/>
                <a:ea typeface="Arial"/>
                <a:cs typeface="Arial"/>
              </a:defRPr>
            </a:pPr>
            <a:r>
              <a:rPr sz="1800" b="1">
                <a:solidFill>
                  <a:srgbClr val="182D4B"/>
                </a:solidFill>
                <a:latin typeface="Arial"/>
                <a:ea typeface="Arial"/>
                <a:cs typeface="Arial"/>
              </a:rPr>
              <a:t>Luật kết hợp</a:t>
            </a:r>
          </a:p>
        </p:txBody>
      </p:sp>
      <p:sp>
        <p:nvSpPr>
          <p:cNvPr id="30" name="Rectangle 29">
            <a:extLst>
              <a:ext uri="{FF2B5EF4-FFF2-40B4-BE49-F238E27FC236}">
                <a16:creationId xmlns:a16="http://schemas.microsoft.com/office/drawing/2014/main" id="{6BDD015F-7D8F-4203-84C5-97AF4E69D418}"/>
              </a:ext>
            </a:extLst>
          </p:cNvPr>
          <p:cNvSpPr>
            <a:spLocks noGrp="1"/>
          </p:cNvSpPr>
          <p:nvPr/>
        </p:nvSpPr>
        <p:spPr>
          <a:xfrm>
            <a:off x="6210300" y="4629150"/>
            <a:ext cx="4667250" cy="64770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Tìm các sản phẩm thường xuất hiện cùng hóa đơn để hỗ trợ bán kèm, bố trí danh mục và gợi ý mua hàng.</a:t>
            </a:r>
          </a:p>
        </p:txBody>
      </p:sp>
      <p:sp>
        <p:nvSpPr>
          <p:cNvPr id="31" name="Rectangle 30">
            <a:extLst>
              <a:ext uri="{FF2B5EF4-FFF2-40B4-BE49-F238E27FC236}">
                <a16:creationId xmlns:a16="http://schemas.microsoft.com/office/drawing/2014/main" id="{3A1FD0DD-FF30-4F9D-8BAD-B796A0E17387}"/>
              </a:ext>
            </a:extLst>
          </p:cNvPr>
          <p:cNvSpPr>
            <a:spLocks noGrp="1"/>
          </p:cNvSpPr>
          <p:nvPr/>
        </p:nvSpPr>
        <p:spPr>
          <a:xfrm>
            <a:off x="6000750" y="5772150"/>
            <a:ext cx="5162550" cy="266700"/>
          </a:xfrm>
          <a:prstGeom prst="rect">
            <a:avLst/>
          </a:prstGeom>
          <a:noFill/>
          <a:ln w="0">
            <a:noFill/>
          </a:ln>
        </p:spPr>
        <p:txBody>
          <a:bodyPr anchor="ctr">
            <a:noAutofit/>
          </a:bodyPr>
          <a:lstStyle/>
          <a:p>
            <a:pPr algn="l">
              <a:defRPr sz="1200" b="1">
                <a:solidFill>
                  <a:srgbClr val="5E6B7A"/>
                </a:solidFill>
                <a:latin typeface="Arial"/>
                <a:ea typeface="Arial"/>
                <a:cs typeface="Arial"/>
              </a:defRPr>
            </a:pPr>
            <a:r>
              <a:rPr sz="1200" b="1">
                <a:solidFill>
                  <a:srgbClr val="5E6B7A"/>
                </a:solidFill>
                <a:latin typeface="Arial"/>
                <a:ea typeface="Arial"/>
                <a:cs typeface="Arial"/>
              </a:rPr>
              <a:t>Thời gian dữ liệu: 01/12/2010 – 09/12/2011</a:t>
            </a:r>
          </a:p>
        </p:txBody>
      </p:sp>
      <p:sp>
        <p:nvSpPr>
          <p:cNvPr id="32" name="Rectangle 31">
            <a:extLst>
              <a:ext uri="{FF2B5EF4-FFF2-40B4-BE49-F238E27FC236}">
                <a16:creationId xmlns:a16="http://schemas.microsoft.com/office/drawing/2014/main" id="{384AB03C-9DA6-410C-949D-B49A6DDECB7A}"/>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799612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553016E-7862-41BB-80A6-859A1D483735}"/>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ADEB1022-E26C-446A-B763-B36BAB443C25}"/>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2. Kiểm tra chất lượng dữ liệu</a:t>
            </a:r>
          </a:p>
        </p:txBody>
      </p:sp>
      <p:sp>
        <p:nvSpPr>
          <p:cNvPr id="3" name="Rectangle 2">
            <a:extLst>
              <a:ext uri="{FF2B5EF4-FFF2-40B4-BE49-F238E27FC236}">
                <a16:creationId xmlns:a16="http://schemas.microsoft.com/office/drawing/2014/main" id="{1E95366E-C701-4875-B9E0-70E5357A9985}"/>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03</a:t>
            </a:r>
          </a:p>
        </p:txBody>
      </p:sp>
      <p:graphicFrame>
        <p:nvGraphicFramePr>
          <p:cNvPr id="16" name="Chart"/>
          <p:cNvGraphicFramePr/>
          <p:nvPr/>
        </p:nvGraphicFramePr>
        <p:xfrm>
          <a:off x="476250" y="1104900"/>
          <a:ext cx="6762750" cy="42481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F971D9F5-FAE5-4BA3-89E0-C3660B8F5911}"/>
              </a:ext>
            </a:extLst>
          </p:cNvPr>
          <p:cNvSpPr>
            <a:spLocks noGrp="1"/>
          </p:cNvSpPr>
          <p:nvPr/>
        </p:nvSpPr>
        <p:spPr>
          <a:xfrm>
            <a:off x="7639050" y="1104900"/>
            <a:ext cx="3905250" cy="323850"/>
          </a:xfrm>
          <a:prstGeom prst="rect">
            <a:avLst/>
          </a:prstGeom>
          <a:solidFill>
            <a:srgbClr val="2696C5"/>
          </a:solidFill>
          <a:ln w="0">
            <a:solidFill>
              <a:srgbClr val="2696C5"/>
            </a:solidFill>
          </a:ln>
        </p:spPr>
      </p:sp>
      <p:sp>
        <p:nvSpPr>
          <p:cNvPr id="6" name="Rectangle 5">
            <a:extLst>
              <a:ext uri="{FF2B5EF4-FFF2-40B4-BE49-F238E27FC236}">
                <a16:creationId xmlns:a16="http://schemas.microsoft.com/office/drawing/2014/main" id="{910667A1-8AC2-4E0C-800D-94F409DFF5C4}"/>
              </a:ext>
            </a:extLst>
          </p:cNvPr>
          <p:cNvSpPr>
            <a:spLocks noGrp="1"/>
          </p:cNvSpPr>
          <p:nvPr/>
        </p:nvSpPr>
        <p:spPr>
          <a:xfrm>
            <a:off x="7734300" y="1123950"/>
            <a:ext cx="3714750" cy="285750"/>
          </a:xfrm>
          <a:prstGeom prst="rect">
            <a:avLst/>
          </a:prstGeom>
          <a:noFill/>
          <a:ln w="0">
            <a:noFill/>
          </a:ln>
        </p:spPr>
        <p:txBody>
          <a:bodyPr anchor="ctr">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PHÁT HIỆN QUAN TRỌNG</a:t>
            </a:r>
          </a:p>
        </p:txBody>
      </p:sp>
      <p:sp>
        <p:nvSpPr>
          <p:cNvPr id="7" name="Rectangle 6">
            <a:extLst>
              <a:ext uri="{FF2B5EF4-FFF2-40B4-BE49-F238E27FC236}">
                <a16:creationId xmlns:a16="http://schemas.microsoft.com/office/drawing/2014/main" id="{4E25A21A-E4D5-41D7-902D-553E790D9E73}"/>
              </a:ext>
            </a:extLst>
          </p:cNvPr>
          <p:cNvSpPr>
            <a:spLocks noGrp="1"/>
          </p:cNvSpPr>
          <p:nvPr/>
        </p:nvSpPr>
        <p:spPr>
          <a:xfrm>
            <a:off x="7848600" y="1619250"/>
            <a:ext cx="1428750" cy="495300"/>
          </a:xfrm>
          <a:prstGeom prst="rect">
            <a:avLst/>
          </a:prstGeom>
          <a:noFill/>
          <a:ln w="0">
            <a:noFill/>
          </a:ln>
        </p:spPr>
        <p:txBody>
          <a:bodyPr anchor="ctr">
            <a:noAutofit/>
          </a:bodyPr>
          <a:lstStyle/>
          <a:p>
            <a:pPr algn="l">
              <a:defRPr sz="2700" b="1">
                <a:solidFill>
                  <a:srgbClr val="F59E42"/>
                </a:solidFill>
                <a:latin typeface="Arial"/>
                <a:ea typeface="Arial"/>
                <a:cs typeface="Arial"/>
              </a:defRPr>
            </a:pPr>
            <a:r>
              <a:rPr sz="2700" b="1">
                <a:solidFill>
                  <a:srgbClr val="F59E42"/>
                </a:solidFill>
                <a:latin typeface="Arial"/>
                <a:ea typeface="Arial"/>
                <a:cs typeface="Arial"/>
              </a:rPr>
              <a:t>24,9%</a:t>
            </a:r>
          </a:p>
        </p:txBody>
      </p:sp>
      <p:sp>
        <p:nvSpPr>
          <p:cNvPr id="8" name="Rectangle 7">
            <a:extLst>
              <a:ext uri="{FF2B5EF4-FFF2-40B4-BE49-F238E27FC236}">
                <a16:creationId xmlns:a16="http://schemas.microsoft.com/office/drawing/2014/main" id="{32A42ABE-B543-4C87-A390-4B52E83D2EAF}"/>
              </a:ext>
            </a:extLst>
          </p:cNvPr>
          <p:cNvSpPr>
            <a:spLocks noGrp="1"/>
          </p:cNvSpPr>
          <p:nvPr/>
        </p:nvSpPr>
        <p:spPr>
          <a:xfrm>
            <a:off x="9201150" y="1676400"/>
            <a:ext cx="2095500" cy="361950"/>
          </a:xfrm>
          <a:prstGeom prst="rect">
            <a:avLst/>
          </a:prstGeom>
          <a:noFill/>
          <a:ln w="0">
            <a:noFill/>
          </a:ln>
        </p:spPr>
        <p:txBody>
          <a:bodyPr anchor="ctr">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dòng thiếu CustomerID</a:t>
            </a:r>
          </a:p>
        </p:txBody>
      </p:sp>
      <p:sp>
        <p:nvSpPr>
          <p:cNvPr id="9" name="Rectangle 8">
            <a:extLst>
              <a:ext uri="{FF2B5EF4-FFF2-40B4-BE49-F238E27FC236}">
                <a16:creationId xmlns:a16="http://schemas.microsoft.com/office/drawing/2014/main" id="{CD4F5921-8F36-48C6-8B40-C631E9954FF1}"/>
              </a:ext>
            </a:extLst>
          </p:cNvPr>
          <p:cNvSpPr>
            <a:spLocks noGrp="1"/>
          </p:cNvSpPr>
          <p:nvPr/>
        </p:nvSpPr>
        <p:spPr>
          <a:xfrm>
            <a:off x="7848600" y="2247900"/>
            <a:ext cx="3390900" cy="118110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UCI ghi “không có missing”, nhưng file thực tế có 135.080 CustomerID và 1.454 Description bị thiếu. Vì vậy phải kiểm tra file thay vì chỉ dựa vào metadata.</a:t>
            </a:r>
          </a:p>
        </p:txBody>
      </p:sp>
      <p:sp>
        <p:nvSpPr>
          <p:cNvPr id="10" name="Rectangle 9">
            <a:extLst>
              <a:ext uri="{FF2B5EF4-FFF2-40B4-BE49-F238E27FC236}">
                <a16:creationId xmlns:a16="http://schemas.microsoft.com/office/drawing/2014/main" id="{DD7C10FD-E872-4660-BB9B-C1DB287BDA19}"/>
              </a:ext>
            </a:extLst>
          </p:cNvPr>
          <p:cNvSpPr>
            <a:spLocks noGrp="1"/>
          </p:cNvSpPr>
          <p:nvPr/>
        </p:nvSpPr>
        <p:spPr>
          <a:xfrm>
            <a:off x="7848600" y="3619500"/>
            <a:ext cx="3390900" cy="85725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InvoiceNo bắt đầu bằng C là giao dịch hủy. Quantity âm phản ánh hoàn trả, không nên coi là doanh số bán mới.</a:t>
            </a:r>
          </a:p>
        </p:txBody>
      </p:sp>
      <p:sp>
        <p:nvSpPr>
          <p:cNvPr id="11" name="Rectangle 10">
            <a:extLst>
              <a:ext uri="{FF2B5EF4-FFF2-40B4-BE49-F238E27FC236}">
                <a16:creationId xmlns:a16="http://schemas.microsoft.com/office/drawing/2014/main" id="{2203FF3D-9223-4D15-A224-18A4BCE4600F}"/>
              </a:ext>
            </a:extLst>
          </p:cNvPr>
          <p:cNvSpPr>
            <a:spLocks noGrp="1"/>
          </p:cNvSpPr>
          <p:nvPr/>
        </p:nvSpPr>
        <p:spPr>
          <a:xfrm>
            <a:off x="7848600" y="4724400"/>
            <a:ext cx="3390900" cy="685800"/>
          </a:xfrm>
          <a:prstGeom prst="rect">
            <a:avLst/>
          </a:prstGeom>
          <a:noFill/>
          <a:ln w="0">
            <a:noFill/>
          </a:ln>
        </p:spPr>
        <p:txBody>
          <a:bodyPr anchor="t">
            <a:noAutofit/>
          </a:bodyPr>
          <a:lstStyle/>
          <a:p>
            <a:pPr algn="l">
              <a:defRPr sz="1350" b="1">
                <a:solidFill>
                  <a:srgbClr val="182D4B"/>
                </a:solidFill>
                <a:latin typeface="Arial"/>
                <a:ea typeface="Arial"/>
                <a:cs typeface="Arial"/>
              </a:defRPr>
            </a:pPr>
            <a:r>
              <a:rPr sz="1350" b="1">
                <a:solidFill>
                  <a:srgbClr val="182D4B"/>
                </a:solidFill>
                <a:latin typeface="Arial"/>
                <a:ea typeface="Arial"/>
                <a:cs typeface="Arial"/>
              </a:rPr>
              <a:t>5.268 dòng trùng hoàn toàn cần loại trước khi tính doanh thu và tần suất mua.</a:t>
            </a:r>
          </a:p>
        </p:txBody>
      </p:sp>
      <p:sp>
        <p:nvSpPr>
          <p:cNvPr id="12" name="Rectangle 11">
            <a:extLst>
              <a:ext uri="{FF2B5EF4-FFF2-40B4-BE49-F238E27FC236}">
                <a16:creationId xmlns:a16="http://schemas.microsoft.com/office/drawing/2014/main" id="{B2A175C0-470E-4526-8AD8-C5BD6B613760}"/>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88088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580FBFE-4B75-413B-BDDD-31FDE55E5830}"/>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71A351C9-8A06-4258-8594-B3C6DA73E9CB}"/>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3. Quy trình tiền xử lý và tạo đặc trưng</a:t>
            </a:r>
          </a:p>
        </p:txBody>
      </p:sp>
      <p:sp>
        <p:nvSpPr>
          <p:cNvPr id="3" name="Rectangle 2">
            <a:extLst>
              <a:ext uri="{FF2B5EF4-FFF2-40B4-BE49-F238E27FC236}">
                <a16:creationId xmlns:a16="http://schemas.microsoft.com/office/drawing/2014/main" id="{C5DF7662-656C-40EE-A845-B04D6602E63E}"/>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04</a:t>
            </a:r>
          </a:p>
        </p:txBody>
      </p:sp>
      <p:sp>
        <p:nvSpPr>
          <p:cNvPr id="4" name="Rectangle: Rounded Corners 3">
            <a:extLst>
              <a:ext uri="{FF2B5EF4-FFF2-40B4-BE49-F238E27FC236}">
                <a16:creationId xmlns:a16="http://schemas.microsoft.com/office/drawing/2014/main" id="{EA4E928E-6483-4C0B-B968-E7A000CC8B17}"/>
              </a:ext>
            </a:extLst>
          </p:cNvPr>
          <p:cNvSpPr>
            <a:spLocks noGrp="1"/>
          </p:cNvSpPr>
          <p:nvPr/>
        </p:nvSpPr>
        <p:spPr>
          <a:xfrm>
            <a:off x="438150" y="1428750"/>
            <a:ext cx="1952625" cy="2419350"/>
          </a:xfrm>
          <a:prstGeom prst="roundRect">
            <a:avLst>
              <a:gd name="adj" fmla="val 5854"/>
            </a:avLst>
          </a:prstGeom>
          <a:solidFill>
            <a:srgbClr val="F4F7FA"/>
          </a:solidFill>
          <a:ln w="19050">
            <a:solidFill>
              <a:srgbClr val="F59E42"/>
            </a:solidFill>
          </a:ln>
        </p:spPr>
      </p:sp>
      <p:sp>
        <p:nvSpPr>
          <p:cNvPr id="5" name="Oval 4">
            <a:extLst>
              <a:ext uri="{FF2B5EF4-FFF2-40B4-BE49-F238E27FC236}">
                <a16:creationId xmlns:a16="http://schemas.microsoft.com/office/drawing/2014/main" id="{2A5478A8-76A3-47AF-B393-CB0CA4DF3695}"/>
              </a:ext>
            </a:extLst>
          </p:cNvPr>
          <p:cNvSpPr>
            <a:spLocks noGrp="1"/>
          </p:cNvSpPr>
          <p:nvPr/>
        </p:nvSpPr>
        <p:spPr>
          <a:xfrm>
            <a:off x="1066800" y="1104900"/>
            <a:ext cx="685800" cy="685800"/>
          </a:xfrm>
          <a:prstGeom prst="ellipse">
            <a:avLst/>
          </a:prstGeom>
          <a:solidFill>
            <a:srgbClr val="F59E42"/>
          </a:solidFill>
          <a:ln w="28575">
            <a:solidFill>
              <a:srgbClr val="FFFFFF"/>
            </a:solidFill>
          </a:ln>
        </p:spPr>
      </p:sp>
      <p:sp>
        <p:nvSpPr>
          <p:cNvPr id="6" name="Rectangle 5">
            <a:extLst>
              <a:ext uri="{FF2B5EF4-FFF2-40B4-BE49-F238E27FC236}">
                <a16:creationId xmlns:a16="http://schemas.microsoft.com/office/drawing/2014/main" id="{B77155D5-8165-443F-B7D6-1C32CAE27FAC}"/>
              </a:ext>
            </a:extLst>
          </p:cNvPr>
          <p:cNvSpPr>
            <a:spLocks noGrp="1"/>
          </p:cNvSpPr>
          <p:nvPr/>
        </p:nvSpPr>
        <p:spPr>
          <a:xfrm>
            <a:off x="1066800" y="1143000"/>
            <a:ext cx="685800" cy="590550"/>
          </a:xfrm>
          <a:prstGeom prst="rect">
            <a:avLst/>
          </a:prstGeom>
          <a:no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D09D8F51-A54E-49C9-B0C6-FCA0D93AC383}"/>
              </a:ext>
            </a:extLst>
          </p:cNvPr>
          <p:cNvSpPr>
            <a:spLocks noGrp="1"/>
          </p:cNvSpPr>
          <p:nvPr/>
        </p:nvSpPr>
        <p:spPr>
          <a:xfrm>
            <a:off x="571500" y="1962150"/>
            <a:ext cx="1685925" cy="381000"/>
          </a:xfrm>
          <a:prstGeom prst="rect">
            <a:avLst/>
          </a:prstGeom>
          <a:noFill/>
          <a:ln w="0">
            <a:noFill/>
          </a:ln>
        </p:spPr>
        <p:txBody>
          <a:bodyPr anchor="ctr">
            <a:noAutofit/>
          </a:bodyPr>
          <a:lstStyle/>
          <a:p>
            <a:pPr algn="ctr">
              <a:defRPr sz="1500" b="1">
                <a:solidFill>
                  <a:srgbClr val="182D4B"/>
                </a:solidFill>
                <a:latin typeface="Arial"/>
                <a:ea typeface="Arial"/>
                <a:cs typeface="Arial"/>
              </a:defRPr>
            </a:pPr>
            <a:r>
              <a:rPr sz="1500" b="1">
                <a:solidFill>
                  <a:srgbClr val="182D4B"/>
                </a:solidFill>
                <a:latin typeface="Arial"/>
                <a:ea typeface="Arial"/>
                <a:cs typeface="Arial"/>
              </a:rPr>
              <a:t>Loại trùng</a:t>
            </a:r>
          </a:p>
        </p:txBody>
      </p:sp>
      <p:sp>
        <p:nvSpPr>
          <p:cNvPr id="8" name="Rectangle 7">
            <a:extLst>
              <a:ext uri="{FF2B5EF4-FFF2-40B4-BE49-F238E27FC236}">
                <a16:creationId xmlns:a16="http://schemas.microsoft.com/office/drawing/2014/main" id="{B0F3D356-6DF7-4A72-BFB1-BF05A4770493}"/>
              </a:ext>
            </a:extLst>
          </p:cNvPr>
          <p:cNvSpPr>
            <a:spLocks noGrp="1"/>
          </p:cNvSpPr>
          <p:nvPr/>
        </p:nvSpPr>
        <p:spPr>
          <a:xfrm>
            <a:off x="609600" y="2495550"/>
            <a:ext cx="1609725" cy="1104900"/>
          </a:xfrm>
          <a:prstGeom prst="rect">
            <a:avLst/>
          </a:prstGeom>
          <a:noFill/>
          <a:ln w="0">
            <a:noFill/>
          </a:ln>
        </p:spPr>
        <p:txBody>
          <a:bodyPr anchor="t">
            <a:noAutofit/>
          </a:bodyPr>
          <a:lstStyle/>
          <a:p>
            <a:pPr algn="ctr">
              <a:defRPr sz="1275" b="0">
                <a:solidFill>
                  <a:srgbClr val="1F2937"/>
                </a:solidFill>
                <a:latin typeface="Arial"/>
                <a:ea typeface="Arial"/>
                <a:cs typeface="Arial"/>
              </a:defRPr>
            </a:pPr>
            <a:r>
              <a:rPr sz="1275" b="0">
                <a:solidFill>
                  <a:srgbClr val="1F2937"/>
                </a:solidFill>
                <a:latin typeface="Arial"/>
                <a:ea typeface="Arial"/>
                <a:cs typeface="Arial"/>
              </a:rPr>
              <a:t>Xóa 5.268 dòng trùng hoàn toàn</a:t>
            </a:r>
          </a:p>
        </p:txBody>
      </p:sp>
      <p:sp>
        <p:nvSpPr>
          <p:cNvPr id="9" name="Rectangle: Rounded Corners 8">
            <a:extLst>
              <a:ext uri="{FF2B5EF4-FFF2-40B4-BE49-F238E27FC236}">
                <a16:creationId xmlns:a16="http://schemas.microsoft.com/office/drawing/2014/main" id="{1293B7DF-3D4E-4D3A-AF25-846657425AC0}"/>
              </a:ext>
            </a:extLst>
          </p:cNvPr>
          <p:cNvSpPr>
            <a:spLocks noGrp="1"/>
          </p:cNvSpPr>
          <p:nvPr/>
        </p:nvSpPr>
        <p:spPr>
          <a:xfrm>
            <a:off x="2743200" y="1428750"/>
            <a:ext cx="1952625" cy="2419350"/>
          </a:xfrm>
          <a:prstGeom prst="roundRect">
            <a:avLst>
              <a:gd name="adj" fmla="val 5854"/>
            </a:avLst>
          </a:prstGeom>
          <a:solidFill>
            <a:srgbClr val="F4F7FA"/>
          </a:solidFill>
          <a:ln w="19050">
            <a:solidFill>
              <a:srgbClr val="2696C5"/>
            </a:solidFill>
          </a:ln>
        </p:spPr>
      </p:sp>
      <p:sp>
        <p:nvSpPr>
          <p:cNvPr id="10" name="Oval 9">
            <a:extLst>
              <a:ext uri="{FF2B5EF4-FFF2-40B4-BE49-F238E27FC236}">
                <a16:creationId xmlns:a16="http://schemas.microsoft.com/office/drawing/2014/main" id="{691231FB-4D79-450C-909E-A5FD321C5C74}"/>
              </a:ext>
            </a:extLst>
          </p:cNvPr>
          <p:cNvSpPr>
            <a:spLocks noGrp="1"/>
          </p:cNvSpPr>
          <p:nvPr/>
        </p:nvSpPr>
        <p:spPr>
          <a:xfrm>
            <a:off x="3371850" y="1104900"/>
            <a:ext cx="685800" cy="685800"/>
          </a:xfrm>
          <a:prstGeom prst="ellipse">
            <a:avLst/>
          </a:prstGeom>
          <a:solidFill>
            <a:srgbClr val="2696C5"/>
          </a:solidFill>
          <a:ln w="28575">
            <a:solidFill>
              <a:srgbClr val="FFFFFF"/>
            </a:solidFill>
          </a:ln>
        </p:spPr>
      </p:sp>
      <p:sp>
        <p:nvSpPr>
          <p:cNvPr id="11" name="Rectangle 10">
            <a:extLst>
              <a:ext uri="{FF2B5EF4-FFF2-40B4-BE49-F238E27FC236}">
                <a16:creationId xmlns:a16="http://schemas.microsoft.com/office/drawing/2014/main" id="{DBCCD472-B2D3-47EB-9E61-4FD6860F2AFD}"/>
              </a:ext>
            </a:extLst>
          </p:cNvPr>
          <p:cNvSpPr>
            <a:spLocks noGrp="1"/>
          </p:cNvSpPr>
          <p:nvPr/>
        </p:nvSpPr>
        <p:spPr>
          <a:xfrm>
            <a:off x="3371850" y="1143000"/>
            <a:ext cx="685800" cy="590550"/>
          </a:xfrm>
          <a:prstGeom prst="rect">
            <a:avLst/>
          </a:prstGeom>
          <a:no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2773EB91-D853-4BCD-9DFF-635FC17BA60C}"/>
              </a:ext>
            </a:extLst>
          </p:cNvPr>
          <p:cNvSpPr>
            <a:spLocks noGrp="1"/>
          </p:cNvSpPr>
          <p:nvPr/>
        </p:nvSpPr>
        <p:spPr>
          <a:xfrm>
            <a:off x="2876550" y="1962150"/>
            <a:ext cx="1685925" cy="381000"/>
          </a:xfrm>
          <a:prstGeom prst="rect">
            <a:avLst/>
          </a:prstGeom>
          <a:noFill/>
          <a:ln w="0">
            <a:noFill/>
          </a:ln>
        </p:spPr>
        <p:txBody>
          <a:bodyPr anchor="ctr">
            <a:noAutofit/>
          </a:bodyPr>
          <a:lstStyle/>
          <a:p>
            <a:pPr algn="ctr">
              <a:defRPr sz="1500" b="1">
                <a:solidFill>
                  <a:srgbClr val="182D4B"/>
                </a:solidFill>
                <a:latin typeface="Arial"/>
                <a:ea typeface="Arial"/>
                <a:cs typeface="Arial"/>
              </a:defRPr>
            </a:pPr>
            <a:r>
              <a:rPr sz="1500" b="1">
                <a:solidFill>
                  <a:srgbClr val="182D4B"/>
                </a:solidFill>
                <a:latin typeface="Arial"/>
                <a:ea typeface="Arial"/>
                <a:cs typeface="Arial"/>
              </a:rPr>
              <a:t>Tách giao dịch</a:t>
            </a:r>
          </a:p>
        </p:txBody>
      </p:sp>
      <p:sp>
        <p:nvSpPr>
          <p:cNvPr id="13" name="Rectangle 12">
            <a:extLst>
              <a:ext uri="{FF2B5EF4-FFF2-40B4-BE49-F238E27FC236}">
                <a16:creationId xmlns:a16="http://schemas.microsoft.com/office/drawing/2014/main" id="{81960DC3-19C6-4BFC-A8A5-DDDF7065171F}"/>
              </a:ext>
            </a:extLst>
          </p:cNvPr>
          <p:cNvSpPr>
            <a:spLocks noGrp="1"/>
          </p:cNvSpPr>
          <p:nvPr/>
        </p:nvSpPr>
        <p:spPr>
          <a:xfrm>
            <a:off x="2914650" y="2495550"/>
            <a:ext cx="1609725" cy="1104900"/>
          </a:xfrm>
          <a:prstGeom prst="rect">
            <a:avLst/>
          </a:prstGeom>
          <a:noFill/>
          <a:ln w="0">
            <a:noFill/>
          </a:ln>
        </p:spPr>
        <p:txBody>
          <a:bodyPr anchor="t">
            <a:noAutofit/>
          </a:bodyPr>
          <a:lstStyle/>
          <a:p>
            <a:pPr algn="ctr">
              <a:defRPr sz="1275" b="0">
                <a:solidFill>
                  <a:srgbClr val="1F2937"/>
                </a:solidFill>
                <a:latin typeface="Arial"/>
                <a:ea typeface="Arial"/>
                <a:cs typeface="Arial"/>
              </a:defRPr>
            </a:pPr>
            <a:r>
              <a:rPr sz="1275" b="0">
                <a:solidFill>
                  <a:srgbClr val="1F2937"/>
                </a:solidFill>
                <a:latin typeface="Arial"/>
                <a:ea typeface="Arial"/>
                <a:cs typeface="Arial"/>
              </a:rPr>
              <a:t>Giữ riêng hóa đơn hủy và Quantity âm để kiểm toán</a:t>
            </a:r>
          </a:p>
        </p:txBody>
      </p:sp>
      <p:sp>
        <p:nvSpPr>
          <p:cNvPr id="14" name="Rectangle: Rounded Corners 13">
            <a:extLst>
              <a:ext uri="{FF2B5EF4-FFF2-40B4-BE49-F238E27FC236}">
                <a16:creationId xmlns:a16="http://schemas.microsoft.com/office/drawing/2014/main" id="{A11A5C59-E282-4191-AC3D-E3FF38BCFC42}"/>
              </a:ext>
            </a:extLst>
          </p:cNvPr>
          <p:cNvSpPr>
            <a:spLocks noGrp="1"/>
          </p:cNvSpPr>
          <p:nvPr/>
        </p:nvSpPr>
        <p:spPr>
          <a:xfrm>
            <a:off x="5048250" y="1428750"/>
            <a:ext cx="1952625" cy="2419350"/>
          </a:xfrm>
          <a:prstGeom prst="roundRect">
            <a:avLst>
              <a:gd name="adj" fmla="val 5854"/>
            </a:avLst>
          </a:prstGeom>
          <a:solidFill>
            <a:srgbClr val="F4F7FA"/>
          </a:solidFill>
          <a:ln w="19050">
            <a:solidFill>
              <a:srgbClr val="26A69A"/>
            </a:solidFill>
          </a:ln>
        </p:spPr>
      </p:sp>
      <p:sp>
        <p:nvSpPr>
          <p:cNvPr id="15" name="Oval 14">
            <a:extLst>
              <a:ext uri="{FF2B5EF4-FFF2-40B4-BE49-F238E27FC236}">
                <a16:creationId xmlns:a16="http://schemas.microsoft.com/office/drawing/2014/main" id="{C72E849D-BB1A-4806-B3DA-2A7F8A53A611}"/>
              </a:ext>
            </a:extLst>
          </p:cNvPr>
          <p:cNvSpPr>
            <a:spLocks noGrp="1"/>
          </p:cNvSpPr>
          <p:nvPr/>
        </p:nvSpPr>
        <p:spPr>
          <a:xfrm>
            <a:off x="5676900" y="1104900"/>
            <a:ext cx="685800" cy="685800"/>
          </a:xfrm>
          <a:prstGeom prst="ellipse">
            <a:avLst/>
          </a:prstGeom>
          <a:solidFill>
            <a:srgbClr val="26A69A"/>
          </a:solidFill>
          <a:ln w="28575">
            <a:solidFill>
              <a:srgbClr val="FFFFFF"/>
            </a:solidFill>
          </a:ln>
        </p:spPr>
      </p:sp>
      <p:sp>
        <p:nvSpPr>
          <p:cNvPr id="16" name="Rectangle 15">
            <a:extLst>
              <a:ext uri="{FF2B5EF4-FFF2-40B4-BE49-F238E27FC236}">
                <a16:creationId xmlns:a16="http://schemas.microsoft.com/office/drawing/2014/main" id="{041A6247-7B3C-427E-925C-C699EDE5C7C9}"/>
              </a:ext>
            </a:extLst>
          </p:cNvPr>
          <p:cNvSpPr>
            <a:spLocks noGrp="1"/>
          </p:cNvSpPr>
          <p:nvPr/>
        </p:nvSpPr>
        <p:spPr>
          <a:xfrm>
            <a:off x="5676900" y="1143000"/>
            <a:ext cx="685800" cy="590550"/>
          </a:xfrm>
          <a:prstGeom prst="rect">
            <a:avLst/>
          </a:prstGeom>
          <a:no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7" name="Rectangle 16">
            <a:extLst>
              <a:ext uri="{FF2B5EF4-FFF2-40B4-BE49-F238E27FC236}">
                <a16:creationId xmlns:a16="http://schemas.microsoft.com/office/drawing/2014/main" id="{21BA2BBB-6120-4A31-BA9A-877A0CB32E62}"/>
              </a:ext>
            </a:extLst>
          </p:cNvPr>
          <p:cNvSpPr>
            <a:spLocks noGrp="1"/>
          </p:cNvSpPr>
          <p:nvPr/>
        </p:nvSpPr>
        <p:spPr>
          <a:xfrm>
            <a:off x="5181600" y="1962150"/>
            <a:ext cx="1685925" cy="381000"/>
          </a:xfrm>
          <a:prstGeom prst="rect">
            <a:avLst/>
          </a:prstGeom>
          <a:noFill/>
          <a:ln w="0">
            <a:noFill/>
          </a:ln>
        </p:spPr>
        <p:txBody>
          <a:bodyPr anchor="ctr">
            <a:noAutofit/>
          </a:bodyPr>
          <a:lstStyle/>
          <a:p>
            <a:pPr algn="ctr">
              <a:defRPr sz="1500" b="1">
                <a:solidFill>
                  <a:srgbClr val="182D4B"/>
                </a:solidFill>
                <a:latin typeface="Arial"/>
                <a:ea typeface="Arial"/>
                <a:cs typeface="Arial"/>
              </a:defRPr>
            </a:pPr>
            <a:r>
              <a:rPr sz="1500" b="1">
                <a:solidFill>
                  <a:srgbClr val="182D4B"/>
                </a:solidFill>
                <a:latin typeface="Arial"/>
                <a:ea typeface="Arial"/>
                <a:cs typeface="Arial"/>
              </a:rPr>
              <a:t>Lọc bán hàng</a:t>
            </a:r>
          </a:p>
        </p:txBody>
      </p:sp>
      <p:sp>
        <p:nvSpPr>
          <p:cNvPr id="18" name="Rectangle 17">
            <a:extLst>
              <a:ext uri="{FF2B5EF4-FFF2-40B4-BE49-F238E27FC236}">
                <a16:creationId xmlns:a16="http://schemas.microsoft.com/office/drawing/2014/main" id="{3A6F8991-D7B2-439B-BBC6-FFE4BEAB7934}"/>
              </a:ext>
            </a:extLst>
          </p:cNvPr>
          <p:cNvSpPr>
            <a:spLocks noGrp="1"/>
          </p:cNvSpPr>
          <p:nvPr/>
        </p:nvSpPr>
        <p:spPr>
          <a:xfrm>
            <a:off x="5219700" y="2495550"/>
            <a:ext cx="1609725" cy="1104900"/>
          </a:xfrm>
          <a:prstGeom prst="rect">
            <a:avLst/>
          </a:prstGeom>
          <a:noFill/>
          <a:ln w="0">
            <a:noFill/>
          </a:ln>
        </p:spPr>
        <p:txBody>
          <a:bodyPr anchor="t">
            <a:noAutofit/>
          </a:bodyPr>
          <a:lstStyle/>
          <a:p>
            <a:pPr algn="ctr">
              <a:defRPr sz="1275" b="0">
                <a:solidFill>
                  <a:srgbClr val="1F2937"/>
                </a:solidFill>
                <a:latin typeface="Arial"/>
                <a:ea typeface="Arial"/>
                <a:cs typeface="Arial"/>
              </a:defRPr>
            </a:pPr>
            <a:r>
              <a:rPr sz="1275" b="0">
                <a:solidFill>
                  <a:srgbClr val="1F2937"/>
                </a:solidFill>
                <a:latin typeface="Arial"/>
                <a:ea typeface="Arial"/>
                <a:cs typeface="Arial"/>
              </a:rPr>
              <a:t>Quantity &gt; 0, UnitPrice &gt; 0, có mô tả sản phẩm</a:t>
            </a:r>
          </a:p>
        </p:txBody>
      </p:sp>
      <p:sp>
        <p:nvSpPr>
          <p:cNvPr id="19" name="Rectangle: Rounded Corners 18">
            <a:extLst>
              <a:ext uri="{FF2B5EF4-FFF2-40B4-BE49-F238E27FC236}">
                <a16:creationId xmlns:a16="http://schemas.microsoft.com/office/drawing/2014/main" id="{5FABE48F-5631-49F3-B6D6-BB9ADE7DAE51}"/>
              </a:ext>
            </a:extLst>
          </p:cNvPr>
          <p:cNvSpPr>
            <a:spLocks noGrp="1"/>
          </p:cNvSpPr>
          <p:nvPr/>
        </p:nvSpPr>
        <p:spPr>
          <a:xfrm>
            <a:off x="7353300" y="1428750"/>
            <a:ext cx="1952625" cy="2419350"/>
          </a:xfrm>
          <a:prstGeom prst="roundRect">
            <a:avLst>
              <a:gd name="adj" fmla="val 5854"/>
            </a:avLst>
          </a:prstGeom>
          <a:solidFill>
            <a:srgbClr val="F4F7FA"/>
          </a:solidFill>
          <a:ln w="19050">
            <a:solidFill>
              <a:srgbClr val="28A745"/>
            </a:solidFill>
          </a:ln>
        </p:spPr>
      </p:sp>
      <p:sp>
        <p:nvSpPr>
          <p:cNvPr id="20" name="Oval 19">
            <a:extLst>
              <a:ext uri="{FF2B5EF4-FFF2-40B4-BE49-F238E27FC236}">
                <a16:creationId xmlns:a16="http://schemas.microsoft.com/office/drawing/2014/main" id="{D59E64CE-7EE9-4357-B6B3-D005EAACB05D}"/>
              </a:ext>
            </a:extLst>
          </p:cNvPr>
          <p:cNvSpPr>
            <a:spLocks noGrp="1"/>
          </p:cNvSpPr>
          <p:nvPr/>
        </p:nvSpPr>
        <p:spPr>
          <a:xfrm>
            <a:off x="7981950" y="1104900"/>
            <a:ext cx="685800" cy="685800"/>
          </a:xfrm>
          <a:prstGeom prst="ellipse">
            <a:avLst/>
          </a:prstGeom>
          <a:solidFill>
            <a:srgbClr val="28A745"/>
          </a:solidFill>
          <a:ln w="28575">
            <a:solidFill>
              <a:srgbClr val="FFFFFF"/>
            </a:solidFill>
          </a:ln>
        </p:spPr>
      </p:sp>
      <p:sp>
        <p:nvSpPr>
          <p:cNvPr id="21" name="Rectangle 20">
            <a:extLst>
              <a:ext uri="{FF2B5EF4-FFF2-40B4-BE49-F238E27FC236}">
                <a16:creationId xmlns:a16="http://schemas.microsoft.com/office/drawing/2014/main" id="{21B73F60-9067-45AC-99BF-BCC8C16AFFF5}"/>
              </a:ext>
            </a:extLst>
          </p:cNvPr>
          <p:cNvSpPr>
            <a:spLocks noGrp="1"/>
          </p:cNvSpPr>
          <p:nvPr/>
        </p:nvSpPr>
        <p:spPr>
          <a:xfrm>
            <a:off x="7981950" y="1143000"/>
            <a:ext cx="685800" cy="590550"/>
          </a:xfrm>
          <a:prstGeom prst="rect">
            <a:avLst/>
          </a:prstGeom>
          <a:no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4</a:t>
            </a:r>
          </a:p>
        </p:txBody>
      </p:sp>
      <p:sp>
        <p:nvSpPr>
          <p:cNvPr id="22" name="Rectangle 21">
            <a:extLst>
              <a:ext uri="{FF2B5EF4-FFF2-40B4-BE49-F238E27FC236}">
                <a16:creationId xmlns:a16="http://schemas.microsoft.com/office/drawing/2014/main" id="{B67A5F1A-6FD8-4FC9-BF7D-DEC12B689C20}"/>
              </a:ext>
            </a:extLst>
          </p:cNvPr>
          <p:cNvSpPr>
            <a:spLocks noGrp="1"/>
          </p:cNvSpPr>
          <p:nvPr/>
        </p:nvSpPr>
        <p:spPr>
          <a:xfrm>
            <a:off x="7486650" y="1962150"/>
            <a:ext cx="1685925" cy="381000"/>
          </a:xfrm>
          <a:prstGeom prst="rect">
            <a:avLst/>
          </a:prstGeom>
          <a:noFill/>
          <a:ln w="0">
            <a:noFill/>
          </a:ln>
        </p:spPr>
        <p:txBody>
          <a:bodyPr anchor="ctr">
            <a:noAutofit/>
          </a:bodyPr>
          <a:lstStyle/>
          <a:p>
            <a:pPr algn="ctr">
              <a:defRPr sz="1500" b="1">
                <a:solidFill>
                  <a:srgbClr val="182D4B"/>
                </a:solidFill>
                <a:latin typeface="Arial"/>
                <a:ea typeface="Arial"/>
                <a:cs typeface="Arial"/>
              </a:defRPr>
            </a:pPr>
            <a:r>
              <a:rPr sz="1500" b="1">
                <a:solidFill>
                  <a:srgbClr val="182D4B"/>
                </a:solidFill>
                <a:latin typeface="Arial"/>
                <a:ea typeface="Arial"/>
                <a:cs typeface="Arial"/>
              </a:rPr>
              <a:t>Tạo đặc trưng</a:t>
            </a:r>
          </a:p>
        </p:txBody>
      </p:sp>
      <p:sp>
        <p:nvSpPr>
          <p:cNvPr id="23" name="Rectangle 22">
            <a:extLst>
              <a:ext uri="{FF2B5EF4-FFF2-40B4-BE49-F238E27FC236}">
                <a16:creationId xmlns:a16="http://schemas.microsoft.com/office/drawing/2014/main" id="{094E5CC8-8D3E-4F22-999C-5D262C6535DA}"/>
              </a:ext>
            </a:extLst>
          </p:cNvPr>
          <p:cNvSpPr>
            <a:spLocks noGrp="1"/>
          </p:cNvSpPr>
          <p:nvPr/>
        </p:nvSpPr>
        <p:spPr>
          <a:xfrm>
            <a:off x="7524750" y="2495550"/>
            <a:ext cx="1609725" cy="1104900"/>
          </a:xfrm>
          <a:prstGeom prst="rect">
            <a:avLst/>
          </a:prstGeom>
          <a:noFill/>
          <a:ln w="0">
            <a:noFill/>
          </a:ln>
        </p:spPr>
        <p:txBody>
          <a:bodyPr anchor="t">
            <a:noAutofit/>
          </a:bodyPr>
          <a:lstStyle/>
          <a:p>
            <a:pPr algn="ctr">
              <a:defRPr sz="1275" b="0">
                <a:solidFill>
                  <a:srgbClr val="1F2937"/>
                </a:solidFill>
                <a:latin typeface="Arial"/>
                <a:ea typeface="Arial"/>
                <a:cs typeface="Arial"/>
              </a:defRPr>
            </a:pPr>
            <a:r>
              <a:rPr sz="1275" b="0">
                <a:solidFill>
                  <a:srgbClr val="1F2937"/>
                </a:solidFill>
                <a:latin typeface="Arial"/>
                <a:ea typeface="Arial"/>
                <a:cs typeface="Arial"/>
              </a:rPr>
              <a:t>Revenue = Quantity × UnitPrice; xây Recency, Frequency, Monetary</a:t>
            </a:r>
          </a:p>
        </p:txBody>
      </p:sp>
      <p:sp>
        <p:nvSpPr>
          <p:cNvPr id="24" name="Rectangle: Rounded Corners 23">
            <a:extLst>
              <a:ext uri="{FF2B5EF4-FFF2-40B4-BE49-F238E27FC236}">
                <a16:creationId xmlns:a16="http://schemas.microsoft.com/office/drawing/2014/main" id="{B93D5FD4-CC0C-47B7-9A5B-EE578436D859}"/>
              </a:ext>
            </a:extLst>
          </p:cNvPr>
          <p:cNvSpPr>
            <a:spLocks noGrp="1"/>
          </p:cNvSpPr>
          <p:nvPr/>
        </p:nvSpPr>
        <p:spPr>
          <a:xfrm>
            <a:off x="9658350" y="1428750"/>
            <a:ext cx="1952625" cy="2419350"/>
          </a:xfrm>
          <a:prstGeom prst="roundRect">
            <a:avLst>
              <a:gd name="adj" fmla="val 5854"/>
            </a:avLst>
          </a:prstGeom>
          <a:solidFill>
            <a:srgbClr val="F4F7FA"/>
          </a:solidFill>
          <a:ln w="19050">
            <a:solidFill>
              <a:srgbClr val="274568"/>
            </a:solidFill>
          </a:ln>
        </p:spPr>
      </p:sp>
      <p:sp>
        <p:nvSpPr>
          <p:cNvPr id="25" name="Oval 24">
            <a:extLst>
              <a:ext uri="{FF2B5EF4-FFF2-40B4-BE49-F238E27FC236}">
                <a16:creationId xmlns:a16="http://schemas.microsoft.com/office/drawing/2014/main" id="{6844A22F-536A-45C6-A9D5-B82C291E5597}"/>
              </a:ext>
            </a:extLst>
          </p:cNvPr>
          <p:cNvSpPr>
            <a:spLocks noGrp="1"/>
          </p:cNvSpPr>
          <p:nvPr/>
        </p:nvSpPr>
        <p:spPr>
          <a:xfrm>
            <a:off x="10287000" y="1104900"/>
            <a:ext cx="685800" cy="685800"/>
          </a:xfrm>
          <a:prstGeom prst="ellipse">
            <a:avLst/>
          </a:prstGeom>
          <a:solidFill>
            <a:srgbClr val="274568"/>
          </a:solidFill>
          <a:ln w="28575">
            <a:solidFill>
              <a:srgbClr val="FFFFFF"/>
            </a:solidFill>
          </a:ln>
        </p:spPr>
      </p:sp>
      <p:sp>
        <p:nvSpPr>
          <p:cNvPr id="26" name="Rectangle 25">
            <a:extLst>
              <a:ext uri="{FF2B5EF4-FFF2-40B4-BE49-F238E27FC236}">
                <a16:creationId xmlns:a16="http://schemas.microsoft.com/office/drawing/2014/main" id="{0AAEF81A-0BA4-4ADC-8B9E-5C86D4CC8004}"/>
              </a:ext>
            </a:extLst>
          </p:cNvPr>
          <p:cNvSpPr>
            <a:spLocks noGrp="1"/>
          </p:cNvSpPr>
          <p:nvPr/>
        </p:nvSpPr>
        <p:spPr>
          <a:xfrm>
            <a:off x="10287000" y="1143000"/>
            <a:ext cx="685800" cy="590550"/>
          </a:xfrm>
          <a:prstGeom prst="rect">
            <a:avLst/>
          </a:prstGeom>
          <a:no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5</a:t>
            </a:r>
          </a:p>
        </p:txBody>
      </p:sp>
      <p:sp>
        <p:nvSpPr>
          <p:cNvPr id="27" name="Rectangle 26">
            <a:extLst>
              <a:ext uri="{FF2B5EF4-FFF2-40B4-BE49-F238E27FC236}">
                <a16:creationId xmlns:a16="http://schemas.microsoft.com/office/drawing/2014/main" id="{00F6C6D8-97C8-4EC3-8C0D-1583A6E3A68E}"/>
              </a:ext>
            </a:extLst>
          </p:cNvPr>
          <p:cNvSpPr>
            <a:spLocks noGrp="1"/>
          </p:cNvSpPr>
          <p:nvPr/>
        </p:nvSpPr>
        <p:spPr>
          <a:xfrm>
            <a:off x="9791700" y="1962150"/>
            <a:ext cx="1685925" cy="381000"/>
          </a:xfrm>
          <a:prstGeom prst="rect">
            <a:avLst/>
          </a:prstGeom>
          <a:noFill/>
          <a:ln w="0">
            <a:noFill/>
          </a:ln>
        </p:spPr>
        <p:txBody>
          <a:bodyPr anchor="ctr">
            <a:noAutofit/>
          </a:bodyPr>
          <a:lstStyle/>
          <a:p>
            <a:pPr algn="ctr">
              <a:defRPr sz="1500" b="1">
                <a:solidFill>
                  <a:srgbClr val="182D4B"/>
                </a:solidFill>
                <a:latin typeface="Arial"/>
                <a:ea typeface="Arial"/>
                <a:cs typeface="Arial"/>
              </a:defRPr>
            </a:pPr>
            <a:r>
              <a:rPr sz="1500" b="1">
                <a:solidFill>
                  <a:srgbClr val="182D4B"/>
                </a:solidFill>
                <a:latin typeface="Arial"/>
                <a:ea typeface="Arial"/>
                <a:cs typeface="Arial"/>
              </a:rPr>
              <a:t>Chuẩn hóa</a:t>
            </a:r>
          </a:p>
        </p:txBody>
      </p:sp>
      <p:sp>
        <p:nvSpPr>
          <p:cNvPr id="28" name="Rectangle 27">
            <a:extLst>
              <a:ext uri="{FF2B5EF4-FFF2-40B4-BE49-F238E27FC236}">
                <a16:creationId xmlns:a16="http://schemas.microsoft.com/office/drawing/2014/main" id="{53148D5B-931D-4F6F-B6FF-EE08AB3A922A}"/>
              </a:ext>
            </a:extLst>
          </p:cNvPr>
          <p:cNvSpPr>
            <a:spLocks noGrp="1"/>
          </p:cNvSpPr>
          <p:nvPr/>
        </p:nvSpPr>
        <p:spPr>
          <a:xfrm>
            <a:off x="9829800" y="2495550"/>
            <a:ext cx="1609725" cy="1104900"/>
          </a:xfrm>
          <a:prstGeom prst="rect">
            <a:avLst/>
          </a:prstGeom>
          <a:noFill/>
          <a:ln w="0">
            <a:noFill/>
          </a:ln>
        </p:spPr>
        <p:txBody>
          <a:bodyPr anchor="t">
            <a:noAutofit/>
          </a:bodyPr>
          <a:lstStyle/>
          <a:p>
            <a:pPr algn="ctr">
              <a:defRPr sz="1275" b="0">
                <a:solidFill>
                  <a:srgbClr val="1F2937"/>
                </a:solidFill>
                <a:latin typeface="Arial"/>
                <a:ea typeface="Arial"/>
                <a:cs typeface="Arial"/>
              </a:defRPr>
            </a:pPr>
            <a:r>
              <a:rPr sz="1275" b="0">
                <a:solidFill>
                  <a:srgbClr val="1F2937"/>
                </a:solidFill>
                <a:latin typeface="Arial"/>
                <a:ea typeface="Arial"/>
                <a:cs typeface="Arial"/>
              </a:rPr>
              <a:t>Winsorize 99%, log1p và StandardScaler trước K-Means</a:t>
            </a:r>
          </a:p>
        </p:txBody>
      </p:sp>
      <p:sp>
        <p:nvSpPr>
          <p:cNvPr id="29" name="Rectangle: Rounded Corners 28">
            <a:extLst>
              <a:ext uri="{FF2B5EF4-FFF2-40B4-BE49-F238E27FC236}">
                <a16:creationId xmlns:a16="http://schemas.microsoft.com/office/drawing/2014/main" id="{CE633FB4-553F-4E12-BD14-22188CB045FC}"/>
              </a:ext>
            </a:extLst>
          </p:cNvPr>
          <p:cNvSpPr>
            <a:spLocks noGrp="1"/>
          </p:cNvSpPr>
          <p:nvPr/>
        </p:nvSpPr>
        <p:spPr>
          <a:xfrm>
            <a:off x="857250" y="4457700"/>
            <a:ext cx="10477500" cy="1257300"/>
          </a:xfrm>
          <a:prstGeom prst="roundRect">
            <a:avLst>
              <a:gd name="adj" fmla="val 7576"/>
            </a:avLst>
          </a:prstGeom>
          <a:solidFill>
            <a:srgbClr val="EDF7FB"/>
          </a:solidFill>
          <a:ln w="14288">
            <a:solidFill>
              <a:srgbClr val="2696C5"/>
            </a:solidFill>
          </a:ln>
        </p:spPr>
      </p:sp>
      <p:sp>
        <p:nvSpPr>
          <p:cNvPr id="30" name="Rectangle 29">
            <a:extLst>
              <a:ext uri="{FF2B5EF4-FFF2-40B4-BE49-F238E27FC236}">
                <a16:creationId xmlns:a16="http://schemas.microsoft.com/office/drawing/2014/main" id="{1457D007-34DB-4879-B98C-8F36BE5D9561}"/>
              </a:ext>
            </a:extLst>
          </p:cNvPr>
          <p:cNvSpPr>
            <a:spLocks noGrp="1"/>
          </p:cNvSpPr>
          <p:nvPr/>
        </p:nvSpPr>
        <p:spPr>
          <a:xfrm>
            <a:off x="1104900" y="4629150"/>
            <a:ext cx="2476500" cy="304800"/>
          </a:xfrm>
          <a:prstGeom prst="rect">
            <a:avLst/>
          </a:prstGeom>
          <a:noFill/>
          <a:ln w="0">
            <a:noFill/>
          </a:ln>
        </p:spPr>
        <p:txBody>
          <a:bodyPr anchor="ctr">
            <a:noAutofit/>
          </a:bodyPr>
          <a:lstStyle/>
          <a:p>
            <a:pPr algn="l">
              <a:defRPr sz="1575" b="1">
                <a:solidFill>
                  <a:srgbClr val="182D4B"/>
                </a:solidFill>
                <a:latin typeface="Arial"/>
                <a:ea typeface="Arial"/>
                <a:cs typeface="Arial"/>
              </a:defRPr>
            </a:pPr>
            <a:r>
              <a:rPr sz="1575" b="1">
                <a:solidFill>
                  <a:srgbClr val="182D4B"/>
                </a:solidFill>
                <a:latin typeface="Arial"/>
                <a:ea typeface="Arial"/>
                <a:cs typeface="Arial"/>
              </a:rPr>
              <a:t>Kết quả sau làm sạch</a:t>
            </a:r>
          </a:p>
        </p:txBody>
      </p:sp>
      <p:sp>
        <p:nvSpPr>
          <p:cNvPr id="31" name="Rectangle 30">
            <a:extLst>
              <a:ext uri="{FF2B5EF4-FFF2-40B4-BE49-F238E27FC236}">
                <a16:creationId xmlns:a16="http://schemas.microsoft.com/office/drawing/2014/main" id="{169994B1-67D0-4725-A94C-E93075C7A93F}"/>
              </a:ext>
            </a:extLst>
          </p:cNvPr>
          <p:cNvSpPr>
            <a:spLocks noGrp="1"/>
          </p:cNvSpPr>
          <p:nvPr/>
        </p:nvSpPr>
        <p:spPr>
          <a:xfrm>
            <a:off x="1104900" y="5048250"/>
            <a:ext cx="9696450" cy="361950"/>
          </a:xfrm>
          <a:prstGeom prst="rect">
            <a:avLst/>
          </a:prstGeom>
          <a:noFill/>
          <a:ln w="0">
            <a:noFill/>
          </a:ln>
        </p:spPr>
        <p:txBody>
          <a:bodyPr anchor="ctr">
            <a:noAutofit/>
          </a:bodyPr>
          <a:lstStyle/>
          <a:p>
            <a:pPr algn="l">
              <a:defRPr sz="1800" b="1">
                <a:solidFill>
                  <a:srgbClr val="2696C5"/>
                </a:solidFill>
                <a:latin typeface="Arial"/>
                <a:ea typeface="Arial"/>
                <a:cs typeface="Arial"/>
              </a:defRPr>
            </a:pPr>
            <a:r>
              <a:rPr sz="1800" b="1">
                <a:solidFill>
                  <a:srgbClr val="2696C5"/>
                </a:solidFill>
                <a:latin typeface="Arial"/>
                <a:ea typeface="Arial"/>
                <a:cs typeface="Arial"/>
              </a:rPr>
              <a:t>524.878 dòng bán hợp lệ  ·  19.960 hóa đơn  ·  £10,64 triệu doanh thu dương</a:t>
            </a:r>
          </a:p>
        </p:txBody>
      </p:sp>
      <p:sp>
        <p:nvSpPr>
          <p:cNvPr id="32" name="Rectangle 31">
            <a:extLst>
              <a:ext uri="{FF2B5EF4-FFF2-40B4-BE49-F238E27FC236}">
                <a16:creationId xmlns:a16="http://schemas.microsoft.com/office/drawing/2014/main" id="{9A5C73E8-970D-4E3E-8D74-3D129CA468E5}"/>
              </a:ext>
            </a:extLst>
          </p:cNvPr>
          <p:cNvSpPr>
            <a:spLocks noGrp="1"/>
          </p:cNvSpPr>
          <p:nvPr/>
        </p:nvSpPr>
        <p:spPr>
          <a:xfrm>
            <a:off x="1104900" y="5429250"/>
            <a:ext cx="9696450" cy="228600"/>
          </a:xfrm>
          <a:prstGeom prst="rect">
            <a:avLst/>
          </a:prstGeom>
          <a:noFill/>
          <a:ln w="0">
            <a:noFill/>
          </a:ln>
        </p:spPr>
        <p:txBody>
          <a:bodyPr anchor="ctr">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Phân tích khách hàng chỉ dùng 4.338 khách có CustomerID; nhóm này bao phủ 83,5% doanh thu bán hợp lệ.</a:t>
            </a:r>
          </a:p>
        </p:txBody>
      </p:sp>
      <p:sp>
        <p:nvSpPr>
          <p:cNvPr id="33" name="Rectangle 32">
            <a:extLst>
              <a:ext uri="{FF2B5EF4-FFF2-40B4-BE49-F238E27FC236}">
                <a16:creationId xmlns:a16="http://schemas.microsoft.com/office/drawing/2014/main" id="{92052E31-EC72-4720-902B-A9A96B0F3839}"/>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337577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2C58C77-D149-4CF3-B9C3-2B71F271F5F6}"/>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2067168C-31D6-445C-A3FA-2D51315A65E2}"/>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4. Doanh thu tăng mạnh vào mùa mua sắm cuối năm</a:t>
            </a:r>
          </a:p>
        </p:txBody>
      </p:sp>
      <p:sp>
        <p:nvSpPr>
          <p:cNvPr id="3" name="Rectangle 2">
            <a:extLst>
              <a:ext uri="{FF2B5EF4-FFF2-40B4-BE49-F238E27FC236}">
                <a16:creationId xmlns:a16="http://schemas.microsoft.com/office/drawing/2014/main" id="{DCD2F044-215F-48D6-96EE-61457CD6547C}"/>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05</a:t>
            </a:r>
          </a:p>
        </p:txBody>
      </p:sp>
      <p:graphicFrame>
        <p:nvGraphicFramePr>
          <p:cNvPr id="17" name="Chart"/>
          <p:cNvGraphicFramePr/>
          <p:nvPr/>
        </p:nvGraphicFramePr>
        <p:xfrm>
          <a:off x="419100" y="1104900"/>
          <a:ext cx="762000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2C7CF912-9BBA-4806-8CFE-EE4984A3455B}"/>
              </a:ext>
            </a:extLst>
          </p:cNvPr>
          <p:cNvSpPr>
            <a:spLocks noGrp="1"/>
          </p:cNvSpPr>
          <p:nvPr/>
        </p:nvSpPr>
        <p:spPr>
          <a:xfrm>
            <a:off x="8382000" y="1295400"/>
            <a:ext cx="2762250" cy="514350"/>
          </a:xfrm>
          <a:prstGeom prst="rect">
            <a:avLst/>
          </a:prstGeom>
          <a:noFill/>
          <a:ln w="0">
            <a:noFill/>
          </a:ln>
        </p:spPr>
        <p:txBody>
          <a:bodyPr anchor="ctr">
            <a:noAutofit/>
          </a:bodyPr>
          <a:lstStyle/>
          <a:p>
            <a:pPr algn="l">
              <a:defRPr sz="2700" b="1">
                <a:solidFill>
                  <a:srgbClr val="F59E42"/>
                </a:solidFill>
                <a:latin typeface="Arial"/>
                <a:ea typeface="Arial"/>
                <a:cs typeface="Arial"/>
              </a:defRPr>
            </a:pPr>
            <a:r>
              <a:rPr sz="2700" b="1">
                <a:solidFill>
                  <a:srgbClr val="F59E42"/>
                </a:solidFill>
                <a:latin typeface="Arial"/>
                <a:ea typeface="Arial"/>
                <a:cs typeface="Arial"/>
              </a:rPr>
              <a:t>£1,50 triệu</a:t>
            </a:r>
          </a:p>
        </p:txBody>
      </p:sp>
      <p:sp>
        <p:nvSpPr>
          <p:cNvPr id="6" name="Rectangle 5">
            <a:extLst>
              <a:ext uri="{FF2B5EF4-FFF2-40B4-BE49-F238E27FC236}">
                <a16:creationId xmlns:a16="http://schemas.microsoft.com/office/drawing/2014/main" id="{E11E3E73-798A-426B-AEB4-E716C8EB8726}"/>
              </a:ext>
            </a:extLst>
          </p:cNvPr>
          <p:cNvSpPr>
            <a:spLocks noGrp="1"/>
          </p:cNvSpPr>
          <p:nvPr/>
        </p:nvSpPr>
        <p:spPr>
          <a:xfrm>
            <a:off x="8382000" y="1847850"/>
            <a:ext cx="2857500" cy="381000"/>
          </a:xfrm>
          <a:prstGeom prst="rect">
            <a:avLst/>
          </a:prstGeom>
          <a:noFill/>
          <a:ln w="0">
            <a:noFill/>
          </a:ln>
        </p:spPr>
        <p:txBody>
          <a:bodyPr anchor="ctr">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doanh thu cao nhất vào 11/2011</a:t>
            </a:r>
          </a:p>
        </p:txBody>
      </p:sp>
      <p:sp>
        <p:nvSpPr>
          <p:cNvPr id="7" name="Rectangle 6">
            <a:extLst>
              <a:ext uri="{FF2B5EF4-FFF2-40B4-BE49-F238E27FC236}">
                <a16:creationId xmlns:a16="http://schemas.microsoft.com/office/drawing/2014/main" id="{D9D97385-738D-4937-AABE-7804D10CE82D}"/>
              </a:ext>
            </a:extLst>
          </p:cNvPr>
          <p:cNvSpPr>
            <a:spLocks noGrp="1"/>
          </p:cNvSpPr>
          <p:nvPr/>
        </p:nvSpPr>
        <p:spPr>
          <a:xfrm>
            <a:off x="8382000" y="2609850"/>
            <a:ext cx="1524000" cy="514350"/>
          </a:xfrm>
          <a:prstGeom prst="rect">
            <a:avLst/>
          </a:prstGeom>
          <a:noFill/>
          <a:ln w="0">
            <a:noFill/>
          </a:ln>
        </p:spPr>
        <p:txBody>
          <a:bodyPr anchor="ctr">
            <a:noAutofit/>
          </a:bodyPr>
          <a:lstStyle/>
          <a:p>
            <a:pPr algn="l">
              <a:defRPr sz="2700" b="1">
                <a:solidFill>
                  <a:srgbClr val="2696C5"/>
                </a:solidFill>
                <a:latin typeface="Arial"/>
                <a:ea typeface="Arial"/>
                <a:cs typeface="Arial"/>
              </a:defRPr>
            </a:pPr>
            <a:r>
              <a:rPr sz="2700" b="1">
                <a:solidFill>
                  <a:srgbClr val="2696C5"/>
                </a:solidFill>
                <a:latin typeface="Arial"/>
                <a:ea typeface="Arial"/>
                <a:cs typeface="Arial"/>
              </a:rPr>
              <a:t>84,6%</a:t>
            </a:r>
          </a:p>
        </p:txBody>
      </p:sp>
      <p:sp>
        <p:nvSpPr>
          <p:cNvPr id="8" name="Rectangle 7">
            <a:extLst>
              <a:ext uri="{FF2B5EF4-FFF2-40B4-BE49-F238E27FC236}">
                <a16:creationId xmlns:a16="http://schemas.microsoft.com/office/drawing/2014/main" id="{B33D94AC-CF20-4DE8-91DF-243789A48653}"/>
              </a:ext>
            </a:extLst>
          </p:cNvPr>
          <p:cNvSpPr>
            <a:spLocks noGrp="1"/>
          </p:cNvSpPr>
          <p:nvPr/>
        </p:nvSpPr>
        <p:spPr>
          <a:xfrm>
            <a:off x="8382000" y="3143250"/>
            <a:ext cx="2857500" cy="43815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doanh thu đến từ United Kingdom</a:t>
            </a:r>
          </a:p>
        </p:txBody>
      </p:sp>
      <p:sp>
        <p:nvSpPr>
          <p:cNvPr id="9" name="Rectangle 8">
            <a:extLst>
              <a:ext uri="{FF2B5EF4-FFF2-40B4-BE49-F238E27FC236}">
                <a16:creationId xmlns:a16="http://schemas.microsoft.com/office/drawing/2014/main" id="{4A6A27D7-AD82-41F2-9D12-4E4CAB206EF8}"/>
              </a:ext>
            </a:extLst>
          </p:cNvPr>
          <p:cNvSpPr>
            <a:spLocks noGrp="1"/>
          </p:cNvSpPr>
          <p:nvPr/>
        </p:nvSpPr>
        <p:spPr>
          <a:xfrm>
            <a:off x="8382000" y="3943350"/>
            <a:ext cx="2857500" cy="285750"/>
          </a:xfrm>
          <a:prstGeom prst="rect">
            <a:avLst/>
          </a:prstGeom>
          <a:noFill/>
          <a:ln w="0">
            <a:noFill/>
          </a:ln>
        </p:spPr>
        <p:txBody>
          <a:bodyPr anchor="ctr">
            <a:noAutofit/>
          </a:bodyPr>
          <a:lstStyle/>
          <a:p>
            <a:pPr algn="l">
              <a:defRPr sz="1350" b="1">
                <a:solidFill>
                  <a:srgbClr val="182D4B"/>
                </a:solidFill>
                <a:latin typeface="Arial"/>
                <a:ea typeface="Arial"/>
                <a:cs typeface="Arial"/>
              </a:defRPr>
            </a:pPr>
            <a:r>
              <a:rPr sz="1350" b="1">
                <a:solidFill>
                  <a:srgbClr val="182D4B"/>
                </a:solidFill>
                <a:latin typeface="Arial"/>
                <a:ea typeface="Arial"/>
                <a:cs typeface="Arial"/>
              </a:rPr>
              <a:t>Thị trường ngoài UK dẫn đầu</a:t>
            </a:r>
          </a:p>
        </p:txBody>
      </p:sp>
      <p:sp>
        <p:nvSpPr>
          <p:cNvPr id="10" name="Rectangle 9">
            <a:extLst>
              <a:ext uri="{FF2B5EF4-FFF2-40B4-BE49-F238E27FC236}">
                <a16:creationId xmlns:a16="http://schemas.microsoft.com/office/drawing/2014/main" id="{1973E7B1-4E6C-4BFC-AD58-E47A71BCF6A3}"/>
              </a:ext>
            </a:extLst>
          </p:cNvPr>
          <p:cNvSpPr>
            <a:spLocks noGrp="1"/>
          </p:cNvSpPr>
          <p:nvPr/>
        </p:nvSpPr>
        <p:spPr>
          <a:xfrm>
            <a:off x="8382000" y="4286250"/>
            <a:ext cx="2857500" cy="108585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Netherlands £285k</a:t>
            </a:r>
          </a:p>
          <a:p>
            <a:pPr algn="l">
              <a:defRPr sz="1350" b="0">
                <a:solidFill>
                  <a:srgbClr val="1F2937"/>
                </a:solidFill>
                <a:latin typeface="Arial"/>
                <a:ea typeface="Arial"/>
                <a:cs typeface="Arial"/>
              </a:defRPr>
            </a:pPr>
            <a:r>
              <a:rPr sz="1350" b="0">
                <a:solidFill>
                  <a:srgbClr val="1F2937"/>
                </a:solidFill>
                <a:latin typeface="Arial"/>
                <a:ea typeface="Arial"/>
                <a:cs typeface="Arial"/>
              </a:rPr>
              <a:t>EIRE £283k</a:t>
            </a:r>
          </a:p>
          <a:p>
            <a:pPr algn="l">
              <a:defRPr sz="1350" b="0">
                <a:solidFill>
                  <a:srgbClr val="1F2937"/>
                </a:solidFill>
                <a:latin typeface="Arial"/>
                <a:ea typeface="Arial"/>
                <a:cs typeface="Arial"/>
              </a:defRPr>
            </a:pPr>
            <a:r>
              <a:rPr sz="1350" b="0">
                <a:solidFill>
                  <a:srgbClr val="1F2937"/>
                </a:solidFill>
                <a:latin typeface="Arial"/>
                <a:ea typeface="Arial"/>
                <a:cs typeface="Arial"/>
              </a:rPr>
              <a:t>Germany £229k</a:t>
            </a:r>
          </a:p>
          <a:p>
            <a:pPr algn="l">
              <a:defRPr sz="1350" b="0">
                <a:solidFill>
                  <a:srgbClr val="1F2937"/>
                </a:solidFill>
                <a:latin typeface="Arial"/>
                <a:ea typeface="Arial"/>
                <a:cs typeface="Arial"/>
              </a:defRPr>
            </a:pPr>
            <a:r>
              <a:rPr sz="1350" b="0">
                <a:solidFill>
                  <a:srgbClr val="1F2937"/>
                </a:solidFill>
                <a:latin typeface="Arial"/>
                <a:ea typeface="Arial"/>
                <a:cs typeface="Arial"/>
              </a:rPr>
              <a:t>France £210k</a:t>
            </a:r>
          </a:p>
        </p:txBody>
      </p:sp>
      <p:sp>
        <p:nvSpPr>
          <p:cNvPr id="11" name="Rectangle: Rounded Corners 10">
            <a:extLst>
              <a:ext uri="{FF2B5EF4-FFF2-40B4-BE49-F238E27FC236}">
                <a16:creationId xmlns:a16="http://schemas.microsoft.com/office/drawing/2014/main" id="{215C2116-B965-42EE-87DC-0960ED9B5776}"/>
              </a:ext>
            </a:extLst>
          </p:cNvPr>
          <p:cNvSpPr>
            <a:spLocks noGrp="1"/>
          </p:cNvSpPr>
          <p:nvPr/>
        </p:nvSpPr>
        <p:spPr>
          <a:xfrm>
            <a:off x="514350" y="5372100"/>
            <a:ext cx="7524750" cy="742950"/>
          </a:xfrm>
          <a:prstGeom prst="roundRect">
            <a:avLst>
              <a:gd name="adj" fmla="val 10256"/>
            </a:avLst>
          </a:prstGeom>
          <a:solidFill>
            <a:srgbClr val="FFF6EA"/>
          </a:solidFill>
          <a:ln w="9525">
            <a:solidFill>
              <a:srgbClr val="F59E42"/>
            </a:solidFill>
          </a:ln>
        </p:spPr>
      </p:sp>
      <p:sp>
        <p:nvSpPr>
          <p:cNvPr id="12" name="Rectangle 11">
            <a:extLst>
              <a:ext uri="{FF2B5EF4-FFF2-40B4-BE49-F238E27FC236}">
                <a16:creationId xmlns:a16="http://schemas.microsoft.com/office/drawing/2014/main" id="{223F32C1-F15E-4B64-8B76-0B105D132351}"/>
              </a:ext>
            </a:extLst>
          </p:cNvPr>
          <p:cNvSpPr>
            <a:spLocks noGrp="1"/>
          </p:cNvSpPr>
          <p:nvPr/>
        </p:nvSpPr>
        <p:spPr>
          <a:xfrm>
            <a:off x="704850" y="5486400"/>
            <a:ext cx="7143750" cy="495300"/>
          </a:xfrm>
          <a:prstGeom prst="rect">
            <a:avLst/>
          </a:prstGeom>
          <a:noFill/>
          <a:ln w="0">
            <a:noFill/>
          </a:ln>
        </p:spPr>
        <p:txBody>
          <a:bodyPr anchor="t">
            <a:noAutofit/>
          </a:bodyPr>
          <a:lstStyle/>
          <a:p>
            <a:pPr algn="l">
              <a:defRPr sz="1275" b="0">
                <a:solidFill>
                  <a:srgbClr val="1F2937"/>
                </a:solidFill>
                <a:latin typeface="Arial"/>
                <a:ea typeface="Arial"/>
                <a:cs typeface="Arial"/>
              </a:defRPr>
            </a:pPr>
            <a:r>
              <a:rPr sz="1275" b="0">
                <a:solidFill>
                  <a:srgbClr val="1F2937"/>
                </a:solidFill>
                <a:latin typeface="Arial"/>
                <a:ea typeface="Arial"/>
                <a:cs typeface="Arial"/>
              </a:rPr>
              <a:t>Lưu ý: tháng 12/2011 chỉ có dữ liệu đến ngày 09/12 nên không thể so sánh trực tiếp với các tháng đầy đủ.</a:t>
            </a:r>
          </a:p>
        </p:txBody>
      </p:sp>
      <p:sp>
        <p:nvSpPr>
          <p:cNvPr id="13" name="Rectangle 12">
            <a:extLst>
              <a:ext uri="{FF2B5EF4-FFF2-40B4-BE49-F238E27FC236}">
                <a16:creationId xmlns:a16="http://schemas.microsoft.com/office/drawing/2014/main" id="{24F6EAB0-1DBA-4DAE-86D5-38B2CF011B93}"/>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82189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F545EEB-6E27-4096-8676-E6BE1B41FC74}"/>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19F837AB-BBAF-473B-9DBF-D193BC6D3C30}"/>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5. Một số sản phẩm xuất hiện trong nhiều hóa đơn</a:t>
            </a:r>
          </a:p>
        </p:txBody>
      </p:sp>
      <p:sp>
        <p:nvSpPr>
          <p:cNvPr id="3" name="Rectangle 2">
            <a:extLst>
              <a:ext uri="{FF2B5EF4-FFF2-40B4-BE49-F238E27FC236}">
                <a16:creationId xmlns:a16="http://schemas.microsoft.com/office/drawing/2014/main" id="{208302D4-7C51-45DA-9F28-04683B3B8B1B}"/>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06</a:t>
            </a:r>
          </a:p>
        </p:txBody>
      </p:sp>
      <p:graphicFrame>
        <p:nvGraphicFramePr>
          <p:cNvPr id="16" name="Chart"/>
          <p:cNvGraphicFramePr/>
          <p:nvPr/>
        </p:nvGraphicFramePr>
        <p:xfrm>
          <a:off x="514350" y="1143000"/>
          <a:ext cx="714375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4F2298CA-3A4B-4C58-9AC3-1B46204F109D}"/>
              </a:ext>
            </a:extLst>
          </p:cNvPr>
          <p:cNvSpPr>
            <a:spLocks noGrp="1"/>
          </p:cNvSpPr>
          <p:nvPr/>
        </p:nvSpPr>
        <p:spPr>
          <a:xfrm>
            <a:off x="8020050" y="1143000"/>
            <a:ext cx="3524250" cy="323850"/>
          </a:xfrm>
          <a:prstGeom prst="rect">
            <a:avLst/>
          </a:prstGeom>
          <a:solidFill>
            <a:srgbClr val="2696C5"/>
          </a:solidFill>
          <a:ln w="0">
            <a:solidFill>
              <a:srgbClr val="2696C5"/>
            </a:solidFill>
          </a:ln>
        </p:spPr>
      </p:sp>
      <p:sp>
        <p:nvSpPr>
          <p:cNvPr id="6" name="Rectangle 5">
            <a:extLst>
              <a:ext uri="{FF2B5EF4-FFF2-40B4-BE49-F238E27FC236}">
                <a16:creationId xmlns:a16="http://schemas.microsoft.com/office/drawing/2014/main" id="{8BA99C3E-CA12-4B84-9553-F8B1CB874905}"/>
              </a:ext>
            </a:extLst>
          </p:cNvPr>
          <p:cNvSpPr>
            <a:spLocks noGrp="1"/>
          </p:cNvSpPr>
          <p:nvPr/>
        </p:nvSpPr>
        <p:spPr>
          <a:xfrm>
            <a:off x="8115300" y="1162050"/>
            <a:ext cx="3333750" cy="285750"/>
          </a:xfrm>
          <a:prstGeom prst="rect">
            <a:avLst/>
          </a:prstGeom>
          <a:noFill/>
          <a:ln w="0">
            <a:noFill/>
          </a:ln>
        </p:spPr>
        <p:txBody>
          <a:bodyPr anchor="ctr">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DIỄN GIẢI</a:t>
            </a:r>
          </a:p>
        </p:txBody>
      </p:sp>
      <p:sp>
        <p:nvSpPr>
          <p:cNvPr id="7" name="Rectangle 6">
            <a:extLst>
              <a:ext uri="{FF2B5EF4-FFF2-40B4-BE49-F238E27FC236}">
                <a16:creationId xmlns:a16="http://schemas.microsoft.com/office/drawing/2014/main" id="{52A661A1-0332-4986-8F58-5AC908FC6556}"/>
              </a:ext>
            </a:extLst>
          </p:cNvPr>
          <p:cNvSpPr>
            <a:spLocks noGrp="1"/>
          </p:cNvSpPr>
          <p:nvPr/>
        </p:nvSpPr>
        <p:spPr>
          <a:xfrm>
            <a:off x="8229600" y="1638300"/>
            <a:ext cx="3048000" cy="323850"/>
          </a:xfrm>
          <a:prstGeom prst="rect">
            <a:avLst/>
          </a:prstGeom>
          <a:noFill/>
          <a:ln w="0">
            <a:noFill/>
          </a:ln>
        </p:spPr>
        <p:txBody>
          <a:bodyPr anchor="ctr">
            <a:noAutofit/>
          </a:bodyPr>
          <a:lstStyle/>
          <a:p>
            <a:pPr algn="l">
              <a:defRPr sz="1650" b="1">
                <a:solidFill>
                  <a:srgbClr val="182D4B"/>
                </a:solidFill>
                <a:latin typeface="Arial"/>
                <a:ea typeface="Arial"/>
                <a:cs typeface="Arial"/>
              </a:defRPr>
            </a:pPr>
            <a:r>
              <a:rPr sz="1650" b="1">
                <a:solidFill>
                  <a:srgbClr val="182D4B"/>
                </a:solidFill>
                <a:latin typeface="Arial"/>
                <a:ea typeface="Arial"/>
                <a:cs typeface="Arial"/>
              </a:rPr>
              <a:t>Sản phẩm có độ phủ cao</a:t>
            </a:r>
          </a:p>
        </p:txBody>
      </p:sp>
      <p:sp>
        <p:nvSpPr>
          <p:cNvPr id="8" name="Rectangle 7">
            <a:extLst>
              <a:ext uri="{FF2B5EF4-FFF2-40B4-BE49-F238E27FC236}">
                <a16:creationId xmlns:a16="http://schemas.microsoft.com/office/drawing/2014/main" id="{1B33A215-D8EB-4463-8BF1-10C81290E440}"/>
              </a:ext>
            </a:extLst>
          </p:cNvPr>
          <p:cNvSpPr>
            <a:spLocks noGrp="1"/>
          </p:cNvSpPr>
          <p:nvPr/>
        </p:nvSpPr>
        <p:spPr>
          <a:xfrm>
            <a:off x="8229600" y="2038350"/>
            <a:ext cx="3048000" cy="85725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White Hanging Heart T-light Holder xuất hiện trong 2.189 hóa đơn, cao nhất trong nhóm sản phẩm thực.</a:t>
            </a:r>
          </a:p>
        </p:txBody>
      </p:sp>
      <p:sp>
        <p:nvSpPr>
          <p:cNvPr id="9" name="Rectangle 8">
            <a:extLst>
              <a:ext uri="{FF2B5EF4-FFF2-40B4-BE49-F238E27FC236}">
                <a16:creationId xmlns:a16="http://schemas.microsoft.com/office/drawing/2014/main" id="{57979601-4854-41A9-A0FB-3BE807720E15}"/>
              </a:ext>
            </a:extLst>
          </p:cNvPr>
          <p:cNvSpPr>
            <a:spLocks noGrp="1"/>
          </p:cNvSpPr>
          <p:nvPr/>
        </p:nvSpPr>
        <p:spPr>
          <a:xfrm>
            <a:off x="8229600" y="3181350"/>
            <a:ext cx="3048000" cy="323850"/>
          </a:xfrm>
          <a:prstGeom prst="rect">
            <a:avLst/>
          </a:prstGeom>
          <a:noFill/>
          <a:ln w="0">
            <a:noFill/>
          </a:ln>
        </p:spPr>
        <p:txBody>
          <a:bodyPr anchor="ctr">
            <a:noAutofit/>
          </a:bodyPr>
          <a:lstStyle/>
          <a:p>
            <a:pPr algn="l">
              <a:defRPr sz="1650" b="1">
                <a:solidFill>
                  <a:srgbClr val="182D4B"/>
                </a:solidFill>
                <a:latin typeface="Arial"/>
                <a:ea typeface="Arial"/>
                <a:cs typeface="Arial"/>
              </a:defRPr>
            </a:pPr>
            <a:r>
              <a:rPr sz="1650" b="1">
                <a:solidFill>
                  <a:srgbClr val="182D4B"/>
                </a:solidFill>
                <a:latin typeface="Arial"/>
                <a:ea typeface="Arial"/>
                <a:cs typeface="Arial"/>
              </a:rPr>
              <a:t>Không dùng doanh thu đơn thuần</a:t>
            </a:r>
          </a:p>
        </p:txBody>
      </p:sp>
      <p:sp>
        <p:nvSpPr>
          <p:cNvPr id="10" name="Rectangle 9">
            <a:extLst>
              <a:ext uri="{FF2B5EF4-FFF2-40B4-BE49-F238E27FC236}">
                <a16:creationId xmlns:a16="http://schemas.microsoft.com/office/drawing/2014/main" id="{1BC46630-A329-4529-8D92-79888F504AB1}"/>
              </a:ext>
            </a:extLst>
          </p:cNvPr>
          <p:cNvSpPr>
            <a:spLocks noGrp="1"/>
          </p:cNvSpPr>
          <p:nvPr/>
        </p:nvSpPr>
        <p:spPr>
          <a:xfrm>
            <a:off x="8229600" y="3581400"/>
            <a:ext cx="3048000" cy="125730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Các dòng POSTAGE, DOTCOM POSTAGE và một giao dịch số lượng cực lớn có thể làm sai thứ hạng sản phẩm. Vì vậy biểu đồ dùng số hóa đơn thay cho doanh thu.</a:t>
            </a:r>
          </a:p>
        </p:txBody>
      </p:sp>
      <p:sp>
        <p:nvSpPr>
          <p:cNvPr id="11" name="Rectangle 10">
            <a:extLst>
              <a:ext uri="{FF2B5EF4-FFF2-40B4-BE49-F238E27FC236}">
                <a16:creationId xmlns:a16="http://schemas.microsoft.com/office/drawing/2014/main" id="{ECB81140-0CB0-4DA8-AB9F-5C203AB29A55}"/>
              </a:ext>
            </a:extLst>
          </p:cNvPr>
          <p:cNvSpPr>
            <a:spLocks noGrp="1"/>
          </p:cNvSpPr>
          <p:nvPr/>
        </p:nvSpPr>
        <p:spPr>
          <a:xfrm>
            <a:off x="8229600" y="5048250"/>
            <a:ext cx="3048000" cy="457200"/>
          </a:xfrm>
          <a:prstGeom prst="rect">
            <a:avLst/>
          </a:prstGeom>
          <a:noFill/>
          <a:ln w="0">
            <a:noFill/>
          </a:ln>
        </p:spPr>
        <p:txBody>
          <a:bodyPr anchor="t">
            <a:noAutofit/>
          </a:bodyPr>
          <a:lstStyle/>
          <a:p>
            <a:pPr algn="l">
              <a:defRPr sz="1275" b="1">
                <a:solidFill>
                  <a:srgbClr val="F59E42"/>
                </a:solidFill>
                <a:latin typeface="Arial"/>
                <a:ea typeface="Arial"/>
                <a:cs typeface="Arial"/>
              </a:defRPr>
            </a:pPr>
            <a:r>
              <a:rPr sz="1275" b="1">
                <a:solidFill>
                  <a:srgbClr val="F59E42"/>
                </a:solidFill>
                <a:latin typeface="Arial"/>
                <a:ea typeface="Arial"/>
                <a:cs typeface="Arial"/>
              </a:rPr>
              <a:t>Đây là bước khắc phục ngoại lệ trước khi tìm luật mua kèm.</a:t>
            </a:r>
          </a:p>
        </p:txBody>
      </p:sp>
      <p:sp>
        <p:nvSpPr>
          <p:cNvPr id="12" name="Rectangle 11">
            <a:extLst>
              <a:ext uri="{FF2B5EF4-FFF2-40B4-BE49-F238E27FC236}">
                <a16:creationId xmlns:a16="http://schemas.microsoft.com/office/drawing/2014/main" id="{8759BD36-BC61-4EBB-93CB-00FCFBDC018E}"/>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56853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483ED81-BDD8-456C-A7FE-523B1A1A630B}"/>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C34D9C38-9E0D-483C-97BF-151AEC8D2ED4}"/>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6. RFM và lựa chọn số cụm khách hàng</a:t>
            </a:r>
          </a:p>
        </p:txBody>
      </p:sp>
      <p:sp>
        <p:nvSpPr>
          <p:cNvPr id="3" name="Rectangle 2">
            <a:extLst>
              <a:ext uri="{FF2B5EF4-FFF2-40B4-BE49-F238E27FC236}">
                <a16:creationId xmlns:a16="http://schemas.microsoft.com/office/drawing/2014/main" id="{B35B1957-EDF2-44F5-A437-319F30F02AAE}"/>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07</a:t>
            </a:r>
          </a:p>
        </p:txBody>
      </p:sp>
      <p:graphicFrame>
        <p:nvGraphicFramePr>
          <p:cNvPr id="17" name="Chart"/>
          <p:cNvGraphicFramePr/>
          <p:nvPr/>
        </p:nvGraphicFramePr>
        <p:xfrm>
          <a:off x="533400" y="1352550"/>
          <a:ext cx="619125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64749E49-B1F3-4623-9463-EE87A2F43253}"/>
              </a:ext>
            </a:extLst>
          </p:cNvPr>
          <p:cNvSpPr>
            <a:spLocks noGrp="1"/>
          </p:cNvSpPr>
          <p:nvPr/>
        </p:nvSpPr>
        <p:spPr>
          <a:xfrm>
            <a:off x="7239000" y="1162050"/>
            <a:ext cx="4286250" cy="323850"/>
          </a:xfrm>
          <a:prstGeom prst="rect">
            <a:avLst/>
          </a:prstGeom>
          <a:solidFill>
            <a:srgbClr val="2696C5"/>
          </a:solidFill>
          <a:ln w="0">
            <a:solidFill>
              <a:srgbClr val="2696C5"/>
            </a:solidFill>
          </a:ln>
        </p:spPr>
      </p:sp>
      <p:sp>
        <p:nvSpPr>
          <p:cNvPr id="6" name="Rectangle 5">
            <a:extLst>
              <a:ext uri="{FF2B5EF4-FFF2-40B4-BE49-F238E27FC236}">
                <a16:creationId xmlns:a16="http://schemas.microsoft.com/office/drawing/2014/main" id="{6319E3ED-7C7B-4BEF-934B-54982E671DFD}"/>
              </a:ext>
            </a:extLst>
          </p:cNvPr>
          <p:cNvSpPr>
            <a:spLocks noGrp="1"/>
          </p:cNvSpPr>
          <p:nvPr/>
        </p:nvSpPr>
        <p:spPr>
          <a:xfrm>
            <a:off x="7334250" y="1181100"/>
            <a:ext cx="4095750" cy="285750"/>
          </a:xfrm>
          <a:prstGeom prst="rect">
            <a:avLst/>
          </a:prstGeom>
          <a:noFill/>
          <a:ln w="0">
            <a:noFill/>
          </a:ln>
        </p:spPr>
        <p:txBody>
          <a:bodyPr anchor="ctr">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QUYẾT ĐỊNH MÔ HÌNH</a:t>
            </a:r>
          </a:p>
        </p:txBody>
      </p:sp>
      <p:sp>
        <p:nvSpPr>
          <p:cNvPr id="7" name="Rectangle 6">
            <a:extLst>
              <a:ext uri="{FF2B5EF4-FFF2-40B4-BE49-F238E27FC236}">
                <a16:creationId xmlns:a16="http://schemas.microsoft.com/office/drawing/2014/main" id="{6ABD4D77-A05C-4FCA-A3E0-399E98AC1694}"/>
              </a:ext>
            </a:extLst>
          </p:cNvPr>
          <p:cNvSpPr>
            <a:spLocks noGrp="1"/>
          </p:cNvSpPr>
          <p:nvPr/>
        </p:nvSpPr>
        <p:spPr>
          <a:xfrm>
            <a:off x="7486650" y="1657350"/>
            <a:ext cx="800100" cy="323850"/>
          </a:xfrm>
          <a:prstGeom prst="rect">
            <a:avLst/>
          </a:prstGeom>
          <a:noFill/>
          <a:ln w="0">
            <a:noFill/>
          </a:ln>
        </p:spPr>
        <p:txBody>
          <a:bodyPr anchor="ctr">
            <a:noAutofit/>
          </a:bodyPr>
          <a:lstStyle/>
          <a:p>
            <a:pPr algn="l">
              <a:defRPr sz="1800" b="1">
                <a:solidFill>
                  <a:srgbClr val="F59E42"/>
                </a:solidFill>
                <a:latin typeface="Arial"/>
                <a:ea typeface="Arial"/>
                <a:cs typeface="Arial"/>
              </a:defRPr>
            </a:pPr>
            <a:r>
              <a:rPr sz="1800" b="1">
                <a:solidFill>
                  <a:srgbClr val="F59E42"/>
                </a:solidFill>
                <a:latin typeface="Arial"/>
                <a:ea typeface="Arial"/>
                <a:cs typeface="Arial"/>
              </a:rPr>
              <a:t>RFM</a:t>
            </a:r>
          </a:p>
        </p:txBody>
      </p:sp>
      <p:sp>
        <p:nvSpPr>
          <p:cNvPr id="8" name="Rectangle 7">
            <a:extLst>
              <a:ext uri="{FF2B5EF4-FFF2-40B4-BE49-F238E27FC236}">
                <a16:creationId xmlns:a16="http://schemas.microsoft.com/office/drawing/2014/main" id="{6CB27EF4-90B2-41F0-B152-EFDEE93DC157}"/>
              </a:ext>
            </a:extLst>
          </p:cNvPr>
          <p:cNvSpPr>
            <a:spLocks noGrp="1"/>
          </p:cNvSpPr>
          <p:nvPr/>
        </p:nvSpPr>
        <p:spPr>
          <a:xfrm>
            <a:off x="8439150" y="1619250"/>
            <a:ext cx="2781300" cy="99060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Recency: số ngày từ lần mua cuối</a:t>
            </a:r>
          </a:p>
          <a:p>
            <a:pPr algn="l">
              <a:defRPr sz="1350" b="0">
                <a:solidFill>
                  <a:srgbClr val="1F2937"/>
                </a:solidFill>
                <a:latin typeface="Arial"/>
                <a:ea typeface="Arial"/>
                <a:cs typeface="Arial"/>
              </a:defRPr>
            </a:pPr>
            <a:r>
              <a:rPr sz="1350" b="0">
                <a:solidFill>
                  <a:srgbClr val="1F2937"/>
                </a:solidFill>
                <a:latin typeface="Arial"/>
                <a:ea typeface="Arial"/>
                <a:cs typeface="Arial"/>
              </a:rPr>
              <a:t>Frequency: số hóa đơn</a:t>
            </a:r>
          </a:p>
          <a:p>
            <a:pPr algn="l">
              <a:defRPr sz="1350" b="0">
                <a:solidFill>
                  <a:srgbClr val="1F2937"/>
                </a:solidFill>
                <a:latin typeface="Arial"/>
                <a:ea typeface="Arial"/>
                <a:cs typeface="Arial"/>
              </a:defRPr>
            </a:pPr>
            <a:r>
              <a:rPr sz="1350" b="0">
                <a:solidFill>
                  <a:srgbClr val="1F2937"/>
                </a:solidFill>
                <a:latin typeface="Arial"/>
                <a:ea typeface="Arial"/>
                <a:cs typeface="Arial"/>
              </a:rPr>
              <a:t>Monetary: tổng chi tiêu</a:t>
            </a:r>
          </a:p>
        </p:txBody>
      </p:sp>
      <p:sp>
        <p:nvSpPr>
          <p:cNvPr id="9" name="Rectangle 8">
            <a:extLst>
              <a:ext uri="{FF2B5EF4-FFF2-40B4-BE49-F238E27FC236}">
                <a16:creationId xmlns:a16="http://schemas.microsoft.com/office/drawing/2014/main" id="{1A8DC748-5BDA-4F34-9260-CC6BEAB463E6}"/>
              </a:ext>
            </a:extLst>
          </p:cNvPr>
          <p:cNvSpPr>
            <a:spLocks noGrp="1"/>
          </p:cNvSpPr>
          <p:nvPr/>
        </p:nvSpPr>
        <p:spPr>
          <a:xfrm>
            <a:off x="7486650" y="2895600"/>
            <a:ext cx="3714750" cy="72390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k = 2 có Silhouette cao nhất (0,435), nhưng chỉ tách khách giá trị cao và thấp.</a:t>
            </a:r>
          </a:p>
        </p:txBody>
      </p:sp>
      <p:sp>
        <p:nvSpPr>
          <p:cNvPr id="10" name="Rectangle 9">
            <a:extLst>
              <a:ext uri="{FF2B5EF4-FFF2-40B4-BE49-F238E27FC236}">
                <a16:creationId xmlns:a16="http://schemas.microsoft.com/office/drawing/2014/main" id="{EEF35DF1-B96D-4CBF-B05D-241E1837986C}"/>
              </a:ext>
            </a:extLst>
          </p:cNvPr>
          <p:cNvSpPr>
            <a:spLocks noGrp="1"/>
          </p:cNvSpPr>
          <p:nvPr/>
        </p:nvSpPr>
        <p:spPr>
          <a:xfrm>
            <a:off x="7486650" y="3848100"/>
            <a:ext cx="2476500" cy="361950"/>
          </a:xfrm>
          <a:prstGeom prst="rect">
            <a:avLst/>
          </a:prstGeom>
          <a:noFill/>
          <a:ln w="0">
            <a:noFill/>
          </a:ln>
        </p:spPr>
        <p:txBody>
          <a:bodyPr anchor="ctr">
            <a:noAutofit/>
          </a:bodyPr>
          <a:lstStyle/>
          <a:p>
            <a:pPr algn="l">
              <a:defRPr sz="2100" b="1">
                <a:solidFill>
                  <a:srgbClr val="2696C5"/>
                </a:solidFill>
                <a:latin typeface="Arial"/>
                <a:ea typeface="Arial"/>
                <a:cs typeface="Arial"/>
              </a:defRPr>
            </a:pPr>
            <a:r>
              <a:rPr sz="2100" b="1">
                <a:solidFill>
                  <a:srgbClr val="2696C5"/>
                </a:solidFill>
                <a:latin typeface="Arial"/>
                <a:ea typeface="Arial"/>
                <a:cs typeface="Arial"/>
              </a:rPr>
              <a:t>Chọn k = 4</a:t>
            </a:r>
          </a:p>
        </p:txBody>
      </p:sp>
      <p:sp>
        <p:nvSpPr>
          <p:cNvPr id="11" name="Rectangle 10">
            <a:extLst>
              <a:ext uri="{FF2B5EF4-FFF2-40B4-BE49-F238E27FC236}">
                <a16:creationId xmlns:a16="http://schemas.microsoft.com/office/drawing/2014/main" id="{022CB1E7-D7DD-4842-9282-69C643BC0161}"/>
              </a:ext>
            </a:extLst>
          </p:cNvPr>
          <p:cNvSpPr>
            <a:spLocks noGrp="1"/>
          </p:cNvSpPr>
          <p:nvPr/>
        </p:nvSpPr>
        <p:spPr>
          <a:xfrm>
            <a:off x="7486650" y="4305300"/>
            <a:ext cx="3714750" cy="85725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Silhouette = 0,335. Mức phân tách thấp hơn nhưng tạo bốn nhóm đủ khác biệt để triển khai chăm sóc khách hàng.</a:t>
            </a:r>
          </a:p>
        </p:txBody>
      </p:sp>
      <p:sp>
        <p:nvSpPr>
          <p:cNvPr id="12" name="Rectangle 11">
            <a:extLst>
              <a:ext uri="{FF2B5EF4-FFF2-40B4-BE49-F238E27FC236}">
                <a16:creationId xmlns:a16="http://schemas.microsoft.com/office/drawing/2014/main" id="{F321B488-5922-4E0D-9DDD-C31A83637909}"/>
              </a:ext>
            </a:extLst>
          </p:cNvPr>
          <p:cNvSpPr>
            <a:spLocks noGrp="1"/>
          </p:cNvSpPr>
          <p:nvPr/>
        </p:nvSpPr>
        <p:spPr>
          <a:xfrm>
            <a:off x="7486650" y="5219700"/>
            <a:ext cx="3714750" cy="552450"/>
          </a:xfrm>
          <a:prstGeom prst="rect">
            <a:avLst/>
          </a:prstGeom>
          <a:noFill/>
          <a:ln w="0">
            <a:noFill/>
          </a:ln>
        </p:spPr>
        <p:txBody>
          <a:bodyPr anchor="t">
            <a:noAutofit/>
          </a:bodyPr>
          <a:lstStyle/>
          <a:p>
            <a:pPr algn="l">
              <a:defRPr sz="1350" b="1">
                <a:solidFill>
                  <a:srgbClr val="28A745"/>
                </a:solidFill>
                <a:latin typeface="Arial"/>
                <a:ea typeface="Arial"/>
                <a:cs typeface="Arial"/>
              </a:defRPr>
            </a:pPr>
            <a:r>
              <a:rPr sz="1350" b="1">
                <a:solidFill>
                  <a:srgbClr val="28A745"/>
                </a:solidFill>
                <a:latin typeface="Arial"/>
                <a:ea typeface="Arial"/>
                <a:cs typeface="Arial"/>
              </a:rPr>
              <a:t>Độ ổn định ARI qua 10 lần khởi tạo: 0,951 ± 0,013</a:t>
            </a:r>
          </a:p>
        </p:txBody>
      </p:sp>
      <p:sp>
        <p:nvSpPr>
          <p:cNvPr id="13" name="Rectangle 12">
            <a:extLst>
              <a:ext uri="{FF2B5EF4-FFF2-40B4-BE49-F238E27FC236}">
                <a16:creationId xmlns:a16="http://schemas.microsoft.com/office/drawing/2014/main" id="{2EE1F8F4-07C1-4E75-AB10-1F8381711E3A}"/>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738883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89AD9C4-D285-4E55-8BEC-8EB867F0D1D6}"/>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07AA9A01-A40F-4A29-A096-8EF4597E337B}"/>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7. Bốn phân khúc khách hàng tạo ra mức doanh thu rất khác nhau</a:t>
            </a:r>
          </a:p>
        </p:txBody>
      </p:sp>
      <p:sp>
        <p:nvSpPr>
          <p:cNvPr id="3" name="Rectangle 2">
            <a:extLst>
              <a:ext uri="{FF2B5EF4-FFF2-40B4-BE49-F238E27FC236}">
                <a16:creationId xmlns:a16="http://schemas.microsoft.com/office/drawing/2014/main" id="{9CD46D19-DC44-44A9-B892-4C9DC94BC87C}"/>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08</a:t>
            </a:r>
          </a:p>
        </p:txBody>
      </p:sp>
      <p:graphicFrame>
        <p:nvGraphicFramePr>
          <p:cNvPr id="13" name="Chart"/>
          <p:cNvGraphicFramePr/>
          <p:nvPr/>
        </p:nvGraphicFramePr>
        <p:xfrm>
          <a:off x="419100" y="1104900"/>
          <a:ext cx="5715000" cy="3333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Table 13"/>
          <p:cNvGraphicFramePr/>
          <p:nvPr/>
        </p:nvGraphicFramePr>
        <p:xfrm>
          <a:off x="6381750" y="1143000"/>
          <a:ext cx="5334000" cy="3219450"/>
        </p:xfrm>
        <a:graphic>
          <a:graphicData uri="http://schemas.openxmlformats.org/drawingml/2006/table">
            <a:tbl>
              <a:tblPr/>
              <a:tblGrid>
                <a:gridCol w="123825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523875">
                  <a:extLst>
                    <a:ext uri="{9D8B030D-6E8A-4147-A177-3AD203B41FA5}">
                      <a16:colId xmlns:a16="http://schemas.microsoft.com/office/drawing/2014/main" val="20003"/>
                    </a:ext>
                  </a:extLst>
                </a:gridCol>
                <a:gridCol w="904875">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tblGrid>
              <a:tr h="643890">
                <a:tc>
                  <a:txBody>
                    <a:bodyPr/>
                    <a:lstStyle/>
                    <a:p>
                      <a:r>
                        <a:t>Nhóm</a:t>
                      </a:r>
                    </a:p>
                  </a:txBody>
                  <a:tcPr/>
                </a:tc>
                <a:tc>
                  <a:txBody>
                    <a:bodyPr/>
                    <a:lstStyle/>
                    <a:p>
                      <a:r>
                        <a:t>SL khách</a:t>
                      </a:r>
                    </a:p>
                  </a:txBody>
                  <a:tcPr/>
                </a:tc>
                <a:tc>
                  <a:txBody>
                    <a:bodyPr/>
                    <a:lstStyle/>
                    <a:p>
                      <a:r>
                        <a:t>R</a:t>
                      </a:r>
                    </a:p>
                  </a:txBody>
                  <a:tcPr/>
                </a:tc>
                <a:tc>
                  <a:txBody>
                    <a:bodyPr/>
                    <a:lstStyle/>
                    <a:p>
                      <a:r>
                        <a:t>F</a:t>
                      </a:r>
                    </a:p>
                  </a:txBody>
                  <a:tcPr/>
                </a:tc>
                <a:tc>
                  <a:txBody>
                    <a:bodyPr/>
                    <a:lstStyle/>
                    <a:p>
                      <a:r>
                        <a:t>M</a:t>
                      </a:r>
                    </a:p>
                  </a:txBody>
                  <a:tcPr/>
                </a:tc>
                <a:tc>
                  <a:txBody>
                    <a:bodyPr/>
                    <a:lstStyle/>
                    <a:p>
                      <a:r>
                        <a:t>DT</a:t>
                      </a:r>
                    </a:p>
                  </a:txBody>
                  <a:tcPr/>
                </a:tc>
                <a:extLst>
                  <a:ext uri="{0D108BD9-81ED-4DB2-BD59-A6C34878D82A}">
                    <a16:rowId xmlns:a16="http://schemas.microsoft.com/office/drawing/2014/main" val="10000"/>
                  </a:ext>
                </a:extLst>
              </a:tr>
              <a:tr h="643890">
                <a:tc>
                  <a:txBody>
                    <a:bodyPr/>
                    <a:lstStyle/>
                    <a:p>
                      <a:r>
                        <a:t>Ngủ quên</a:t>
                      </a:r>
                    </a:p>
                  </a:txBody>
                  <a:tcPr/>
                </a:tc>
                <a:tc>
                  <a:txBody>
                    <a:bodyPr/>
                    <a:lstStyle/>
                    <a:p>
                      <a:r>
                        <a:t>1.488</a:t>
                      </a:r>
                    </a:p>
                  </a:txBody>
                  <a:tcPr/>
                </a:tc>
                <a:tc>
                  <a:txBody>
                    <a:bodyPr/>
                    <a:lstStyle/>
                    <a:p>
                      <a:r>
                        <a:t>190 ngày</a:t>
                      </a:r>
                    </a:p>
                  </a:txBody>
                  <a:tcPr/>
                </a:tc>
                <a:tc>
                  <a:txBody>
                    <a:bodyPr/>
                    <a:lstStyle/>
                    <a:p>
                      <a:r>
                        <a:t>1</a:t>
                      </a:r>
                    </a:p>
                  </a:txBody>
                  <a:tcPr/>
                </a:tc>
                <a:tc>
                  <a:txBody>
                    <a:bodyPr/>
                    <a:lstStyle/>
                    <a:p>
                      <a:r>
                        <a:t>£293</a:t>
                      </a:r>
                    </a:p>
                  </a:txBody>
                  <a:tcPr/>
                </a:tc>
                <a:tc>
                  <a:txBody>
                    <a:bodyPr/>
                    <a:lstStyle/>
                    <a:p>
                      <a:r>
                        <a:t>5,7%</a:t>
                      </a:r>
                    </a:p>
                  </a:txBody>
                  <a:tcPr/>
                </a:tc>
                <a:extLst>
                  <a:ext uri="{0D108BD9-81ED-4DB2-BD59-A6C34878D82A}">
                    <a16:rowId xmlns:a16="http://schemas.microsoft.com/office/drawing/2014/main" val="10001"/>
                  </a:ext>
                </a:extLst>
              </a:tr>
              <a:tr h="643890">
                <a:tc>
                  <a:txBody>
                    <a:bodyPr/>
                    <a:lstStyle/>
                    <a:p>
                      <a:r>
                        <a:rPr b="1"/>
                        <a:t>Giá trị cao</a:t>
                      </a:r>
                    </a:p>
                  </a:txBody>
                  <a:tcPr>
                    <a:solidFill>
                      <a:srgbClr val="EAF7EE"/>
                    </a:solidFill>
                  </a:tcPr>
                </a:tc>
                <a:tc>
                  <a:txBody>
                    <a:bodyPr/>
                    <a:lstStyle/>
                    <a:p>
                      <a:r>
                        <a:rPr b="1"/>
                        <a:t>766</a:t>
                      </a:r>
                    </a:p>
                  </a:txBody>
                  <a:tcPr>
                    <a:solidFill>
                      <a:srgbClr val="EAF7EE"/>
                    </a:solidFill>
                  </a:tcPr>
                </a:tc>
                <a:tc>
                  <a:txBody>
                    <a:bodyPr/>
                    <a:lstStyle/>
                    <a:p>
                      <a:r>
                        <a:rPr b="1"/>
                        <a:t>9 ngày</a:t>
                      </a:r>
                    </a:p>
                  </a:txBody>
                  <a:tcPr>
                    <a:solidFill>
                      <a:srgbClr val="EAF7EE"/>
                    </a:solidFill>
                  </a:tcPr>
                </a:tc>
                <a:tc>
                  <a:txBody>
                    <a:bodyPr/>
                    <a:lstStyle/>
                    <a:p>
                      <a:r>
                        <a:rPr b="1"/>
                        <a:t>9,5</a:t>
                      </a:r>
                    </a:p>
                  </a:txBody>
                  <a:tcPr>
                    <a:solidFill>
                      <a:srgbClr val="EAF7EE"/>
                    </a:solidFill>
                  </a:tcPr>
                </a:tc>
                <a:tc>
                  <a:txBody>
                    <a:bodyPr/>
                    <a:lstStyle/>
                    <a:p>
                      <a:r>
                        <a:rPr b="1"/>
                        <a:t>£3.553</a:t>
                      </a:r>
                    </a:p>
                  </a:txBody>
                  <a:tcPr>
                    <a:solidFill>
                      <a:srgbClr val="EAF7EE"/>
                    </a:solidFill>
                  </a:tcPr>
                </a:tc>
                <a:tc>
                  <a:txBody>
                    <a:bodyPr/>
                    <a:lstStyle/>
                    <a:p>
                      <a:r>
                        <a:rPr b="1"/>
                        <a:t>66,0%</a:t>
                      </a:r>
                    </a:p>
                  </a:txBody>
                  <a:tcPr>
                    <a:solidFill>
                      <a:srgbClr val="EAF7EE"/>
                    </a:solidFill>
                  </a:tcPr>
                </a:tc>
                <a:extLst>
                  <a:ext uri="{0D108BD9-81ED-4DB2-BD59-A6C34878D82A}">
                    <a16:rowId xmlns:a16="http://schemas.microsoft.com/office/drawing/2014/main" val="10002"/>
                  </a:ext>
                </a:extLst>
              </a:tr>
              <a:tr h="643890">
                <a:tc>
                  <a:txBody>
                    <a:bodyPr/>
                    <a:lstStyle/>
                    <a:p>
                      <a:r>
                        <a:t>Mới/ít mua</a:t>
                      </a:r>
                    </a:p>
                  </a:txBody>
                  <a:tcPr/>
                </a:tc>
                <a:tc>
                  <a:txBody>
                    <a:bodyPr/>
                    <a:lstStyle/>
                    <a:p>
                      <a:r>
                        <a:t>883</a:t>
                      </a:r>
                    </a:p>
                  </a:txBody>
                  <a:tcPr/>
                </a:tc>
                <a:tc>
                  <a:txBody>
                    <a:bodyPr/>
                    <a:lstStyle/>
                    <a:p>
                      <a:r>
                        <a:t>20 ngày</a:t>
                      </a:r>
                    </a:p>
                  </a:txBody>
                  <a:tcPr/>
                </a:tc>
                <a:tc>
                  <a:txBody>
                    <a:bodyPr/>
                    <a:lstStyle/>
                    <a:p>
                      <a:r>
                        <a:t>2</a:t>
                      </a:r>
                    </a:p>
                  </a:txBody>
                  <a:tcPr/>
                </a:tc>
                <a:tc>
                  <a:txBody>
                    <a:bodyPr/>
                    <a:lstStyle/>
                    <a:p>
                      <a:r>
                        <a:t>£409</a:t>
                      </a:r>
                    </a:p>
                  </a:txBody>
                  <a:tcPr/>
                </a:tc>
                <a:tc>
                  <a:txBody>
                    <a:bodyPr/>
                    <a:lstStyle/>
                    <a:p>
                      <a:r>
                        <a:t>4,7%</a:t>
                      </a:r>
                    </a:p>
                  </a:txBody>
                  <a:tcPr/>
                </a:tc>
                <a:extLst>
                  <a:ext uri="{0D108BD9-81ED-4DB2-BD59-A6C34878D82A}">
                    <a16:rowId xmlns:a16="http://schemas.microsoft.com/office/drawing/2014/main" val="10003"/>
                  </a:ext>
                </a:extLst>
              </a:tr>
              <a:tr h="643890">
                <a:tc>
                  <a:txBody>
                    <a:bodyPr/>
                    <a:lstStyle/>
                    <a:p>
                      <a:r>
                        <a:t>Khách cốt lõi</a:t>
                      </a:r>
                    </a:p>
                  </a:txBody>
                  <a:tcPr/>
                </a:tc>
                <a:tc>
                  <a:txBody>
                    <a:bodyPr/>
                    <a:lstStyle/>
                    <a:p>
                      <a:r>
                        <a:t>1.201</a:t>
                      </a:r>
                    </a:p>
                  </a:txBody>
                  <a:tcPr/>
                </a:tc>
                <a:tc>
                  <a:txBody>
                    <a:bodyPr/>
                    <a:lstStyle/>
                    <a:p>
                      <a:r>
                        <a:t>57 ngày</a:t>
                      </a:r>
                    </a:p>
                  </a:txBody>
                  <a:tcPr/>
                </a:tc>
                <a:tc>
                  <a:txBody>
                    <a:bodyPr/>
                    <a:lstStyle/>
                    <a:p>
                      <a:r>
                        <a:t>4</a:t>
                      </a:r>
                    </a:p>
                  </a:txBody>
                  <a:tcPr/>
                </a:tc>
                <a:tc>
                  <a:txBody>
                    <a:bodyPr/>
                    <a:lstStyle/>
                    <a:p>
                      <a:r>
                        <a:t>£1.309</a:t>
                      </a:r>
                    </a:p>
                  </a:txBody>
                  <a:tcPr/>
                </a:tc>
                <a:tc>
                  <a:txBody>
                    <a:bodyPr/>
                    <a:lstStyle/>
                    <a:p>
                      <a:r>
                        <a:t>23,7%</a:t>
                      </a:r>
                    </a:p>
                  </a:txBody>
                  <a:tcPr/>
                </a:tc>
                <a:extLst>
                  <a:ext uri="{0D108BD9-81ED-4DB2-BD59-A6C34878D82A}">
                    <a16:rowId xmlns:a16="http://schemas.microsoft.com/office/drawing/2014/main" val="10004"/>
                  </a:ext>
                </a:extLst>
              </a:tr>
            </a:tbl>
          </a:graphicData>
        </a:graphic>
      </p:graphicFrame>
      <p:sp>
        <p:nvSpPr>
          <p:cNvPr id="6" name="Rectangle: Rounded Corners 5">
            <a:extLst>
              <a:ext uri="{FF2B5EF4-FFF2-40B4-BE49-F238E27FC236}">
                <a16:creationId xmlns:a16="http://schemas.microsoft.com/office/drawing/2014/main" id="{84351F74-D859-4972-93D0-D051DE630130}"/>
              </a:ext>
            </a:extLst>
          </p:cNvPr>
          <p:cNvSpPr>
            <a:spLocks noGrp="1"/>
          </p:cNvSpPr>
          <p:nvPr/>
        </p:nvSpPr>
        <p:spPr>
          <a:xfrm>
            <a:off x="552450" y="4857750"/>
            <a:ext cx="11087100" cy="1162050"/>
          </a:xfrm>
          <a:prstGeom prst="roundRect">
            <a:avLst>
              <a:gd name="adj" fmla="val 6557"/>
            </a:avLst>
          </a:prstGeom>
          <a:solidFill>
            <a:srgbClr val="F4F7FA"/>
          </a:solidFill>
          <a:ln w="9525">
            <a:solidFill>
              <a:srgbClr val="D7E0E8"/>
            </a:solidFill>
          </a:ln>
        </p:spPr>
      </p:sp>
      <p:sp>
        <p:nvSpPr>
          <p:cNvPr id="7" name="Rectangle 6">
            <a:extLst>
              <a:ext uri="{FF2B5EF4-FFF2-40B4-BE49-F238E27FC236}">
                <a16:creationId xmlns:a16="http://schemas.microsoft.com/office/drawing/2014/main" id="{48FDDD0E-0092-41EC-896D-E6E883A0298B}"/>
              </a:ext>
            </a:extLst>
          </p:cNvPr>
          <p:cNvSpPr>
            <a:spLocks noGrp="1"/>
          </p:cNvSpPr>
          <p:nvPr/>
        </p:nvSpPr>
        <p:spPr>
          <a:xfrm>
            <a:off x="781050" y="5010150"/>
            <a:ext cx="2000250" cy="266700"/>
          </a:xfrm>
          <a:prstGeom prst="rect">
            <a:avLst/>
          </a:prstGeom>
          <a:noFill/>
          <a:ln w="0">
            <a:noFill/>
          </a:ln>
        </p:spPr>
        <p:txBody>
          <a:bodyPr anchor="ctr">
            <a:noAutofit/>
          </a:bodyPr>
          <a:lstStyle/>
          <a:p>
            <a:pPr algn="l">
              <a:defRPr sz="1500" b="1">
                <a:solidFill>
                  <a:srgbClr val="182D4B"/>
                </a:solidFill>
                <a:latin typeface="Arial"/>
                <a:ea typeface="Arial"/>
                <a:cs typeface="Arial"/>
              </a:defRPr>
            </a:pPr>
            <a:r>
              <a:rPr sz="1500" b="1">
                <a:solidFill>
                  <a:srgbClr val="182D4B"/>
                </a:solidFill>
                <a:latin typeface="Arial"/>
                <a:ea typeface="Arial"/>
                <a:cs typeface="Arial"/>
              </a:rPr>
              <a:t>Hành động đề xuất</a:t>
            </a:r>
          </a:p>
        </p:txBody>
      </p:sp>
      <p:sp>
        <p:nvSpPr>
          <p:cNvPr id="8" name="Rectangle 7">
            <a:extLst>
              <a:ext uri="{FF2B5EF4-FFF2-40B4-BE49-F238E27FC236}">
                <a16:creationId xmlns:a16="http://schemas.microsoft.com/office/drawing/2014/main" id="{CA2C7EA3-C65E-4A57-828C-D840289AAC3E}"/>
              </a:ext>
            </a:extLst>
          </p:cNvPr>
          <p:cNvSpPr>
            <a:spLocks noGrp="1"/>
          </p:cNvSpPr>
          <p:nvPr/>
        </p:nvSpPr>
        <p:spPr>
          <a:xfrm>
            <a:off x="781050" y="5391150"/>
            <a:ext cx="10458450" cy="514350"/>
          </a:xfrm>
          <a:prstGeom prst="rect">
            <a:avLst/>
          </a:prstGeom>
          <a:noFill/>
          <a:ln w="0">
            <a:noFill/>
          </a:ln>
        </p:spPr>
        <p:txBody>
          <a:bodyPr anchor="t">
            <a:noAutofit/>
          </a:bodyPr>
          <a:lstStyle/>
          <a:p>
            <a:pPr algn="l">
              <a:defRPr sz="1275" b="0">
                <a:solidFill>
                  <a:srgbClr val="1F2937"/>
                </a:solidFill>
                <a:latin typeface="Arial"/>
                <a:ea typeface="Arial"/>
                <a:cs typeface="Arial"/>
              </a:defRPr>
            </a:pPr>
            <a:r>
              <a:rPr sz="1275" b="0">
                <a:solidFill>
                  <a:srgbClr val="1F2937"/>
                </a:solidFill>
                <a:latin typeface="Arial"/>
                <a:ea typeface="Arial"/>
                <a:cs typeface="Arial"/>
              </a:rPr>
              <a:t>Giá trị cao: ưu tiên giữ chân và đặc quyền.   Khách cốt lõi: bán thêm theo lịch mua.   Mới/ít mua: kích hoạt lần mua thứ hai.   Ngủ quên: chiến dịch tái kích hoạt có kiểm soát.</a:t>
            </a:r>
          </a:p>
        </p:txBody>
      </p:sp>
      <p:sp>
        <p:nvSpPr>
          <p:cNvPr id="9" name="Rectangle 8">
            <a:extLst>
              <a:ext uri="{FF2B5EF4-FFF2-40B4-BE49-F238E27FC236}">
                <a16:creationId xmlns:a16="http://schemas.microsoft.com/office/drawing/2014/main" id="{493D636E-940C-479F-9AAE-4FBA2527FF1F}"/>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832424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C6BB90F-6EC7-4EE7-A110-991AADB2BB3E}"/>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8D530BC0-8E72-48A6-87FE-7B5F54A441A9}"/>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8. Các nhóm sản phẩm có khả năng mua kèm rõ rệt</a:t>
            </a:r>
          </a:p>
        </p:txBody>
      </p:sp>
      <p:sp>
        <p:nvSpPr>
          <p:cNvPr id="3" name="Rectangle 2">
            <a:extLst>
              <a:ext uri="{FF2B5EF4-FFF2-40B4-BE49-F238E27FC236}">
                <a16:creationId xmlns:a16="http://schemas.microsoft.com/office/drawing/2014/main" id="{4524F7E2-80B5-4CCD-A6B1-16B12E96E844}"/>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09</a:t>
            </a:r>
          </a:p>
        </p:txBody>
      </p:sp>
      <p:sp>
        <p:nvSpPr>
          <p:cNvPr id="4" name="Rectangle: Rounded Corners 3">
            <a:extLst>
              <a:ext uri="{FF2B5EF4-FFF2-40B4-BE49-F238E27FC236}">
                <a16:creationId xmlns:a16="http://schemas.microsoft.com/office/drawing/2014/main" id="{A5D3A243-6DC9-41CA-A0D6-BD836F031CCA}"/>
              </a:ext>
            </a:extLst>
          </p:cNvPr>
          <p:cNvSpPr>
            <a:spLocks noGrp="1"/>
          </p:cNvSpPr>
          <p:nvPr/>
        </p:nvSpPr>
        <p:spPr>
          <a:xfrm>
            <a:off x="457200" y="914400"/>
            <a:ext cx="2857500" cy="971550"/>
          </a:xfrm>
          <a:prstGeom prst="roundRect">
            <a:avLst>
              <a:gd name="adj" fmla="val 9804"/>
            </a:avLst>
          </a:prstGeom>
          <a:solidFill>
            <a:srgbClr val="F4F7FA"/>
          </a:solidFill>
          <a:ln w="9525">
            <a:solidFill>
              <a:srgbClr val="D7E0E8"/>
            </a:solidFill>
          </a:ln>
        </p:spPr>
      </p:sp>
      <p:sp>
        <p:nvSpPr>
          <p:cNvPr id="5" name="Rectangle 4">
            <a:extLst>
              <a:ext uri="{FF2B5EF4-FFF2-40B4-BE49-F238E27FC236}">
                <a16:creationId xmlns:a16="http://schemas.microsoft.com/office/drawing/2014/main" id="{D825A60A-2C77-40BE-9D27-5DA594080C77}"/>
              </a:ext>
            </a:extLst>
          </p:cNvPr>
          <p:cNvSpPr>
            <a:spLocks noGrp="1"/>
          </p:cNvSpPr>
          <p:nvPr/>
        </p:nvSpPr>
        <p:spPr>
          <a:xfrm>
            <a:off x="457200" y="914400"/>
            <a:ext cx="66675" cy="971550"/>
          </a:xfrm>
          <a:prstGeom prst="rect">
            <a:avLst/>
          </a:prstGeom>
          <a:solidFill>
            <a:srgbClr val="2696C5"/>
          </a:solidFill>
          <a:ln w="0">
            <a:solidFill>
              <a:srgbClr val="2696C5"/>
            </a:solidFill>
          </a:ln>
        </p:spPr>
      </p:sp>
      <p:sp>
        <p:nvSpPr>
          <p:cNvPr id="6" name="Rectangle 5">
            <a:extLst>
              <a:ext uri="{FF2B5EF4-FFF2-40B4-BE49-F238E27FC236}">
                <a16:creationId xmlns:a16="http://schemas.microsoft.com/office/drawing/2014/main" id="{45C76EF3-3BBE-4ADB-8FA9-5A67D0D5AFD8}"/>
              </a:ext>
            </a:extLst>
          </p:cNvPr>
          <p:cNvSpPr>
            <a:spLocks noGrp="1"/>
          </p:cNvSpPr>
          <p:nvPr/>
        </p:nvSpPr>
        <p:spPr>
          <a:xfrm>
            <a:off x="666750" y="1028700"/>
            <a:ext cx="253365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16.506</a:t>
            </a:r>
          </a:p>
        </p:txBody>
      </p:sp>
      <p:sp>
        <p:nvSpPr>
          <p:cNvPr id="7" name="Rectangle 6">
            <a:extLst>
              <a:ext uri="{FF2B5EF4-FFF2-40B4-BE49-F238E27FC236}">
                <a16:creationId xmlns:a16="http://schemas.microsoft.com/office/drawing/2014/main" id="{8E8DC4BC-D1EA-41B7-9B06-B26DAD865C6E}"/>
              </a:ext>
            </a:extLst>
          </p:cNvPr>
          <p:cNvSpPr>
            <a:spLocks noGrp="1"/>
          </p:cNvSpPr>
          <p:nvPr/>
        </p:nvSpPr>
        <p:spPr>
          <a:xfrm>
            <a:off x="666750" y="1447800"/>
            <a:ext cx="253365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giỏ hàng UK có ít nhất 2 sản phẩm</a:t>
            </a:r>
          </a:p>
        </p:txBody>
      </p:sp>
      <p:sp>
        <p:nvSpPr>
          <p:cNvPr id="8" name="Rectangle: Rounded Corners 7">
            <a:extLst>
              <a:ext uri="{FF2B5EF4-FFF2-40B4-BE49-F238E27FC236}">
                <a16:creationId xmlns:a16="http://schemas.microsoft.com/office/drawing/2014/main" id="{0E1D84E5-AB69-4D4B-BD3A-B0FDBF3C705A}"/>
              </a:ext>
            </a:extLst>
          </p:cNvPr>
          <p:cNvSpPr>
            <a:spLocks noGrp="1"/>
          </p:cNvSpPr>
          <p:nvPr/>
        </p:nvSpPr>
        <p:spPr>
          <a:xfrm>
            <a:off x="3486150" y="914400"/>
            <a:ext cx="2857500" cy="971550"/>
          </a:xfrm>
          <a:prstGeom prst="roundRect">
            <a:avLst>
              <a:gd name="adj" fmla="val 9804"/>
            </a:avLst>
          </a:prstGeom>
          <a:solidFill>
            <a:srgbClr val="F4F7FA"/>
          </a:solidFill>
          <a:ln w="9525">
            <a:solidFill>
              <a:srgbClr val="D7E0E8"/>
            </a:solidFill>
          </a:ln>
        </p:spPr>
      </p:sp>
      <p:sp>
        <p:nvSpPr>
          <p:cNvPr id="9" name="Rectangle 8">
            <a:extLst>
              <a:ext uri="{FF2B5EF4-FFF2-40B4-BE49-F238E27FC236}">
                <a16:creationId xmlns:a16="http://schemas.microsoft.com/office/drawing/2014/main" id="{C48EFDB6-A35C-4333-AFE6-1198B30381A9}"/>
              </a:ext>
            </a:extLst>
          </p:cNvPr>
          <p:cNvSpPr>
            <a:spLocks noGrp="1"/>
          </p:cNvSpPr>
          <p:nvPr/>
        </p:nvSpPr>
        <p:spPr>
          <a:xfrm>
            <a:off x="3486150" y="914400"/>
            <a:ext cx="66675" cy="971550"/>
          </a:xfrm>
          <a:prstGeom prst="rect">
            <a:avLst/>
          </a:prstGeom>
          <a:solidFill>
            <a:srgbClr val="26A69A"/>
          </a:solidFill>
          <a:ln w="0">
            <a:solidFill>
              <a:srgbClr val="26A69A"/>
            </a:solidFill>
          </a:ln>
        </p:spPr>
      </p:sp>
      <p:sp>
        <p:nvSpPr>
          <p:cNvPr id="10" name="Rectangle 9">
            <a:extLst>
              <a:ext uri="{FF2B5EF4-FFF2-40B4-BE49-F238E27FC236}">
                <a16:creationId xmlns:a16="http://schemas.microsoft.com/office/drawing/2014/main" id="{FFBB74CA-81A3-4E2A-9ECD-DF99EDB0C375}"/>
              </a:ext>
            </a:extLst>
          </p:cNvPr>
          <p:cNvSpPr>
            <a:spLocks noGrp="1"/>
          </p:cNvSpPr>
          <p:nvPr/>
        </p:nvSpPr>
        <p:spPr>
          <a:xfrm>
            <a:off x="3695700" y="1028700"/>
            <a:ext cx="253365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891</a:t>
            </a:r>
          </a:p>
        </p:txBody>
      </p:sp>
      <p:sp>
        <p:nvSpPr>
          <p:cNvPr id="11" name="Rectangle 10">
            <a:extLst>
              <a:ext uri="{FF2B5EF4-FFF2-40B4-BE49-F238E27FC236}">
                <a16:creationId xmlns:a16="http://schemas.microsoft.com/office/drawing/2014/main" id="{4B5B5664-40B5-476F-9984-43B8CFC93D0D}"/>
              </a:ext>
            </a:extLst>
          </p:cNvPr>
          <p:cNvSpPr>
            <a:spLocks noGrp="1"/>
          </p:cNvSpPr>
          <p:nvPr/>
        </p:nvSpPr>
        <p:spPr>
          <a:xfrm>
            <a:off x="3695700" y="1447800"/>
            <a:ext cx="253365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sản phẩm đạt support tối thiểu 1%</a:t>
            </a:r>
          </a:p>
        </p:txBody>
      </p:sp>
      <p:sp>
        <p:nvSpPr>
          <p:cNvPr id="12" name="Rectangle: Rounded Corners 11">
            <a:extLst>
              <a:ext uri="{FF2B5EF4-FFF2-40B4-BE49-F238E27FC236}">
                <a16:creationId xmlns:a16="http://schemas.microsoft.com/office/drawing/2014/main" id="{0FEE94C6-5EDD-4552-B921-5AFF6DCA4B0A}"/>
              </a:ext>
            </a:extLst>
          </p:cNvPr>
          <p:cNvSpPr>
            <a:spLocks noGrp="1"/>
          </p:cNvSpPr>
          <p:nvPr/>
        </p:nvSpPr>
        <p:spPr>
          <a:xfrm>
            <a:off x="6515100" y="914400"/>
            <a:ext cx="2857500" cy="971550"/>
          </a:xfrm>
          <a:prstGeom prst="roundRect">
            <a:avLst>
              <a:gd name="adj" fmla="val 9804"/>
            </a:avLst>
          </a:prstGeom>
          <a:solidFill>
            <a:srgbClr val="F4F7FA"/>
          </a:solidFill>
          <a:ln w="9525">
            <a:solidFill>
              <a:srgbClr val="D7E0E8"/>
            </a:solidFill>
          </a:ln>
        </p:spPr>
      </p:sp>
      <p:sp>
        <p:nvSpPr>
          <p:cNvPr id="13" name="Rectangle 12">
            <a:extLst>
              <a:ext uri="{FF2B5EF4-FFF2-40B4-BE49-F238E27FC236}">
                <a16:creationId xmlns:a16="http://schemas.microsoft.com/office/drawing/2014/main" id="{A082D297-3594-44CA-BFF3-F74C5A1DB1DD}"/>
              </a:ext>
            </a:extLst>
          </p:cNvPr>
          <p:cNvSpPr>
            <a:spLocks noGrp="1"/>
          </p:cNvSpPr>
          <p:nvPr/>
        </p:nvSpPr>
        <p:spPr>
          <a:xfrm>
            <a:off x="6515100" y="914400"/>
            <a:ext cx="66675" cy="971550"/>
          </a:xfrm>
          <a:prstGeom prst="rect">
            <a:avLst/>
          </a:prstGeom>
          <a:solidFill>
            <a:srgbClr val="F59E42"/>
          </a:solidFill>
          <a:ln w="0">
            <a:solidFill>
              <a:srgbClr val="F59E42"/>
            </a:solidFill>
          </a:ln>
        </p:spPr>
      </p:sp>
      <p:sp>
        <p:nvSpPr>
          <p:cNvPr id="14" name="Rectangle 13">
            <a:extLst>
              <a:ext uri="{FF2B5EF4-FFF2-40B4-BE49-F238E27FC236}">
                <a16:creationId xmlns:a16="http://schemas.microsoft.com/office/drawing/2014/main" id="{34375D93-C7BE-4A81-9BF3-45A84BADD0E1}"/>
              </a:ext>
            </a:extLst>
          </p:cNvPr>
          <p:cNvSpPr>
            <a:spLocks noGrp="1"/>
          </p:cNvSpPr>
          <p:nvPr/>
        </p:nvSpPr>
        <p:spPr>
          <a:xfrm>
            <a:off x="6724650" y="1028700"/>
            <a:ext cx="253365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1.329</a:t>
            </a:r>
          </a:p>
        </p:txBody>
      </p:sp>
      <p:sp>
        <p:nvSpPr>
          <p:cNvPr id="15" name="Rectangle 14">
            <a:extLst>
              <a:ext uri="{FF2B5EF4-FFF2-40B4-BE49-F238E27FC236}">
                <a16:creationId xmlns:a16="http://schemas.microsoft.com/office/drawing/2014/main" id="{0902425A-738D-4043-95B3-6A2370C1903F}"/>
              </a:ext>
            </a:extLst>
          </p:cNvPr>
          <p:cNvSpPr>
            <a:spLocks noGrp="1"/>
          </p:cNvSpPr>
          <p:nvPr/>
        </p:nvSpPr>
        <p:spPr>
          <a:xfrm>
            <a:off x="6724650" y="1447800"/>
            <a:ext cx="253365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luật đạt support, confidence và lift</a:t>
            </a:r>
          </a:p>
        </p:txBody>
      </p:sp>
      <p:sp>
        <p:nvSpPr>
          <p:cNvPr id="16" name="Rectangle: Rounded Corners 15">
            <a:extLst>
              <a:ext uri="{FF2B5EF4-FFF2-40B4-BE49-F238E27FC236}">
                <a16:creationId xmlns:a16="http://schemas.microsoft.com/office/drawing/2014/main" id="{0380BEBB-F0A1-419A-9FF2-F22EA933BEEF}"/>
              </a:ext>
            </a:extLst>
          </p:cNvPr>
          <p:cNvSpPr>
            <a:spLocks noGrp="1"/>
          </p:cNvSpPr>
          <p:nvPr/>
        </p:nvSpPr>
        <p:spPr>
          <a:xfrm>
            <a:off x="9544050" y="914400"/>
            <a:ext cx="2190750" cy="971550"/>
          </a:xfrm>
          <a:prstGeom prst="roundRect">
            <a:avLst>
              <a:gd name="adj" fmla="val 9804"/>
            </a:avLst>
          </a:prstGeom>
          <a:solidFill>
            <a:srgbClr val="F4F7FA"/>
          </a:solidFill>
          <a:ln w="9525">
            <a:solidFill>
              <a:srgbClr val="D7E0E8"/>
            </a:solidFill>
          </a:ln>
        </p:spPr>
      </p:sp>
      <p:sp>
        <p:nvSpPr>
          <p:cNvPr id="17" name="Rectangle 16">
            <a:extLst>
              <a:ext uri="{FF2B5EF4-FFF2-40B4-BE49-F238E27FC236}">
                <a16:creationId xmlns:a16="http://schemas.microsoft.com/office/drawing/2014/main" id="{0F0AFE4C-5E79-4171-9A18-375CA6B200AB}"/>
              </a:ext>
            </a:extLst>
          </p:cNvPr>
          <p:cNvSpPr>
            <a:spLocks noGrp="1"/>
          </p:cNvSpPr>
          <p:nvPr/>
        </p:nvSpPr>
        <p:spPr>
          <a:xfrm>
            <a:off x="9544050" y="914400"/>
            <a:ext cx="66675" cy="971550"/>
          </a:xfrm>
          <a:prstGeom prst="rect">
            <a:avLst/>
          </a:prstGeom>
          <a:solidFill>
            <a:srgbClr val="28A745"/>
          </a:solidFill>
          <a:ln w="0">
            <a:solidFill>
              <a:srgbClr val="28A745"/>
            </a:solidFill>
          </a:ln>
        </p:spPr>
      </p:sp>
      <p:sp>
        <p:nvSpPr>
          <p:cNvPr id="18" name="Rectangle 17">
            <a:extLst>
              <a:ext uri="{FF2B5EF4-FFF2-40B4-BE49-F238E27FC236}">
                <a16:creationId xmlns:a16="http://schemas.microsoft.com/office/drawing/2014/main" id="{42A8284C-174B-4B1B-90AF-518BF77F1966}"/>
              </a:ext>
            </a:extLst>
          </p:cNvPr>
          <p:cNvSpPr>
            <a:spLocks noGrp="1"/>
          </p:cNvSpPr>
          <p:nvPr/>
        </p:nvSpPr>
        <p:spPr>
          <a:xfrm>
            <a:off x="9753600" y="1028700"/>
            <a:ext cx="1866900" cy="400050"/>
          </a:xfrm>
          <a:prstGeom prst="rect">
            <a:avLst/>
          </a:prstGeom>
          <a:noFill/>
          <a:ln w="0">
            <a:noFill/>
          </a:ln>
        </p:spPr>
        <p:txBody>
          <a:bodyPr anchor="ctr">
            <a:noAutofit/>
          </a:bodyPr>
          <a:lstStyle/>
          <a:p>
            <a:pPr algn="l">
              <a:defRPr sz="2250" b="1">
                <a:solidFill>
                  <a:srgbClr val="182D4B"/>
                </a:solidFill>
                <a:latin typeface="Arial"/>
                <a:ea typeface="Arial"/>
                <a:cs typeface="Arial"/>
              </a:defRPr>
            </a:pPr>
            <a:r>
              <a:rPr sz="2250" b="1">
                <a:solidFill>
                  <a:srgbClr val="182D4B"/>
                </a:solidFill>
                <a:latin typeface="Arial"/>
                <a:ea typeface="Arial"/>
                <a:cs typeface="Arial"/>
              </a:rPr>
              <a:t>&gt; 1</a:t>
            </a:r>
          </a:p>
        </p:txBody>
      </p:sp>
      <p:sp>
        <p:nvSpPr>
          <p:cNvPr id="19" name="Rectangle 18">
            <a:extLst>
              <a:ext uri="{FF2B5EF4-FFF2-40B4-BE49-F238E27FC236}">
                <a16:creationId xmlns:a16="http://schemas.microsoft.com/office/drawing/2014/main" id="{D1750AC8-3CC7-4E7E-BA1D-56BE2D4C4484}"/>
              </a:ext>
            </a:extLst>
          </p:cNvPr>
          <p:cNvSpPr>
            <a:spLocks noGrp="1"/>
          </p:cNvSpPr>
          <p:nvPr/>
        </p:nvSpPr>
        <p:spPr>
          <a:xfrm>
            <a:off x="9753600" y="1447800"/>
            <a:ext cx="1866900" cy="323850"/>
          </a:xfrm>
          <a:prstGeom prst="rect">
            <a:avLst/>
          </a:prstGeom>
          <a:noFill/>
          <a:ln w="0">
            <a:noFill/>
          </a:ln>
        </p:spPr>
        <p:txBody>
          <a:bodyPr anchor="t">
            <a:noAutofit/>
          </a:bodyPr>
          <a:lstStyle/>
          <a:p>
            <a:pPr algn="l">
              <a:defRPr sz="1200" b="0">
                <a:solidFill>
                  <a:srgbClr val="5E6B7A"/>
                </a:solidFill>
                <a:latin typeface="Arial"/>
                <a:ea typeface="Arial"/>
                <a:cs typeface="Arial"/>
              </a:defRPr>
            </a:pPr>
            <a:r>
              <a:rPr sz="1200" b="0">
                <a:solidFill>
                  <a:srgbClr val="5E6B7A"/>
                </a:solidFill>
                <a:latin typeface="Arial"/>
                <a:ea typeface="Arial"/>
                <a:cs typeface="Arial"/>
              </a:rPr>
              <a:t>lift cho thấy liên hệ mua kèm tích cực</a:t>
            </a:r>
          </a:p>
        </p:txBody>
      </p:sp>
      <p:graphicFrame>
        <p:nvGraphicFramePr>
          <p:cNvPr id="43" name="Table 42"/>
          <p:cNvGraphicFramePr/>
          <p:nvPr/>
        </p:nvGraphicFramePr>
        <p:xfrm>
          <a:off x="476250" y="2247900"/>
          <a:ext cx="11239500" cy="2857500"/>
        </p:xfrm>
        <a:graphic>
          <a:graphicData uri="http://schemas.openxmlformats.org/drawingml/2006/table">
            <a:tbl>
              <a:tblPr/>
              <a:tblGrid>
                <a:gridCol w="3067050">
                  <a:extLst>
                    <a:ext uri="{9D8B030D-6E8A-4147-A177-3AD203B41FA5}">
                      <a16:colId xmlns:a16="http://schemas.microsoft.com/office/drawing/2014/main" val="20000"/>
                    </a:ext>
                  </a:extLst>
                </a:gridCol>
                <a:gridCol w="3257550">
                  <a:extLst>
                    <a:ext uri="{9D8B030D-6E8A-4147-A177-3AD203B41FA5}">
                      <a16:colId xmlns:a16="http://schemas.microsoft.com/office/drawing/2014/main" val="20001"/>
                    </a:ext>
                  </a:extLst>
                </a:gridCol>
                <a:gridCol w="1476375">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476250">
                <a:tc>
                  <a:txBody>
                    <a:bodyPr/>
                    <a:lstStyle/>
                    <a:p>
                      <a:r>
                        <a:t>Nếu mua</a:t>
                      </a:r>
                    </a:p>
                  </a:txBody>
                  <a:tcPr/>
                </a:tc>
                <a:tc>
                  <a:txBody>
                    <a:bodyPr/>
                    <a:lstStyle/>
                    <a:p>
                      <a:r>
                        <a:t>Thường mua thêm</a:t>
                      </a:r>
                    </a:p>
                  </a:txBody>
                  <a:tcPr/>
                </a:tc>
                <a:tc>
                  <a:txBody>
                    <a:bodyPr/>
                    <a:lstStyle/>
                    <a:p>
                      <a:r>
                        <a:t>Support</a:t>
                      </a:r>
                    </a:p>
                  </a:txBody>
                  <a:tcPr/>
                </a:tc>
                <a:tc>
                  <a:txBody>
                    <a:bodyPr/>
                    <a:lstStyle/>
                    <a:p>
                      <a:r>
                        <a:t>Confidence</a:t>
                      </a:r>
                    </a:p>
                  </a:txBody>
                  <a:tcPr/>
                </a:tc>
                <a:tc>
                  <a:txBody>
                    <a:bodyPr/>
                    <a:lstStyle/>
                    <a:p>
                      <a:r>
                        <a:t>Lift</a:t>
                      </a:r>
                    </a:p>
                  </a:txBody>
                  <a:tcPr/>
                </a:tc>
                <a:extLst>
                  <a:ext uri="{0D108BD9-81ED-4DB2-BD59-A6C34878D82A}">
                    <a16:rowId xmlns:a16="http://schemas.microsoft.com/office/drawing/2014/main" val="10000"/>
                  </a:ext>
                </a:extLst>
              </a:tr>
              <a:tr h="476250">
                <a:tc>
                  <a:txBody>
                    <a:bodyPr/>
                    <a:lstStyle/>
                    <a:p>
                      <a:r>
                        <a:t>Jumbo Bag Pink Polkadot</a:t>
                      </a:r>
                    </a:p>
                  </a:txBody>
                  <a:tcPr>
                    <a:solidFill>
                      <a:srgbClr val="EDF7FB"/>
                    </a:solidFill>
                  </a:tcPr>
                </a:tc>
                <a:tc>
                  <a:txBody>
                    <a:bodyPr/>
                    <a:lstStyle/>
                    <a:p>
                      <a:r>
                        <a:t>Jumbo Bag Red Retrospot</a:t>
                      </a:r>
                    </a:p>
                  </a:txBody>
                  <a:tcPr>
                    <a:solidFill>
                      <a:srgbClr val="EDF7FB"/>
                    </a:solidFill>
                  </a:tcPr>
                </a:tc>
                <a:tc>
                  <a:txBody>
                    <a:bodyPr/>
                    <a:lstStyle/>
                    <a:p>
                      <a:r>
                        <a:t>4,76%</a:t>
                      </a:r>
                    </a:p>
                  </a:txBody>
                  <a:tcPr>
                    <a:solidFill>
                      <a:srgbClr val="EDF7FB"/>
                    </a:solidFill>
                  </a:tcPr>
                </a:tc>
                <a:tc>
                  <a:txBody>
                    <a:bodyPr/>
                    <a:lstStyle/>
                    <a:p>
                      <a:r>
                        <a:t>67,85%</a:t>
                      </a:r>
                    </a:p>
                  </a:txBody>
                  <a:tcPr>
                    <a:solidFill>
                      <a:srgbClr val="EDF7FB"/>
                    </a:solidFill>
                  </a:tcPr>
                </a:tc>
                <a:tc>
                  <a:txBody>
                    <a:bodyPr/>
                    <a:lstStyle/>
                    <a:p>
                      <a:r>
                        <a:t>5,83</a:t>
                      </a:r>
                    </a:p>
                  </a:txBody>
                  <a:tcPr>
                    <a:solidFill>
                      <a:srgbClr val="EDF7FB"/>
                    </a:solidFill>
                  </a:tcPr>
                </a:tc>
                <a:extLst>
                  <a:ext uri="{0D108BD9-81ED-4DB2-BD59-A6C34878D82A}">
                    <a16:rowId xmlns:a16="http://schemas.microsoft.com/office/drawing/2014/main" val="10001"/>
                  </a:ext>
                </a:extLst>
              </a:tr>
              <a:tr h="476250">
                <a:tc>
                  <a:txBody>
                    <a:bodyPr/>
                    <a:lstStyle/>
                    <a:p>
                      <a:r>
                        <a:t>Green Regency Teacup</a:t>
                      </a:r>
                    </a:p>
                  </a:txBody>
                  <a:tcPr>
                    <a:solidFill>
                      <a:srgbClr val="FFF6EA"/>
                    </a:solidFill>
                  </a:tcPr>
                </a:tc>
                <a:tc>
                  <a:txBody>
                    <a:bodyPr/>
                    <a:lstStyle/>
                    <a:p>
                      <a:r>
                        <a:t>Roses Regency Teacup</a:t>
                      </a:r>
                    </a:p>
                  </a:txBody>
                  <a:tcPr>
                    <a:solidFill>
                      <a:srgbClr val="FFF6EA"/>
                    </a:solidFill>
                  </a:tcPr>
                </a:tc>
                <a:tc>
                  <a:txBody>
                    <a:bodyPr/>
                    <a:lstStyle/>
                    <a:p>
                      <a:r>
                        <a:t>4,24%</a:t>
                      </a:r>
                    </a:p>
                  </a:txBody>
                  <a:tcPr>
                    <a:solidFill>
                      <a:srgbClr val="FFF6EA"/>
                    </a:solidFill>
                  </a:tcPr>
                </a:tc>
                <a:tc>
                  <a:txBody>
                    <a:bodyPr/>
                    <a:lstStyle/>
                    <a:p>
                      <a:r>
                        <a:t>75,11%</a:t>
                      </a:r>
                    </a:p>
                  </a:txBody>
                  <a:tcPr>
                    <a:solidFill>
                      <a:srgbClr val="FFF6EA"/>
                    </a:solidFill>
                  </a:tcPr>
                </a:tc>
                <a:tc>
                  <a:txBody>
                    <a:bodyPr/>
                    <a:lstStyle/>
                    <a:p>
                      <a:r>
                        <a:t>13,01</a:t>
                      </a:r>
                    </a:p>
                  </a:txBody>
                  <a:tcPr>
                    <a:solidFill>
                      <a:srgbClr val="FFF6EA"/>
                    </a:solidFill>
                  </a:tcPr>
                </a:tc>
                <a:extLst>
                  <a:ext uri="{0D108BD9-81ED-4DB2-BD59-A6C34878D82A}">
                    <a16:rowId xmlns:a16="http://schemas.microsoft.com/office/drawing/2014/main" val="10002"/>
                  </a:ext>
                </a:extLst>
              </a:tr>
              <a:tr h="476250">
                <a:tc>
                  <a:txBody>
                    <a:bodyPr/>
                    <a:lstStyle/>
                    <a:p>
                      <a:r>
                        <a:t>Pink Regency Teacup</a:t>
                      </a:r>
                    </a:p>
                  </a:txBody>
                  <a:tcPr>
                    <a:solidFill>
                      <a:srgbClr val="FFF6EA"/>
                    </a:solidFill>
                  </a:tcPr>
                </a:tc>
                <a:tc>
                  <a:txBody>
                    <a:bodyPr/>
                    <a:lstStyle/>
                    <a:p>
                      <a:r>
                        <a:t>Green Regency Teacup</a:t>
                      </a:r>
                    </a:p>
                  </a:txBody>
                  <a:tcPr>
                    <a:solidFill>
                      <a:srgbClr val="FFF6EA"/>
                    </a:solidFill>
                  </a:tcPr>
                </a:tc>
                <a:tc>
                  <a:txBody>
                    <a:bodyPr/>
                    <a:lstStyle/>
                    <a:p>
                      <a:r>
                        <a:t>3,49%</a:t>
                      </a:r>
                    </a:p>
                  </a:txBody>
                  <a:tcPr>
                    <a:solidFill>
                      <a:srgbClr val="FFF6EA"/>
                    </a:solidFill>
                  </a:tcPr>
                </a:tc>
                <a:tc>
                  <a:txBody>
                    <a:bodyPr/>
                    <a:lstStyle/>
                    <a:p>
                      <a:r>
                        <a:t>82,52%</a:t>
                      </a:r>
                    </a:p>
                  </a:txBody>
                  <a:tcPr>
                    <a:solidFill>
                      <a:srgbClr val="FFF6EA"/>
                    </a:solidFill>
                  </a:tcPr>
                </a:tc>
                <a:tc>
                  <a:txBody>
                    <a:bodyPr/>
                    <a:lstStyle/>
                    <a:p>
                      <a:r>
                        <a:t>14,61</a:t>
                      </a:r>
                    </a:p>
                  </a:txBody>
                  <a:tcPr>
                    <a:solidFill>
                      <a:srgbClr val="FFF6EA"/>
                    </a:solidFill>
                  </a:tcPr>
                </a:tc>
                <a:extLst>
                  <a:ext uri="{0D108BD9-81ED-4DB2-BD59-A6C34878D82A}">
                    <a16:rowId xmlns:a16="http://schemas.microsoft.com/office/drawing/2014/main" val="10003"/>
                  </a:ext>
                </a:extLst>
              </a:tr>
              <a:tr h="476250">
                <a:tc>
                  <a:txBody>
                    <a:bodyPr/>
                    <a:lstStyle/>
                    <a:p>
                      <a:r>
                        <a:t>Alarm Clock Green</a:t>
                      </a:r>
                    </a:p>
                  </a:txBody>
                  <a:tcPr/>
                </a:tc>
                <a:tc>
                  <a:txBody>
                    <a:bodyPr/>
                    <a:lstStyle/>
                    <a:p>
                      <a:r>
                        <a:t>Alarm Clock Red</a:t>
                      </a:r>
                    </a:p>
                  </a:txBody>
                  <a:tcPr/>
                </a:tc>
                <a:tc>
                  <a:txBody>
                    <a:bodyPr/>
                    <a:lstStyle/>
                    <a:p>
                      <a:r>
                        <a:t>3,41%</a:t>
                      </a:r>
                    </a:p>
                  </a:txBody>
                  <a:tcPr/>
                </a:tc>
                <a:tc>
                  <a:txBody>
                    <a:bodyPr/>
                    <a:lstStyle/>
                    <a:p>
                      <a:r>
                        <a:t>64,64%</a:t>
                      </a:r>
                    </a:p>
                  </a:txBody>
                  <a:tcPr/>
                </a:tc>
                <a:tc>
                  <a:txBody>
                    <a:bodyPr/>
                    <a:lstStyle/>
                    <a:p>
                      <a:r>
                        <a:t>11,48</a:t>
                      </a:r>
                    </a:p>
                  </a:txBody>
                  <a:tcPr/>
                </a:tc>
                <a:extLst>
                  <a:ext uri="{0D108BD9-81ED-4DB2-BD59-A6C34878D82A}">
                    <a16:rowId xmlns:a16="http://schemas.microsoft.com/office/drawing/2014/main" val="10004"/>
                  </a:ext>
                </a:extLst>
              </a:tr>
              <a:tr h="476250">
                <a:tc>
                  <a:txBody>
                    <a:bodyPr/>
                    <a:lstStyle/>
                    <a:p>
                      <a:r>
                        <a:t>Lunch Bag Black Skull</a:t>
                      </a:r>
                    </a:p>
                  </a:txBody>
                  <a:tcPr/>
                </a:tc>
                <a:tc>
                  <a:txBody>
                    <a:bodyPr/>
                    <a:lstStyle/>
                    <a:p>
                      <a:r>
                        <a:t>Lunch Bag Red Retrospot</a:t>
                      </a:r>
                    </a:p>
                  </a:txBody>
                  <a:tcPr/>
                </a:tc>
                <a:tc>
                  <a:txBody>
                    <a:bodyPr/>
                    <a:lstStyle/>
                    <a:p>
                      <a:r>
                        <a:t>3,68%</a:t>
                      </a:r>
                    </a:p>
                  </a:txBody>
                  <a:tcPr/>
                </a:tc>
                <a:tc>
                  <a:txBody>
                    <a:bodyPr/>
                    <a:lstStyle/>
                    <a:p>
                      <a:r>
                        <a:t>50,00%</a:t>
                      </a:r>
                    </a:p>
                  </a:txBody>
                  <a:tcPr/>
                </a:tc>
                <a:tc>
                  <a:txBody>
                    <a:bodyPr/>
                    <a:lstStyle/>
                    <a:p>
                      <a:r>
                        <a:t>5,93</a:t>
                      </a:r>
                    </a:p>
                  </a:txBody>
                  <a:tcPr/>
                </a:tc>
                <a:extLst>
                  <a:ext uri="{0D108BD9-81ED-4DB2-BD59-A6C34878D82A}">
                    <a16:rowId xmlns:a16="http://schemas.microsoft.com/office/drawing/2014/main" val="10005"/>
                  </a:ext>
                </a:extLst>
              </a:tr>
            </a:tbl>
          </a:graphicData>
        </a:graphic>
      </p:graphicFrame>
      <p:sp>
        <p:nvSpPr>
          <p:cNvPr id="21" name="Rectangle: Rounded Corners 20">
            <a:extLst>
              <a:ext uri="{FF2B5EF4-FFF2-40B4-BE49-F238E27FC236}">
                <a16:creationId xmlns:a16="http://schemas.microsoft.com/office/drawing/2014/main" id="{DED9FB95-3F4F-48C5-AA07-E298E8052B4F}"/>
              </a:ext>
            </a:extLst>
          </p:cNvPr>
          <p:cNvSpPr>
            <a:spLocks noGrp="1"/>
          </p:cNvSpPr>
          <p:nvPr/>
        </p:nvSpPr>
        <p:spPr>
          <a:xfrm>
            <a:off x="476250" y="5372100"/>
            <a:ext cx="11239500" cy="704850"/>
          </a:xfrm>
          <a:prstGeom prst="roundRect">
            <a:avLst>
              <a:gd name="adj" fmla="val 10811"/>
            </a:avLst>
          </a:prstGeom>
          <a:solidFill>
            <a:srgbClr val="F4F7FA"/>
          </a:solidFill>
          <a:ln w="9525">
            <a:solidFill>
              <a:srgbClr val="D7E0E8"/>
            </a:solidFill>
          </a:ln>
        </p:spPr>
      </p:sp>
      <p:sp>
        <p:nvSpPr>
          <p:cNvPr id="22" name="Rectangle 21">
            <a:extLst>
              <a:ext uri="{FF2B5EF4-FFF2-40B4-BE49-F238E27FC236}">
                <a16:creationId xmlns:a16="http://schemas.microsoft.com/office/drawing/2014/main" id="{0431C9AD-F125-44DA-8B95-B5766C889460}"/>
              </a:ext>
            </a:extLst>
          </p:cNvPr>
          <p:cNvSpPr>
            <a:spLocks noGrp="1"/>
          </p:cNvSpPr>
          <p:nvPr/>
        </p:nvSpPr>
        <p:spPr>
          <a:xfrm>
            <a:off x="704850" y="5486400"/>
            <a:ext cx="10763250" cy="457200"/>
          </a:xfrm>
          <a:prstGeom prst="rect">
            <a:avLst/>
          </a:prstGeom>
          <a:noFill/>
          <a:ln w="0">
            <a:noFill/>
          </a:ln>
        </p:spPr>
        <p:txBody>
          <a:bodyPr anchor="t">
            <a:noAutofit/>
          </a:bodyPr>
          <a:lstStyle/>
          <a:p>
            <a:pPr algn="l">
              <a:defRPr sz="1275" b="0">
                <a:solidFill>
                  <a:srgbClr val="1F2937"/>
                </a:solidFill>
                <a:latin typeface="Arial"/>
                <a:ea typeface="Arial"/>
                <a:cs typeface="Arial"/>
              </a:defRPr>
            </a:pPr>
            <a:r>
              <a:rPr sz="1275" b="0">
                <a:solidFill>
                  <a:srgbClr val="1F2937"/>
                </a:solidFill>
                <a:latin typeface="Arial"/>
                <a:ea typeface="Arial"/>
                <a:cs typeface="Arial"/>
              </a:rPr>
              <a:t>Ứng dụng: tạo combo cùng dòng thiết kế, gợi ý sản phẩm bổ sung trên trang giỏ hàng và bố trí sản phẩm liên quan gần nhau. Lift cao không chứng minh quan hệ nhân quả.</a:t>
            </a:r>
          </a:p>
        </p:txBody>
      </p:sp>
      <p:sp>
        <p:nvSpPr>
          <p:cNvPr id="23" name="Rectangle 22">
            <a:extLst>
              <a:ext uri="{FF2B5EF4-FFF2-40B4-BE49-F238E27FC236}">
                <a16:creationId xmlns:a16="http://schemas.microsoft.com/office/drawing/2014/main" id="{3A66223A-F5A4-4F46-B4D8-E2D668BD2DE8}"/>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051432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57DB850-1F8A-4350-B824-BAD33F775EDA}"/>
              </a:ext>
            </a:extLst>
          </p:cNvPr>
          <p:cNvSpPr>
            <a:spLocks noGrp="1"/>
          </p:cNvSpPr>
          <p:nvPr/>
        </p:nvSpPr>
        <p:spPr>
          <a:xfrm>
            <a:off x="0" y="0"/>
            <a:ext cx="12192000" cy="647700"/>
          </a:xfrm>
          <a:prstGeom prst="rect">
            <a:avLst/>
          </a:prstGeom>
          <a:solidFill>
            <a:srgbClr val="182D4B"/>
          </a:solidFill>
          <a:ln w="0">
            <a:solidFill>
              <a:srgbClr val="182D4B"/>
            </a:solidFill>
          </a:ln>
        </p:spPr>
      </p:sp>
      <p:sp>
        <p:nvSpPr>
          <p:cNvPr id="2" name="Rectangle 1">
            <a:extLst>
              <a:ext uri="{FF2B5EF4-FFF2-40B4-BE49-F238E27FC236}">
                <a16:creationId xmlns:a16="http://schemas.microsoft.com/office/drawing/2014/main" id="{A49EAE1B-6097-4623-B9F4-06B59BBC92E3}"/>
              </a:ext>
            </a:extLst>
          </p:cNvPr>
          <p:cNvSpPr>
            <a:spLocks noGrp="1"/>
          </p:cNvSpPr>
          <p:nvPr/>
        </p:nvSpPr>
        <p:spPr>
          <a:xfrm>
            <a:off x="323850" y="76200"/>
            <a:ext cx="10668000" cy="495300"/>
          </a:xfrm>
          <a:prstGeom prst="rect">
            <a:avLst/>
          </a:prstGeom>
          <a:noFill/>
          <a:ln w="0">
            <a:noFill/>
          </a:ln>
        </p:spPr>
        <p:txBody>
          <a:bodyPr anchor="ctr">
            <a:noAutofit/>
          </a:bodyPr>
          <a:lstStyle/>
          <a:p>
            <a:pPr algn="l">
              <a:defRPr sz="2025" b="1">
                <a:solidFill>
                  <a:srgbClr val="FFFFFF"/>
                </a:solidFill>
                <a:latin typeface="Arial"/>
                <a:ea typeface="Arial"/>
                <a:cs typeface="Arial"/>
              </a:defRPr>
            </a:pPr>
            <a:r>
              <a:rPr sz="2025" b="1">
                <a:solidFill>
                  <a:srgbClr val="FFFFFF"/>
                </a:solidFill>
                <a:latin typeface="Arial"/>
                <a:ea typeface="Arial"/>
                <a:cs typeface="Arial"/>
              </a:rPr>
              <a:t>9. Kết luận và hướng triển khai</a:t>
            </a:r>
          </a:p>
        </p:txBody>
      </p:sp>
      <p:sp>
        <p:nvSpPr>
          <p:cNvPr id="3" name="Rectangle 2">
            <a:extLst>
              <a:ext uri="{FF2B5EF4-FFF2-40B4-BE49-F238E27FC236}">
                <a16:creationId xmlns:a16="http://schemas.microsoft.com/office/drawing/2014/main" id="{04FB5E6A-DD6C-4593-AA1C-40014D839FDC}"/>
              </a:ext>
            </a:extLst>
          </p:cNvPr>
          <p:cNvSpPr>
            <a:spLocks noGrp="1"/>
          </p:cNvSpPr>
          <p:nvPr/>
        </p:nvSpPr>
        <p:spPr>
          <a:xfrm>
            <a:off x="11334750" y="95250"/>
            <a:ext cx="533400" cy="438150"/>
          </a:xfrm>
          <a:prstGeom prst="rect">
            <a:avLst/>
          </a:prstGeom>
          <a:noFill/>
          <a:ln w="0">
            <a:noFill/>
          </a:ln>
        </p:spPr>
        <p:txBody>
          <a:bodyPr anchor="ctr">
            <a:noAutofit/>
          </a:bodyPr>
          <a:lstStyle/>
          <a:p>
            <a:pPr algn="r">
              <a:defRPr sz="1350" b="1">
                <a:solidFill>
                  <a:srgbClr val="F59E42"/>
                </a:solidFill>
                <a:latin typeface="Arial"/>
                <a:ea typeface="Arial"/>
                <a:cs typeface="Arial"/>
              </a:defRPr>
            </a:pPr>
            <a:r>
              <a:rPr sz="1350" b="1">
                <a:solidFill>
                  <a:srgbClr val="F59E42"/>
                </a:solidFill>
                <a:latin typeface="Arial"/>
                <a:ea typeface="Arial"/>
                <a:cs typeface="Arial"/>
              </a:rPr>
              <a:t>10</a:t>
            </a:r>
          </a:p>
        </p:txBody>
      </p:sp>
      <p:sp>
        <p:nvSpPr>
          <p:cNvPr id="4" name="Rectangle 3">
            <a:extLst>
              <a:ext uri="{FF2B5EF4-FFF2-40B4-BE49-F238E27FC236}">
                <a16:creationId xmlns:a16="http://schemas.microsoft.com/office/drawing/2014/main" id="{38A98E0E-9D62-41B1-B188-EE9BD60692E7}"/>
              </a:ext>
            </a:extLst>
          </p:cNvPr>
          <p:cNvSpPr>
            <a:spLocks noGrp="1"/>
          </p:cNvSpPr>
          <p:nvPr/>
        </p:nvSpPr>
        <p:spPr>
          <a:xfrm>
            <a:off x="476250" y="990600"/>
            <a:ext cx="5334000" cy="323850"/>
          </a:xfrm>
          <a:prstGeom prst="rect">
            <a:avLst/>
          </a:prstGeom>
          <a:solidFill>
            <a:srgbClr val="2696C5"/>
          </a:solidFill>
          <a:ln w="0">
            <a:solidFill>
              <a:srgbClr val="2696C5"/>
            </a:solidFill>
          </a:ln>
        </p:spPr>
      </p:sp>
      <p:sp>
        <p:nvSpPr>
          <p:cNvPr id="5" name="Rectangle 4">
            <a:extLst>
              <a:ext uri="{FF2B5EF4-FFF2-40B4-BE49-F238E27FC236}">
                <a16:creationId xmlns:a16="http://schemas.microsoft.com/office/drawing/2014/main" id="{27E5D71D-36EB-4360-9EF1-7680CBC79E29}"/>
              </a:ext>
            </a:extLst>
          </p:cNvPr>
          <p:cNvSpPr>
            <a:spLocks noGrp="1"/>
          </p:cNvSpPr>
          <p:nvPr/>
        </p:nvSpPr>
        <p:spPr>
          <a:xfrm>
            <a:off x="571500" y="1009650"/>
            <a:ext cx="5143500" cy="285750"/>
          </a:xfrm>
          <a:prstGeom prst="rect">
            <a:avLst/>
          </a:prstGeom>
          <a:noFill/>
          <a:ln w="0">
            <a:noFill/>
          </a:ln>
        </p:spPr>
        <p:txBody>
          <a:bodyPr anchor="ctr">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KẾT QUẢ CHÍNH</a:t>
            </a:r>
          </a:p>
        </p:txBody>
      </p:sp>
      <p:sp>
        <p:nvSpPr>
          <p:cNvPr id="6" name="Rectangle 5">
            <a:extLst>
              <a:ext uri="{FF2B5EF4-FFF2-40B4-BE49-F238E27FC236}">
                <a16:creationId xmlns:a16="http://schemas.microsoft.com/office/drawing/2014/main" id="{83B7B932-AF22-4965-82C8-9F8A9D83513D}"/>
              </a:ext>
            </a:extLst>
          </p:cNvPr>
          <p:cNvSpPr>
            <a:spLocks noGrp="1"/>
          </p:cNvSpPr>
          <p:nvPr/>
        </p:nvSpPr>
        <p:spPr>
          <a:xfrm>
            <a:off x="647700" y="1524000"/>
            <a:ext cx="4991100" cy="2381250"/>
          </a:xfrm>
          <a:prstGeom prst="rect">
            <a:avLst/>
          </a:prstGeom>
          <a:noFill/>
          <a:ln w="0">
            <a:noFill/>
          </a:ln>
        </p:spPr>
        <p:txBody>
          <a:bodyPr>
            <a:noAutofit/>
          </a:bodyPr>
          <a:lstStyle/>
          <a:p>
            <a:pPr marL="228600" indent="-114300">
              <a:spcAft>
                <a:spcPts val="1500"/>
              </a:spcAft>
              <a:buChar char="•"/>
              <a:defRPr sz="1500">
                <a:solidFill>
                  <a:srgbClr val="1F2937"/>
                </a:solidFill>
                <a:latin typeface="Arial"/>
                <a:ea typeface="Arial"/>
                <a:cs typeface="Arial"/>
              </a:defRPr>
            </a:pPr>
            <a:r>
              <a:rPr sz="1500">
                <a:solidFill>
                  <a:srgbClr val="1F2937"/>
                </a:solidFill>
                <a:latin typeface="Arial"/>
                <a:ea typeface="Arial"/>
                <a:cs typeface="Arial"/>
              </a:rPr>
              <a:t>Sau làm sạch còn 524.878 dòng bán hợp lệ, tạo £10,64 triệu doanh thu dương.</a:t>
            </a:r>
          </a:p>
          <a:p>
            <a:pPr marL="228600" indent="-114300">
              <a:spcAft>
                <a:spcPts val="1500"/>
              </a:spcAft>
              <a:buChar char="•"/>
              <a:defRPr sz="1500">
                <a:solidFill>
                  <a:srgbClr val="1F2937"/>
                </a:solidFill>
                <a:latin typeface="Arial"/>
                <a:ea typeface="Arial"/>
                <a:cs typeface="Arial"/>
              </a:defRPr>
            </a:pPr>
            <a:r>
              <a:rPr sz="1500">
                <a:solidFill>
                  <a:srgbClr val="1F2937"/>
                </a:solidFill>
                <a:latin typeface="Arial"/>
                <a:ea typeface="Arial"/>
                <a:cs typeface="Arial"/>
              </a:rPr>
              <a:t>766 khách giá trị cao tạo 66,0% doanh thu của nhóm khách có định danh.</a:t>
            </a:r>
          </a:p>
          <a:p>
            <a:pPr marL="228600" indent="-114300">
              <a:spcAft>
                <a:spcPts val="1500"/>
              </a:spcAft>
              <a:buChar char="•"/>
              <a:defRPr sz="1500">
                <a:solidFill>
                  <a:srgbClr val="1F2937"/>
                </a:solidFill>
                <a:latin typeface="Arial"/>
                <a:ea typeface="Arial"/>
                <a:cs typeface="Arial"/>
              </a:defRPr>
            </a:pPr>
            <a:r>
              <a:rPr sz="1500">
                <a:solidFill>
                  <a:srgbClr val="1F2937"/>
                </a:solidFill>
                <a:latin typeface="Arial"/>
                <a:ea typeface="Arial"/>
                <a:cs typeface="Arial"/>
              </a:rPr>
              <a:t>Các bộ sản phẩm cùng thiết kế có confidence từ 50% đến hơn 80% và lift lớn hơn 5.</a:t>
            </a:r>
          </a:p>
        </p:txBody>
      </p:sp>
      <p:sp>
        <p:nvSpPr>
          <p:cNvPr id="7" name="Rectangle 6">
            <a:extLst>
              <a:ext uri="{FF2B5EF4-FFF2-40B4-BE49-F238E27FC236}">
                <a16:creationId xmlns:a16="http://schemas.microsoft.com/office/drawing/2014/main" id="{DC1B6ECD-AEBE-4226-BF72-A1B733B5FCA2}"/>
              </a:ext>
            </a:extLst>
          </p:cNvPr>
          <p:cNvSpPr>
            <a:spLocks noGrp="1"/>
          </p:cNvSpPr>
          <p:nvPr/>
        </p:nvSpPr>
        <p:spPr>
          <a:xfrm>
            <a:off x="6381750" y="990600"/>
            <a:ext cx="5334000" cy="323850"/>
          </a:xfrm>
          <a:prstGeom prst="rect">
            <a:avLst/>
          </a:prstGeom>
          <a:solidFill>
            <a:srgbClr val="2696C5"/>
          </a:solidFill>
          <a:ln w="0">
            <a:solidFill>
              <a:srgbClr val="2696C5"/>
            </a:solidFill>
          </a:ln>
        </p:spPr>
      </p:sp>
      <p:sp>
        <p:nvSpPr>
          <p:cNvPr id="8" name="Rectangle 7">
            <a:extLst>
              <a:ext uri="{FF2B5EF4-FFF2-40B4-BE49-F238E27FC236}">
                <a16:creationId xmlns:a16="http://schemas.microsoft.com/office/drawing/2014/main" id="{4869202D-88C0-4171-927B-5B7FF99EAA61}"/>
              </a:ext>
            </a:extLst>
          </p:cNvPr>
          <p:cNvSpPr>
            <a:spLocks noGrp="1"/>
          </p:cNvSpPr>
          <p:nvPr/>
        </p:nvSpPr>
        <p:spPr>
          <a:xfrm>
            <a:off x="6477000" y="1009650"/>
            <a:ext cx="5143500" cy="285750"/>
          </a:xfrm>
          <a:prstGeom prst="rect">
            <a:avLst/>
          </a:prstGeom>
          <a:noFill/>
          <a:ln w="0">
            <a:noFill/>
          </a:ln>
        </p:spPr>
        <p:txBody>
          <a:bodyPr anchor="ctr">
            <a:noAutofit/>
          </a:bodyPr>
          <a:lstStyle/>
          <a:p>
            <a:pPr algn="l">
              <a:defRPr sz="1200" b="1">
                <a:solidFill>
                  <a:srgbClr val="FFFFFF"/>
                </a:solidFill>
                <a:latin typeface="Arial"/>
                <a:ea typeface="Arial"/>
                <a:cs typeface="Arial"/>
              </a:defRPr>
            </a:pPr>
            <a:r>
              <a:rPr sz="1200" b="1">
                <a:solidFill>
                  <a:srgbClr val="FFFFFF"/>
                </a:solidFill>
                <a:latin typeface="Arial"/>
                <a:ea typeface="Arial"/>
                <a:cs typeface="Arial"/>
              </a:rPr>
              <a:t>ƯU TIÊN KINH DOANH</a:t>
            </a:r>
          </a:p>
        </p:txBody>
      </p:sp>
      <p:sp>
        <p:nvSpPr>
          <p:cNvPr id="9" name="Rectangle 8">
            <a:extLst>
              <a:ext uri="{FF2B5EF4-FFF2-40B4-BE49-F238E27FC236}">
                <a16:creationId xmlns:a16="http://schemas.microsoft.com/office/drawing/2014/main" id="{FF35CD84-EB75-4B3C-A60D-C57290D12C61}"/>
              </a:ext>
            </a:extLst>
          </p:cNvPr>
          <p:cNvSpPr>
            <a:spLocks noGrp="1"/>
          </p:cNvSpPr>
          <p:nvPr/>
        </p:nvSpPr>
        <p:spPr>
          <a:xfrm>
            <a:off x="6553200" y="1524000"/>
            <a:ext cx="4991100" cy="2381250"/>
          </a:xfrm>
          <a:prstGeom prst="rect">
            <a:avLst/>
          </a:prstGeom>
          <a:noFill/>
          <a:ln w="0">
            <a:noFill/>
          </a:ln>
        </p:spPr>
        <p:txBody>
          <a:bodyPr>
            <a:noAutofit/>
          </a:bodyPr>
          <a:lstStyle/>
          <a:p>
            <a:pPr marL="228600" indent="-114300">
              <a:spcAft>
                <a:spcPts val="1500"/>
              </a:spcAft>
              <a:buChar char="•"/>
              <a:defRPr sz="1500">
                <a:solidFill>
                  <a:srgbClr val="1F2937"/>
                </a:solidFill>
                <a:latin typeface="Arial"/>
                <a:ea typeface="Arial"/>
                <a:cs typeface="Arial"/>
              </a:defRPr>
            </a:pPr>
            <a:r>
              <a:rPr sz="1500">
                <a:solidFill>
                  <a:srgbClr val="1F2937"/>
                </a:solidFill>
                <a:latin typeface="Arial"/>
                <a:ea typeface="Arial"/>
                <a:cs typeface="Arial"/>
              </a:rPr>
              <a:t>Giữ chân nhóm giá trị cao bằng ưu đãi sớm, dịch vụ tốt và nhắc mua lại.</a:t>
            </a:r>
          </a:p>
          <a:p>
            <a:pPr marL="228600" indent="-114300">
              <a:spcAft>
                <a:spcPts val="1500"/>
              </a:spcAft>
              <a:buChar char="•"/>
              <a:defRPr sz="1500">
                <a:solidFill>
                  <a:srgbClr val="1F2937"/>
                </a:solidFill>
                <a:latin typeface="Arial"/>
                <a:ea typeface="Arial"/>
                <a:cs typeface="Arial"/>
              </a:defRPr>
            </a:pPr>
            <a:r>
              <a:rPr sz="1500">
                <a:solidFill>
                  <a:srgbClr val="1F2937"/>
                </a:solidFill>
                <a:latin typeface="Arial"/>
                <a:ea typeface="Arial"/>
                <a:cs typeface="Arial"/>
              </a:rPr>
              <a:t>Tăng lần mua thứ hai cho nhóm mới bằng chiến dịch ngắn hạn và sản phẩm mua kèm.</a:t>
            </a:r>
          </a:p>
          <a:p>
            <a:pPr marL="228600" indent="-114300">
              <a:spcAft>
                <a:spcPts val="1500"/>
              </a:spcAft>
              <a:buChar char="•"/>
              <a:defRPr sz="1500">
                <a:solidFill>
                  <a:srgbClr val="1F2937"/>
                </a:solidFill>
                <a:latin typeface="Arial"/>
                <a:ea typeface="Arial"/>
                <a:cs typeface="Arial"/>
              </a:defRPr>
            </a:pPr>
            <a:r>
              <a:rPr sz="1500">
                <a:solidFill>
                  <a:srgbClr val="1F2937"/>
                </a:solidFill>
                <a:latin typeface="Arial"/>
                <a:ea typeface="Arial"/>
                <a:cs typeface="Arial"/>
              </a:rPr>
              <a:t>Thử nghiệm combo theo luật kết hợp bằng A/B test trước khi triển khai rộng.</a:t>
            </a:r>
          </a:p>
        </p:txBody>
      </p:sp>
      <p:sp>
        <p:nvSpPr>
          <p:cNvPr id="10" name="Rectangle: Rounded Corners 9">
            <a:extLst>
              <a:ext uri="{FF2B5EF4-FFF2-40B4-BE49-F238E27FC236}">
                <a16:creationId xmlns:a16="http://schemas.microsoft.com/office/drawing/2014/main" id="{C3C39F9E-9E88-4C22-82C1-8AEAA21A5862}"/>
              </a:ext>
            </a:extLst>
          </p:cNvPr>
          <p:cNvSpPr>
            <a:spLocks noGrp="1"/>
          </p:cNvSpPr>
          <p:nvPr/>
        </p:nvSpPr>
        <p:spPr>
          <a:xfrm>
            <a:off x="476250" y="4362450"/>
            <a:ext cx="11239500" cy="1562100"/>
          </a:xfrm>
          <a:prstGeom prst="roundRect">
            <a:avLst>
              <a:gd name="adj" fmla="val 6098"/>
            </a:avLst>
          </a:prstGeom>
          <a:solidFill>
            <a:srgbClr val="FFF6EA"/>
          </a:solidFill>
          <a:ln w="14288">
            <a:solidFill>
              <a:srgbClr val="F59E42"/>
            </a:solidFill>
          </a:ln>
        </p:spPr>
      </p:sp>
      <p:sp>
        <p:nvSpPr>
          <p:cNvPr id="11" name="Rectangle 10">
            <a:extLst>
              <a:ext uri="{FF2B5EF4-FFF2-40B4-BE49-F238E27FC236}">
                <a16:creationId xmlns:a16="http://schemas.microsoft.com/office/drawing/2014/main" id="{C4517475-44B2-4F00-A879-D60290391D2B}"/>
              </a:ext>
            </a:extLst>
          </p:cNvPr>
          <p:cNvSpPr>
            <a:spLocks noGrp="1"/>
          </p:cNvSpPr>
          <p:nvPr/>
        </p:nvSpPr>
        <p:spPr>
          <a:xfrm>
            <a:off x="723900" y="4514850"/>
            <a:ext cx="3429000" cy="304800"/>
          </a:xfrm>
          <a:prstGeom prst="rect">
            <a:avLst/>
          </a:prstGeom>
          <a:noFill/>
          <a:ln w="0">
            <a:noFill/>
          </a:ln>
        </p:spPr>
        <p:txBody>
          <a:bodyPr anchor="ctr">
            <a:noAutofit/>
          </a:bodyPr>
          <a:lstStyle/>
          <a:p>
            <a:pPr algn="l">
              <a:defRPr sz="1575" b="1">
                <a:solidFill>
                  <a:srgbClr val="182D4B"/>
                </a:solidFill>
                <a:latin typeface="Arial"/>
                <a:ea typeface="Arial"/>
                <a:cs typeface="Arial"/>
              </a:defRPr>
            </a:pPr>
            <a:r>
              <a:rPr sz="1575" b="1">
                <a:solidFill>
                  <a:srgbClr val="182D4B"/>
                </a:solidFill>
                <a:latin typeface="Arial"/>
                <a:ea typeface="Arial"/>
                <a:cs typeface="Arial"/>
              </a:rPr>
              <a:t>Giới hạn cần giữ trong kết luận</a:t>
            </a:r>
          </a:p>
        </p:txBody>
      </p:sp>
      <p:sp>
        <p:nvSpPr>
          <p:cNvPr id="12" name="Rectangle 11">
            <a:extLst>
              <a:ext uri="{FF2B5EF4-FFF2-40B4-BE49-F238E27FC236}">
                <a16:creationId xmlns:a16="http://schemas.microsoft.com/office/drawing/2014/main" id="{6919AD9E-B17F-4020-B0CC-9882EFBD2010}"/>
              </a:ext>
            </a:extLst>
          </p:cNvPr>
          <p:cNvSpPr>
            <a:spLocks noGrp="1"/>
          </p:cNvSpPr>
          <p:nvPr/>
        </p:nvSpPr>
        <p:spPr>
          <a:xfrm>
            <a:off x="723900" y="4953000"/>
            <a:ext cx="10668000" cy="762000"/>
          </a:xfrm>
          <a:prstGeom prst="rect">
            <a:avLst/>
          </a:prstGeom>
          <a:noFill/>
          <a:ln w="0">
            <a:noFill/>
          </a:ln>
        </p:spPr>
        <p:txBody>
          <a:bodyPr anchor="t">
            <a:noAutofit/>
          </a:bodyPr>
          <a:lstStyle/>
          <a:p>
            <a:pPr algn="l">
              <a:defRPr sz="1350" b="0">
                <a:solidFill>
                  <a:srgbClr val="1F2937"/>
                </a:solidFill>
                <a:latin typeface="Arial"/>
                <a:ea typeface="Arial"/>
                <a:cs typeface="Arial"/>
              </a:defRPr>
            </a:pPr>
            <a:r>
              <a:rPr sz="1350" b="0">
                <a:solidFill>
                  <a:srgbClr val="1F2937"/>
                </a:solidFill>
                <a:latin typeface="Arial"/>
                <a:ea typeface="Arial"/>
                <a:cs typeface="Arial"/>
              </a:rPr>
              <a:t>Dữ liệu chỉ bao phủ khoảng một năm và tập trung 84,6% doanh thu tại UK. CustomerID thiếu 24,9%, tháng 12/2011 chưa đầy đủ, còn các giao dịch bán buôn cực lớn. Phân khúc và luật mua kèm cần được kiểm nghiệm trên dữ liệu mới trước khi dùng trong vận hành.</a:t>
            </a:r>
          </a:p>
        </p:txBody>
      </p:sp>
      <p:sp>
        <p:nvSpPr>
          <p:cNvPr id="13" name="Rectangle 12">
            <a:extLst>
              <a:ext uri="{FF2B5EF4-FFF2-40B4-BE49-F238E27FC236}">
                <a16:creationId xmlns:a16="http://schemas.microsoft.com/office/drawing/2014/main" id="{7E7404A1-2D11-49F6-B015-0030DFBF5F67}"/>
              </a:ext>
            </a:extLst>
          </p:cNvPr>
          <p:cNvSpPr>
            <a:spLocks noGrp="1"/>
          </p:cNvSpPr>
          <p:nvPr/>
        </p:nvSpPr>
        <p:spPr>
          <a:xfrm>
            <a:off x="361950" y="6572250"/>
            <a:ext cx="11315700" cy="171450"/>
          </a:xfrm>
          <a:prstGeom prst="rect">
            <a:avLst/>
          </a:prstGeom>
          <a:noFill/>
          <a:ln w="0">
            <a:noFill/>
          </a:ln>
        </p:spPr>
        <p:txBody>
          <a:bodyPr anchor="t">
            <a:noAutofit/>
          </a:bodyPr>
          <a:lstStyle/>
          <a:p>
            <a:pPr algn="l">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61687690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1851</Words>
  <Application>Microsoft Office PowerPoint</Application>
  <DocSecurity>0</DocSecurity>
  <PresentationFormat>Widescreen</PresentationFormat>
  <Paragraphs>219</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Phát Tất</cp:lastModifiedBy>
  <cp:revision>1</cp:revision>
  <dcterms:created xsi:type="dcterms:W3CDTF">2026-09-16T08:30:04Z</dcterms:created>
  <dcterms:modified xsi:type="dcterms:W3CDTF">2026-09-16T15:26:06Z</dcterms:modified>
</cp:coreProperties>
</file>